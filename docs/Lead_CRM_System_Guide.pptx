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</p:sldIdLst>
  <p:notesMasterIdLst>
    <p:notesMasterId r:id="rId7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022ce7a5-6b8c-94f3-3885-4d70f30afbfc}">
          <p14:sldIdLst>
            <p14:sldId id="256"/>
            <p14:sldId id="257"/>
            <p14:sldId id="258"/>
          </p14:sldIdLst>
        </p14:section>
        <p14:section name="Lead Management" id="{fc7aa27f-a99c-aa58-f113-77c7858617bc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Follow-Up Log" id="{169b4f01-bc36-a140-0ab9-c93a4323467d}">
          <p14:sldIdLst>
            <p14:sldId id="267"/>
            <p14:sldId id="268"/>
            <p14:sldId id="269"/>
            <p14:sldId id="270"/>
            <p14:sldId id="271"/>
          </p14:sldIdLst>
        </p14:section>
        <p14:section name="Stage Master" id="{70a1b04b-df0a-6483-7e2d-1094af7c5d2d}">
          <p14:sldIdLst>
            <p14:sldId id="272"/>
            <p14:sldId id="273"/>
          </p14:sldIdLst>
        </p14:section>
        <p14:section name="Counsellor Master" id="{c91d55a9-08ca-fcb4-a719-603efedef207}">
          <p14:sldIdLst>
            <p14:sldId id="274"/>
            <p14:sldId id="275"/>
          </p14:sldIdLst>
        </p14:section>
        <p14:section name="Dashboard sheet" id="{2b643cc0-fb52-eeb8-4404-9940d6c15e06}">
          <p14:sldIdLst>
            <p14:sldId id="276"/>
            <p14:sldId id="277"/>
          </p14:sldIdLst>
        </p14:section>
        <p14:section name="Lists &amp; Settings" id="{1aa9a278-5588-cd07-3b98-0e68c264bdaa}">
          <p14:sldIdLst>
            <p14:sldId id="278"/>
            <p14:sldId id="279"/>
            <p14:sldId id="280"/>
            <p14:sldId id="281"/>
            <p14:sldId id="282"/>
            <p14:sldId id="283"/>
          </p14:sldIdLst>
        </p14:section>
        <p14:section name="Access Log" id="{6ab194f7-d560-9be3-6dc0-44e851ad97a2}">
          <p14:sldIdLst>
            <p14:sldId id="284"/>
            <p14:sldId id="285"/>
          </p14:sldIdLst>
        </p14:section>
        <p14:section name="Colours and dropdowns" id="{c0a5aa4e-72e2-a123-8581-3ea82ae90af7}">
          <p14:sldIdLst>
            <p14:sldId id="286"/>
            <p14:sldId id="287"/>
            <p14:sldId id="288"/>
            <p14:sldId id="289"/>
            <p14:sldId id="290"/>
          </p14:sldIdLst>
        </p14:section>
        <p14:section name="Settings reference" id="{7ca03ed8-7698-1d14-1699-200c16f359e3}">
          <p14:sldIdLst>
            <p14:sldId id="291"/>
            <p14:sldId id="292"/>
            <p14:sldId id="293"/>
            <p14:sldId id="294"/>
          </p14:sldIdLst>
        </p14:section>
        <p14:section name="Key workflows" id="{77208447-bf36-fc3d-7b62-6943f9558c3a}">
          <p14:sldIdLst>
            <p14:sldId id="295"/>
            <p14:sldId id="296"/>
            <p14:sldId id="297"/>
            <p14:sldId id="298"/>
            <p14:sldId id="299"/>
            <p14:sldId id="300"/>
            <p14:sldId id="301"/>
            <p14:sldId id="302"/>
          </p14:sldIdLst>
        </p14:section>
        <p14:section name="Counsellor web app" id="{5136c4f1-2f01-9f01-b0bd-73358b70170c}">
          <p14:sldIdLst>
            <p14:sldId id="303"/>
            <p14:sldId id="304"/>
            <p14:sldId id="305"/>
          </p14:sldIdLst>
        </p14:section>
        <p14:section name="Dashboard reporting" id="{9045b02f-c8dc-7e9e-543c-f167d6e655cc}">
          <p14:sldIdLst>
            <p14:sldId id="306"/>
            <p14:sldId id="307"/>
            <p14:sldId id="308"/>
            <p14:sldId id="309"/>
            <p14:sldId id="310"/>
          </p14:sldIdLst>
        </p14:section>
        <p14:section name="Audit and security" id="{1b9f9192-80d1-63a9-5a82-113b68c94247}">
          <p14:sldIdLst>
            <p14:sldId id="311"/>
            <p14:sldId id="312"/>
            <p14:sldId id="313"/>
            <p14:sldId id="314"/>
            <p14:sldId id="315"/>
            <p14:sldId id="316"/>
          </p14:sldIdLst>
        </p14:section>
        <p14:section name="Lead CRM menu" id="{1c6afd72-f897-dc21-a271-7902cd56f7df}">
          <p14:sldIdLst>
            <p14:sldId id="317"/>
            <p14:sldId id="318"/>
            <p14:sldId id="319"/>
            <p14:sldId id="320"/>
          </p14:sldIdLst>
        </p14:section>
        <p14:section name="Limitations and troubleshooting" id="{6321bf34-8bb6-bd45-f501-cfa237ff9215}">
          <p14:sldIdLst>
            <p14:sldId id="321"/>
            <p14:sldId id="322"/>
            <p14:sldId id="323"/>
          </p14:sldIdLst>
        </p14:section>
        <p14:section name="Glossary" id="{4eeb4dbe-9dfe-a7e1-5a7d-e8a686c433a2}">
          <p14:sldIdLst>
            <p14:sldId id="324"/>
            <p14:sldId id="325"/>
            <p14:sldId id="32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notesMaster" Target="notesMasters/notesMaster1.xml"/><Relationship Id="rId74" Type="http://schemas.openxmlformats.org/officeDocument/2006/relationships/presProps" Target="presProps.xml"/><Relationship Id="rId75" Type="http://schemas.openxmlformats.org/officeDocument/2006/relationships/viewProps" Target="viewProps.xml"/><Relationship Id="rId76" Type="http://schemas.openxmlformats.org/officeDocument/2006/relationships/theme" Target="theme/theme1.xml"/><Relationship Id="rId7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011680"/>
            <a:ext cx="105156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383280"/>
            <a:ext cx="105156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4" name="Text 0"/>
          <p:cNvSpPr/>
          <p:nvPr/>
        </p:nvSpPr>
        <p:spPr>
          <a:xfrm>
            <a:off x="548640" y="63550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CRM - System Guide  |  Introduction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ADCF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286000"/>
            <a:ext cx="1005840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429000"/>
            <a:ext cx="1005840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4" name="Text 0"/>
          <p:cNvSpPr/>
          <p:nvPr/>
        </p:nvSpPr>
        <p:spPr>
          <a:xfrm>
            <a:off x="548640" y="63550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CRM - System Guide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ADCF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8C8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ADCF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image" Target="../media/image-46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image" Target="../media/image-49-2.png"/><Relationship Id="rId3" Type="http://schemas.openxmlformats.org/officeDocument/2006/relationships/image" Target="../media/image-49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image" Target="../media/image-50-2.png"/><Relationship Id="rId3" Type="http://schemas.openxmlformats.org/officeDocument/2006/relationships/image" Target="../media/image-50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image" Target="../media/image-57-2.png"/><Relationship Id="rId3" Type="http://schemas.openxmlformats.org/officeDocument/2006/relationships/image" Target="../media/image-57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image" Target="../media/image-60-2.png"/><Relationship Id="rId3" Type="http://schemas.openxmlformats.org/officeDocument/2006/relationships/image" Target="../media/image-60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image" Target="../media/image-6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011680"/>
            <a:ext cx="10515600" cy="11887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Lead CRM - System Guide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383280"/>
            <a:ext cx="105156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Google Sheets Lead CRM works, point by point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1.0.0   |   12 October 2026</a:t>
            </a:r>
            <a:endParaRPr lang="en-US" sz="1800" dirty="0"/>
          </a:p>
        </p:txBody>
      </p:sp>
      <p:pic>
        <p:nvPicPr>
          <p:cNvPr id="4" name="title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005840"/>
            <a:ext cx="777240" cy="7772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ADCF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overview: who uses what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CRM - System Guide  |  Introduction</a:t>
            </a:r>
            <a:endParaRPr lang="en-US" sz="1000" dirty="0"/>
          </a:p>
        </p:txBody>
      </p:sp>
      <p:sp>
        <p:nvSpPr>
          <p:cNvPr id="4" name="ov-box-1"/>
          <p:cNvSpPr/>
          <p:nvPr/>
        </p:nvSpPr>
        <p:spPr>
          <a:xfrm>
            <a:off x="548640" y="1965960"/>
            <a:ext cx="2194560" cy="2331720"/>
          </a:xfrm>
          <a:prstGeom prst="roundRect">
            <a:avLst>
              <a:gd name="adj" fmla="val 4167"/>
            </a:avLst>
          </a:prstGeom>
          <a:solidFill>
            <a:schemeClr val="bg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5" name="ov-ic-bg-2"/>
          <p:cNvSpPr/>
          <p:nvPr/>
        </p:nvSpPr>
        <p:spPr>
          <a:xfrm>
            <a:off x="1371600" y="2103120"/>
            <a:ext cx="548640" cy="548640"/>
          </a:xfrm>
          <a:prstGeom prst="ellipse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pic>
        <p:nvPicPr>
          <p:cNvPr id="6" name="ov-ic-3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9616" y="2231136"/>
            <a:ext cx="292608" cy="292608"/>
          </a:xfrm>
          <a:prstGeom prst="rect">
            <a:avLst/>
          </a:prstGeom>
        </p:spPr>
      </p:pic>
      <p:sp>
        <p:nvSpPr>
          <p:cNvPr id="7" name="ov-t-4"/>
          <p:cNvSpPr txBox="1"/>
          <p:nvPr/>
        </p:nvSpPr>
        <p:spPr>
          <a:xfrm>
            <a:off x="640080" y="2697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Google Sheet</a:t>
            </a:r>
            <a:endParaRPr lang="en-US" sz="1500" dirty="0"/>
          </a:p>
        </p:txBody>
      </p:sp>
      <p:sp>
        <p:nvSpPr>
          <p:cNvPr id="8" name="ov-l-5"/>
          <p:cNvSpPr txBox="1"/>
          <p:nvPr/>
        </p:nvSpPr>
        <p:spPr>
          <a:xfrm>
            <a:off x="685800" y="3154680"/>
            <a:ext cx="1920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7 sheets: leads, log, masters, dashboard, settings, access log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Shared with admins only</a:t>
            </a:r>
            <a:endParaRPr lang="en-US" sz="1300" dirty="0"/>
          </a:p>
        </p:txBody>
      </p:sp>
      <p:sp>
        <p:nvSpPr>
          <p:cNvPr id="9" name="ov-box-6"/>
          <p:cNvSpPr/>
          <p:nvPr/>
        </p:nvSpPr>
        <p:spPr>
          <a:xfrm>
            <a:off x="3520440" y="1965960"/>
            <a:ext cx="2194560" cy="2331720"/>
          </a:xfrm>
          <a:prstGeom prst="roundRect">
            <a:avLst>
              <a:gd name="adj" fmla="val 4167"/>
            </a:avLst>
          </a:prstGeom>
          <a:solidFill>
            <a:schemeClr val="bg2"/>
          </a:solidFill>
          <a:ln w="19050">
            <a:solidFill>
              <a:srgbClr val="117A65"/>
            </a:solidFill>
            <a:prstDash val="solid"/>
          </a:ln>
        </p:spPr>
      </p:sp>
      <p:sp>
        <p:nvSpPr>
          <p:cNvPr id="10" name="ov-ic-bg-7"/>
          <p:cNvSpPr/>
          <p:nvPr/>
        </p:nvSpPr>
        <p:spPr>
          <a:xfrm>
            <a:off x="4343400" y="2103120"/>
            <a:ext cx="548640" cy="548640"/>
          </a:xfrm>
          <a:prstGeom prst="ellipse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</p:sp>
      <p:pic>
        <p:nvPicPr>
          <p:cNvPr id="11" name="ov-ic-8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1416" y="2231136"/>
            <a:ext cx="292608" cy="292608"/>
          </a:xfrm>
          <a:prstGeom prst="rect">
            <a:avLst/>
          </a:prstGeom>
        </p:spPr>
      </p:pic>
      <p:sp>
        <p:nvSpPr>
          <p:cNvPr id="12" name="ov-t-9"/>
          <p:cNvSpPr txBox="1"/>
          <p:nvPr/>
        </p:nvSpPr>
        <p:spPr>
          <a:xfrm>
            <a:off x="3611880" y="2697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Apps Script (CRM code)</a:t>
            </a:r>
            <a:endParaRPr lang="en-US" sz="1500" dirty="0"/>
          </a:p>
        </p:txBody>
      </p:sp>
      <p:sp>
        <p:nvSpPr>
          <p:cNvPr id="13" name="ov-l-10"/>
          <p:cNvSpPr txBox="1"/>
          <p:nvPr/>
        </p:nvSpPr>
        <p:spPr>
          <a:xfrm>
            <a:off x="3657600" y="3154680"/>
            <a:ext cx="1920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Menu, sidebar, triggers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IDs, timestamps, audit trail, dashboard, flags</a:t>
            </a:r>
            <a:endParaRPr lang="en-US" sz="1300" dirty="0"/>
          </a:p>
        </p:txBody>
      </p:sp>
      <p:sp>
        <p:nvSpPr>
          <p:cNvPr id="14" name="ov-box-11"/>
          <p:cNvSpPr/>
          <p:nvPr/>
        </p:nvSpPr>
        <p:spPr>
          <a:xfrm>
            <a:off x="6492240" y="1965960"/>
            <a:ext cx="2194560" cy="2331720"/>
          </a:xfrm>
          <a:prstGeom prst="roundRect">
            <a:avLst>
              <a:gd name="adj" fmla="val 4167"/>
            </a:avLst>
          </a:prstGeom>
          <a:solidFill>
            <a:schemeClr val="bg2"/>
          </a:solidFill>
          <a:ln w="19050">
            <a:solidFill>
              <a:srgbClr val="5B2C6F"/>
            </a:solidFill>
            <a:prstDash val="solid"/>
          </a:ln>
        </p:spPr>
      </p:sp>
      <p:sp>
        <p:nvSpPr>
          <p:cNvPr id="15" name="ov-ic-bg-12"/>
          <p:cNvSpPr/>
          <p:nvPr/>
        </p:nvSpPr>
        <p:spPr>
          <a:xfrm>
            <a:off x="7315200" y="2103120"/>
            <a:ext cx="548640" cy="548640"/>
          </a:xfrm>
          <a:prstGeom prst="ellipse">
            <a:avLst/>
          </a:prstGeom>
          <a:solidFill>
            <a:srgbClr val="5B2C6F"/>
          </a:solidFill>
          <a:ln w="12700">
            <a:solidFill>
              <a:srgbClr val="5B2C6F"/>
            </a:solidFill>
            <a:prstDash val="solid"/>
          </a:ln>
        </p:spPr>
      </p:sp>
      <p:pic>
        <p:nvPicPr>
          <p:cNvPr id="16" name="ov-ic-1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43216" y="2231136"/>
            <a:ext cx="292608" cy="292608"/>
          </a:xfrm>
          <a:prstGeom prst="rect">
            <a:avLst/>
          </a:prstGeom>
        </p:spPr>
      </p:pic>
      <p:sp>
        <p:nvSpPr>
          <p:cNvPr id="17" name="ov-t-14"/>
          <p:cNvSpPr txBox="1"/>
          <p:nvPr/>
        </p:nvSpPr>
        <p:spPr>
          <a:xfrm>
            <a:off x="6583680" y="2697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Counsellor web app</a:t>
            </a:r>
            <a:endParaRPr lang="en-US" sz="1500" dirty="0"/>
          </a:p>
        </p:txBody>
      </p:sp>
      <p:sp>
        <p:nvSpPr>
          <p:cNvPr id="18" name="ov-l-15"/>
          <p:cNvSpPr txBox="1"/>
          <p:nvPr/>
        </p:nvSpPr>
        <p:spPr>
          <a:xfrm>
            <a:off x="6629400" y="3154680"/>
            <a:ext cx="1920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Runs as the owner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Each counsellor sees only own leads</a:t>
            </a:r>
            <a:endParaRPr lang="en-US" sz="1300" dirty="0"/>
          </a:p>
        </p:txBody>
      </p:sp>
      <p:sp>
        <p:nvSpPr>
          <p:cNvPr id="19" name="ov-box-16"/>
          <p:cNvSpPr/>
          <p:nvPr/>
        </p:nvSpPr>
        <p:spPr>
          <a:xfrm>
            <a:off x="9464040" y="1965960"/>
            <a:ext cx="2194560" cy="2331720"/>
          </a:xfrm>
          <a:prstGeom prst="roundRect">
            <a:avLst>
              <a:gd name="adj" fmla="val 4167"/>
            </a:avLst>
          </a:prstGeom>
          <a:solidFill>
            <a:schemeClr val="bg2"/>
          </a:solidFill>
          <a:ln w="19050">
            <a:solidFill>
              <a:srgbClr val="E67E22"/>
            </a:solidFill>
            <a:prstDash val="solid"/>
          </a:ln>
        </p:spPr>
      </p:sp>
      <p:sp>
        <p:nvSpPr>
          <p:cNvPr id="20" name="ov-ic-bg-17"/>
          <p:cNvSpPr/>
          <p:nvPr/>
        </p:nvSpPr>
        <p:spPr>
          <a:xfrm>
            <a:off x="10287000" y="2103120"/>
            <a:ext cx="548640" cy="548640"/>
          </a:xfrm>
          <a:prstGeom prst="ellipse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pic>
        <p:nvPicPr>
          <p:cNvPr id="21" name="ov-ic-18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15016" y="2231136"/>
            <a:ext cx="292608" cy="292608"/>
          </a:xfrm>
          <a:prstGeom prst="rect">
            <a:avLst/>
          </a:prstGeom>
        </p:spPr>
      </p:pic>
      <p:sp>
        <p:nvSpPr>
          <p:cNvPr id="22" name="ov-t-19"/>
          <p:cNvSpPr txBox="1"/>
          <p:nvPr/>
        </p:nvSpPr>
        <p:spPr>
          <a:xfrm>
            <a:off x="9555480" y="2697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Sign-in app</a:t>
            </a:r>
            <a:endParaRPr lang="en-US" sz="1500" dirty="0"/>
          </a:p>
        </p:txBody>
      </p:sp>
      <p:sp>
        <p:nvSpPr>
          <p:cNvPr id="23" name="ov-l-20"/>
          <p:cNvSpPr txBox="1"/>
          <p:nvPr/>
        </p:nvSpPr>
        <p:spPr>
          <a:xfrm>
            <a:off x="9601200" y="3154680"/>
            <a:ext cx="1920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Separate small app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Runs as the visitor; reads only their email</a:t>
            </a:r>
            <a:endParaRPr lang="en-US" sz="1300" dirty="0"/>
          </a:p>
        </p:txBody>
      </p:sp>
      <p:sp>
        <p:nvSpPr>
          <p:cNvPr id="24" name="ov-arrow-21"/>
          <p:cNvSpPr/>
          <p:nvPr/>
        </p:nvSpPr>
        <p:spPr>
          <a:xfrm>
            <a:off x="2761488" y="3127248"/>
            <a:ext cx="740664" cy="0"/>
          </a:xfrm>
          <a:prstGeom prst="line">
            <a:avLst/>
          </a:prstGeom>
          <a:noFill/>
          <a:ln w="25400">
            <a:solidFill>
              <a:srgbClr val="7F8C8D"/>
            </a:solidFill>
            <a:prstDash val="solid"/>
            <a:headEnd type="triangle"/>
            <a:tailEnd type="triangle"/>
          </a:ln>
        </p:spPr>
      </p:sp>
      <p:sp>
        <p:nvSpPr>
          <p:cNvPr id="25" name="ov-arrow-lbl-22"/>
          <p:cNvSpPr txBox="1"/>
          <p:nvPr/>
        </p:nvSpPr>
        <p:spPr>
          <a:xfrm>
            <a:off x="2514600" y="438912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66573"/>
                </a:solidFill>
              </a:rPr>
              <a:t>reads / writes</a:t>
            </a:r>
            <a:endParaRPr lang="en-US" sz="1050" dirty="0"/>
          </a:p>
        </p:txBody>
      </p:sp>
      <p:sp>
        <p:nvSpPr>
          <p:cNvPr id="26" name="ov-arrow-23"/>
          <p:cNvSpPr/>
          <p:nvPr/>
        </p:nvSpPr>
        <p:spPr>
          <a:xfrm>
            <a:off x="5733288" y="3127248"/>
            <a:ext cx="740664" cy="0"/>
          </a:xfrm>
          <a:prstGeom prst="line">
            <a:avLst/>
          </a:prstGeom>
          <a:noFill/>
          <a:ln w="25400">
            <a:solidFill>
              <a:srgbClr val="7F8C8D"/>
            </a:solidFill>
            <a:prstDash val="solid"/>
            <a:headEnd type="triangle"/>
            <a:tailEnd type="triangle"/>
          </a:ln>
        </p:spPr>
      </p:sp>
      <p:sp>
        <p:nvSpPr>
          <p:cNvPr id="27" name="ov-arrow-lbl-24"/>
          <p:cNvSpPr txBox="1"/>
          <p:nvPr/>
        </p:nvSpPr>
        <p:spPr>
          <a:xfrm>
            <a:off x="5486400" y="438912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66573"/>
                </a:solidFill>
              </a:rPr>
              <a:t>reads / writes as owner</a:t>
            </a:r>
            <a:endParaRPr lang="en-US" sz="1050" dirty="0"/>
          </a:p>
        </p:txBody>
      </p:sp>
      <p:sp>
        <p:nvSpPr>
          <p:cNvPr id="28" name="ov-arrow-25"/>
          <p:cNvSpPr/>
          <p:nvPr/>
        </p:nvSpPr>
        <p:spPr>
          <a:xfrm>
            <a:off x="8705088" y="3127248"/>
            <a:ext cx="740664" cy="0"/>
          </a:xfrm>
          <a:prstGeom prst="line">
            <a:avLst/>
          </a:prstGeom>
          <a:noFill/>
          <a:ln w="25400">
            <a:solidFill>
              <a:srgbClr val="7F8C8D"/>
            </a:solidFill>
            <a:prstDash val="solid"/>
            <a:headEnd type="triangle"/>
            <a:tailEnd type="triangle"/>
          </a:ln>
        </p:spPr>
      </p:sp>
      <p:sp>
        <p:nvSpPr>
          <p:cNvPr id="29" name="ov-arrow-lbl-26"/>
          <p:cNvSpPr txBox="1"/>
          <p:nvPr/>
        </p:nvSpPr>
        <p:spPr>
          <a:xfrm>
            <a:off x="8458200" y="438912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66573"/>
                </a:solidFill>
              </a:rPr>
              <a:t>signed 5-min token</a:t>
            </a:r>
            <a:endParaRPr lang="en-US" sz="1050" dirty="0"/>
          </a:p>
        </p:txBody>
      </p:sp>
      <p:pic>
        <p:nvPicPr>
          <p:cNvPr id="30" name="ov-person-27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1234440"/>
            <a:ext cx="411480" cy="411480"/>
          </a:xfrm>
          <a:prstGeom prst="rect">
            <a:avLst/>
          </a:prstGeom>
        </p:spPr>
      </p:pic>
      <p:sp>
        <p:nvSpPr>
          <p:cNvPr id="31" name="ov-person-t-28"/>
          <p:cNvSpPr txBox="1"/>
          <p:nvPr/>
        </p:nvSpPr>
        <p:spPr>
          <a:xfrm>
            <a:off x="1051560" y="118872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3864"/>
                </a:solidFill>
              </a:rPr>
              <a:t>Admins: </a:t>
            </a:r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Work in the sheet: menu, sidebar, master data</a:t>
            </a:r>
            <a:endParaRPr lang="en-US" sz="1350" dirty="0"/>
          </a:p>
        </p:txBody>
      </p:sp>
      <p:pic>
        <p:nvPicPr>
          <p:cNvPr id="32" name="ov-person-29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2240" y="1234440"/>
            <a:ext cx="411480" cy="411480"/>
          </a:xfrm>
          <a:prstGeom prst="rect">
            <a:avLst/>
          </a:prstGeom>
        </p:spPr>
      </p:pic>
      <p:sp>
        <p:nvSpPr>
          <p:cNvPr id="33" name="ov-person-t-30"/>
          <p:cNvSpPr txBox="1"/>
          <p:nvPr/>
        </p:nvSpPr>
        <p:spPr>
          <a:xfrm>
            <a:off x="6995160" y="118872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B2C6F"/>
                </a:solidFill>
              </a:rPr>
              <a:t>Counsellors: </a:t>
            </a:r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Open the counsellor link: sign-in app first, then the web app</a:t>
            </a:r>
            <a:endParaRPr lang="en-US" sz="1350" dirty="0"/>
          </a:p>
        </p:txBody>
      </p:sp>
      <p:sp>
        <p:nvSpPr>
          <p:cNvPr id="34" name="bullets-31"/>
          <p:cNvSpPr txBox="1"/>
          <p:nvPr/>
        </p:nvSpPr>
        <p:spPr>
          <a:xfrm>
            <a:off x="548640" y="5074920"/>
            <a:ext cx="11094415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Every edit in the sheet runs two triggers: a quick one (substage list) and a full one running as the owner (IDs, timestamps, audit)</a:t>
            </a:r>
            <a:endParaRPr lang="en-US" sz="13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The web app reads and writes the same sheet, using the same rules and audit trail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8C8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Roles: owner, admin, counsellor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CRM - System Guide  |  Introduction</a:t>
            </a:r>
            <a:endParaRPr lang="en-US" sz="1000" dirty="0"/>
          </a:p>
        </p:txBody>
      </p:sp>
      <p:sp>
        <p:nvSpPr>
          <p:cNvPr id="4" name="card-32"/>
          <p:cNvSpPr/>
          <p:nvPr/>
        </p:nvSpPr>
        <p:spPr>
          <a:xfrm>
            <a:off x="548640" y="1234440"/>
            <a:ext cx="3566160" cy="4297680"/>
          </a:xfrm>
          <a:prstGeom prst="roundRect">
            <a:avLst>
              <a:gd name="adj" fmla="val 2051"/>
            </a:avLst>
          </a:prstGeom>
          <a:solidFill>
            <a:schemeClr val="bg2"/>
          </a:solidFill>
          <a:ln w="9525">
            <a:solidFill>
              <a:srgbClr val="D5DBE5"/>
            </a:solidFill>
            <a:prstDash val="solid"/>
          </a:ln>
        </p:spPr>
      </p:sp>
      <p:sp>
        <p:nvSpPr>
          <p:cNvPr id="5" name="icon-bg-33"/>
          <p:cNvSpPr/>
          <p:nvPr/>
        </p:nvSpPr>
        <p:spPr>
          <a:xfrm>
            <a:off x="731520" y="1417320"/>
            <a:ext cx="502920" cy="502920"/>
          </a:xfrm>
          <a:prstGeom prst="ellipse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pic>
        <p:nvPicPr>
          <p:cNvPr id="6" name="icon-34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" y="1536192"/>
            <a:ext cx="265176" cy="265176"/>
          </a:xfrm>
          <a:prstGeom prst="rect">
            <a:avLst/>
          </a:prstGeom>
        </p:spPr>
      </p:pic>
      <p:sp>
        <p:nvSpPr>
          <p:cNvPr id="7" name="card-title-35"/>
          <p:cNvSpPr txBox="1"/>
          <p:nvPr/>
        </p:nvSpPr>
        <p:spPr>
          <a:xfrm>
            <a:off x="1353312" y="14173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Owner</a:t>
            </a:r>
            <a:endParaRPr lang="en-US" sz="1800" dirty="0"/>
          </a:p>
        </p:txBody>
      </p:sp>
      <p:sp>
        <p:nvSpPr>
          <p:cNvPr id="8" name="bullets-36"/>
          <p:cNvSpPr txBox="1"/>
          <p:nvPr/>
        </p:nvSpPr>
        <p:spPr>
          <a:xfrm>
            <a:off x="777240" y="2103120"/>
            <a:ext cx="3154680" cy="3337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chemeClr val="tx1"/>
                </a:solidFill>
              </a:rPr>
              <a:t>The Google account that owns the sheet (a personal Gmail is fine)</a:t>
            </a:r>
            <a:endParaRPr lang="en-US" sz="15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chemeClr val="tx1"/>
                </a:solidFill>
              </a:rPr>
              <a:t>Runs setup and deploys both web apps</a:t>
            </a:r>
            <a:endParaRPr lang="en-US" sz="15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chemeClr val="tx1"/>
                </a:solidFill>
              </a:rPr>
              <a:t>Triggers and the web app run as this account</a:t>
            </a:r>
            <a:endParaRPr lang="en-US" sz="15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chemeClr val="tx1"/>
                </a:solidFill>
              </a:rPr>
              <a:t>Always an admin in the sheet; uses the web app only if listed in Admin Emails</a:t>
            </a:r>
            <a:endParaRPr lang="en-US" sz="1550" dirty="0"/>
          </a:p>
        </p:txBody>
      </p:sp>
      <p:sp>
        <p:nvSpPr>
          <p:cNvPr id="9" name="card-37"/>
          <p:cNvSpPr/>
          <p:nvPr/>
        </p:nvSpPr>
        <p:spPr>
          <a:xfrm>
            <a:off x="4315968" y="1234440"/>
            <a:ext cx="3566160" cy="4297680"/>
          </a:xfrm>
          <a:prstGeom prst="roundRect">
            <a:avLst>
              <a:gd name="adj" fmla="val 2051"/>
            </a:avLst>
          </a:prstGeom>
          <a:solidFill>
            <a:schemeClr val="bg2"/>
          </a:solidFill>
          <a:ln w="9525">
            <a:solidFill>
              <a:srgbClr val="D5DBE5"/>
            </a:solidFill>
            <a:prstDash val="solid"/>
          </a:ln>
        </p:spPr>
      </p:sp>
      <p:sp>
        <p:nvSpPr>
          <p:cNvPr id="10" name="icon-bg-38"/>
          <p:cNvSpPr/>
          <p:nvPr/>
        </p:nvSpPr>
        <p:spPr>
          <a:xfrm>
            <a:off x="4498848" y="1417320"/>
            <a:ext cx="502920" cy="502920"/>
          </a:xfrm>
          <a:prstGeom prst="ellipse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pic>
        <p:nvPicPr>
          <p:cNvPr id="11" name="icon-39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1536192"/>
            <a:ext cx="265176" cy="265176"/>
          </a:xfrm>
          <a:prstGeom prst="rect">
            <a:avLst/>
          </a:prstGeom>
        </p:spPr>
      </p:pic>
      <p:sp>
        <p:nvSpPr>
          <p:cNvPr id="12" name="card-title-40"/>
          <p:cNvSpPr txBox="1"/>
          <p:nvPr/>
        </p:nvSpPr>
        <p:spPr>
          <a:xfrm>
            <a:off x="5120640" y="14173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Admin</a:t>
            </a:r>
            <a:endParaRPr lang="en-US" sz="1800" dirty="0"/>
          </a:p>
        </p:txBody>
      </p:sp>
      <p:sp>
        <p:nvSpPr>
          <p:cNvPr id="13" name="bullets-41"/>
          <p:cNvSpPr txBox="1"/>
          <p:nvPr/>
        </p:nvSpPr>
        <p:spPr>
          <a:xfrm>
            <a:off x="4544568" y="2103120"/>
            <a:ext cx="3154680" cy="3337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chemeClr val="tx1"/>
                </a:solidFill>
              </a:rPr>
              <a:t>Email listed in Lists &amp; Settings &gt; Admin Emails</a:t>
            </a:r>
            <a:endParaRPr lang="en-US" sz="15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chemeClr val="tx1"/>
                </a:solidFill>
              </a:rPr>
              <a:t>Edits every sheet, including locked columns and master sheets</a:t>
            </a:r>
            <a:endParaRPr lang="en-US" sz="15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chemeClr val="tx1"/>
                </a:solidFill>
              </a:rPr>
              <a:t>Uses the Admin menu</a:t>
            </a:r>
            <a:endParaRPr lang="en-US" sz="15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chemeClr val="tx1"/>
                </a:solidFill>
              </a:rPr>
              <a:t>Web app: sees and works on ALL leads</a:t>
            </a:r>
            <a:endParaRPr lang="en-US" sz="1550" dirty="0"/>
          </a:p>
        </p:txBody>
      </p:sp>
      <p:sp>
        <p:nvSpPr>
          <p:cNvPr id="14" name="card-42"/>
          <p:cNvSpPr/>
          <p:nvPr/>
        </p:nvSpPr>
        <p:spPr>
          <a:xfrm>
            <a:off x="8083296" y="1234440"/>
            <a:ext cx="3566160" cy="4297680"/>
          </a:xfrm>
          <a:prstGeom prst="roundRect">
            <a:avLst>
              <a:gd name="adj" fmla="val 2051"/>
            </a:avLst>
          </a:prstGeom>
          <a:solidFill>
            <a:schemeClr val="bg2"/>
          </a:solidFill>
          <a:ln w="9525">
            <a:solidFill>
              <a:srgbClr val="D5DBE5"/>
            </a:solidFill>
            <a:prstDash val="solid"/>
          </a:ln>
        </p:spPr>
      </p:sp>
      <p:sp>
        <p:nvSpPr>
          <p:cNvPr id="15" name="icon-bg-43"/>
          <p:cNvSpPr/>
          <p:nvPr/>
        </p:nvSpPr>
        <p:spPr>
          <a:xfrm>
            <a:off x="8266176" y="1417320"/>
            <a:ext cx="502920" cy="502920"/>
          </a:xfrm>
          <a:prstGeom prst="ellipse">
            <a:avLst/>
          </a:prstGeom>
          <a:solidFill>
            <a:srgbClr val="5B2C6F"/>
          </a:solidFill>
          <a:ln w="12700">
            <a:solidFill>
              <a:srgbClr val="5B2C6F"/>
            </a:solidFill>
            <a:prstDash val="solid"/>
          </a:ln>
        </p:spPr>
      </p:sp>
      <p:pic>
        <p:nvPicPr>
          <p:cNvPr id="16" name="icon-44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5048" y="1536192"/>
            <a:ext cx="265176" cy="265176"/>
          </a:xfrm>
          <a:prstGeom prst="rect">
            <a:avLst/>
          </a:prstGeom>
        </p:spPr>
      </p:pic>
      <p:sp>
        <p:nvSpPr>
          <p:cNvPr id="17" name="card-title-45"/>
          <p:cNvSpPr txBox="1"/>
          <p:nvPr/>
        </p:nvSpPr>
        <p:spPr>
          <a:xfrm>
            <a:off x="8887968" y="14173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Counsellor</a:t>
            </a:r>
            <a:endParaRPr lang="en-US" sz="1800" dirty="0"/>
          </a:p>
        </p:txBody>
      </p:sp>
      <p:sp>
        <p:nvSpPr>
          <p:cNvPr id="18" name="bullets-46"/>
          <p:cNvSpPr txBox="1"/>
          <p:nvPr/>
        </p:nvSpPr>
        <p:spPr>
          <a:xfrm>
            <a:off x="8311896" y="2103120"/>
            <a:ext cx="3154680" cy="3337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chemeClr val="tx1"/>
                </a:solidFill>
              </a:rPr>
              <a:t>Active row in Counsellor Master with their sign-in email</a:t>
            </a:r>
            <a:endParaRPr lang="en-US" sz="15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chemeClr val="tx1"/>
                </a:solidFill>
              </a:rPr>
              <a:t>Uses the web app (no spreadsheet access recommended)</a:t>
            </a:r>
            <a:endParaRPr lang="en-US" sz="15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chemeClr val="tx1"/>
                </a:solidFill>
              </a:rPr>
              <a:t>Sees only leads assigned to them</a:t>
            </a:r>
            <a:endParaRPr lang="en-US" sz="15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chemeClr val="tx1"/>
                </a:solidFill>
              </a:rPr>
              <a:t>Edits unlocked fields and logs follow-ups</a:t>
            </a:r>
            <a:endParaRPr lang="en-US" sz="1550" dirty="0"/>
          </a:p>
        </p:txBody>
      </p:sp>
      <p:sp>
        <p:nvSpPr>
          <p:cNvPr id="19" name="note-47"/>
          <p:cNvSpPr txBox="1"/>
          <p:nvPr/>
        </p:nvSpPr>
        <p:spPr>
          <a:xfrm>
            <a:off x="548640" y="566928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6573"/>
                </a:solidFill>
              </a:rPr>
              <a:t>Team leaders: Counsellor Master has a "Team Leader" column, but there is no separate team-leader role. Give a team leader Admin (all leads) or Counsellor (own leads) access.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8C8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286000"/>
            <a:ext cx="10058400" cy="10058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Lead Management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429000"/>
            <a:ext cx="100584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Sheet 1 of 7 - the main working sheet, one row per lead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ADCF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Lead Management: purpose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CRM - System Guide  |  Lead Management</a:t>
            </a:r>
            <a:endParaRPr lang="en-US" sz="1000" dirty="0"/>
          </a:p>
        </p:txBody>
      </p:sp>
      <p:sp>
        <p:nvSpPr>
          <p:cNvPr id="4" name="bullets-48"/>
          <p:cNvSpPr txBox="1"/>
          <p:nvPr/>
        </p:nvSpPr>
        <p:spPr>
          <a:xfrm>
            <a:off x="548640" y="1280160"/>
            <a:ext cx="6766560" cy="4572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One row per lead; 10,000 pre-formatted rows (quick test: 1,000; Admin menu adds 5,000 more)</a:t>
            </a:r>
            <a:endParaRPr lang="en-US" sz="17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Admins edit it directly; counsellors work through the web app</a:t>
            </a:r>
            <a:endParaRPr lang="en-US" sz="17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Header row and locked columns: STRICT protection (admins only)</a:t>
            </a:r>
            <a:endParaRPr lang="en-US" sz="17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Editable columns (name, custom fields, stage, substage, priority, dates, outcome, remarks, status) are not protected</a:t>
            </a:r>
            <a:endParaRPr lang="en-US" sz="17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Frozen header and first two columns, filter, alternating row colours</a:t>
            </a:r>
            <a:endParaRPr lang="en-US" sz="17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Never insert, delete or move columns A-AI: the script finds fields by position</a:t>
            </a:r>
            <a:endParaRPr lang="en-US" sz="1700" dirty="0"/>
          </a:p>
        </p:txBody>
      </p:sp>
      <p:sp>
        <p:nvSpPr>
          <p:cNvPr id="5" name="hdr-legend-t"/>
          <p:cNvSpPr txBox="1"/>
          <p:nvPr/>
        </p:nvSpPr>
        <p:spPr>
          <a:xfrm>
            <a:off x="7772400" y="12801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Header colours</a:t>
            </a:r>
            <a:endParaRPr lang="en-US" sz="1500" dirty="0"/>
          </a:p>
        </p:txBody>
      </p:sp>
      <p:sp>
        <p:nvSpPr>
          <p:cNvPr id="6" name="swatch-49"/>
          <p:cNvSpPr/>
          <p:nvPr/>
        </p:nvSpPr>
        <p:spPr>
          <a:xfrm>
            <a:off x="7772400" y="1783080"/>
            <a:ext cx="3840480" cy="548640"/>
          </a:xfrm>
          <a:prstGeom prst="rect">
            <a:avLst/>
          </a:prstGeom>
          <a:solidFill>
            <a:srgbClr val="D5D8DC"/>
          </a:solidFill>
          <a:ln w="9525">
            <a:solidFill>
              <a:srgbClr val="BFC5CE"/>
            </a:solidFill>
            <a:prstDash val="solid"/>
          </a:ln>
        </p:spPr>
      </p:sp>
      <p:sp>
        <p:nvSpPr>
          <p:cNvPr id="7" name="swatch-text-50"/>
          <p:cNvSpPr txBox="1"/>
          <p:nvPr/>
        </p:nvSpPr>
        <p:spPr>
          <a:xfrm>
            <a:off x="7772400" y="178308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C3E50"/>
                </a:solidFill>
              </a:rPr>
              <a:t>Locked for counsellors (grey)</a:t>
            </a:r>
            <a:endParaRPr lang="en-US" sz="1200" dirty="0"/>
          </a:p>
        </p:txBody>
      </p:sp>
      <p:sp>
        <p:nvSpPr>
          <p:cNvPr id="8" name="swatch-51"/>
          <p:cNvSpPr/>
          <p:nvPr/>
        </p:nvSpPr>
        <p:spPr>
          <a:xfrm>
            <a:off x="7772400" y="2468880"/>
            <a:ext cx="3840480" cy="548640"/>
          </a:xfrm>
          <a:prstGeom prst="rect">
            <a:avLst/>
          </a:prstGeom>
          <a:solidFill>
            <a:srgbClr val="1F3864"/>
          </a:solidFill>
          <a:ln w="9525">
            <a:solidFill>
              <a:srgbClr val="BFC5CE"/>
            </a:solidFill>
            <a:prstDash val="solid"/>
          </a:ln>
        </p:spPr>
      </p:sp>
      <p:sp>
        <p:nvSpPr>
          <p:cNvPr id="9" name="swatch-text-52"/>
          <p:cNvSpPr txBox="1"/>
          <p:nvPr/>
        </p:nvSpPr>
        <p:spPr>
          <a:xfrm>
            <a:off x="7772400" y="246888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Editable field (navy)</a:t>
            </a:r>
            <a:endParaRPr lang="en-US" sz="1200" dirty="0"/>
          </a:p>
        </p:txBody>
      </p:sp>
      <p:sp>
        <p:nvSpPr>
          <p:cNvPr id="10" name="swatch-53"/>
          <p:cNvSpPr/>
          <p:nvPr/>
        </p:nvSpPr>
        <p:spPr>
          <a:xfrm>
            <a:off x="7772400" y="3154680"/>
            <a:ext cx="3840480" cy="548640"/>
          </a:xfrm>
          <a:prstGeom prst="rect">
            <a:avLst/>
          </a:prstGeom>
          <a:solidFill>
            <a:srgbClr val="5B2C6F"/>
          </a:solidFill>
          <a:ln w="9525">
            <a:solidFill>
              <a:srgbClr val="BFC5CE"/>
            </a:solidFill>
            <a:prstDash val="solid"/>
          </a:ln>
        </p:spPr>
      </p:sp>
      <p:sp>
        <p:nvSpPr>
          <p:cNvPr id="11" name="swatch-text-54"/>
          <p:cNvSpPr txBox="1"/>
          <p:nvPr/>
        </p:nvSpPr>
        <p:spPr>
          <a:xfrm>
            <a:off x="7772400" y="315468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Editable custom field (purple)</a:t>
            </a:r>
            <a:endParaRPr lang="en-US" sz="1200" dirty="0"/>
          </a:p>
        </p:txBody>
      </p:sp>
      <p:sp>
        <p:nvSpPr>
          <p:cNvPr id="12" name="swatch-55"/>
          <p:cNvSpPr/>
          <p:nvPr/>
        </p:nvSpPr>
        <p:spPr>
          <a:xfrm>
            <a:off x="7772400" y="3840480"/>
            <a:ext cx="3840480" cy="548640"/>
          </a:xfrm>
          <a:prstGeom prst="rect">
            <a:avLst/>
          </a:prstGeom>
          <a:solidFill>
            <a:srgbClr val="F2F3F4"/>
          </a:solidFill>
          <a:ln w="9525">
            <a:solidFill>
              <a:srgbClr val="BFC5CE"/>
            </a:solidFill>
            <a:prstDash val="solid"/>
          </a:ln>
        </p:spPr>
      </p:sp>
      <p:sp>
        <p:nvSpPr>
          <p:cNvPr id="13" name="swatch-text-56"/>
          <p:cNvSpPr txBox="1"/>
          <p:nvPr/>
        </p:nvSpPr>
        <p:spPr>
          <a:xfrm>
            <a:off x="7772400" y="384048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66573"/>
                </a:solidFill>
              </a:rPr>
              <a:t>Locked cells: light grey</a:t>
            </a:r>
            <a:endParaRPr lang="en-US" sz="1200" dirty="0"/>
          </a:p>
        </p:txBody>
      </p:sp>
      <p:sp>
        <p:nvSpPr>
          <p:cNvPr id="14" name="hdr-legend-n"/>
          <p:cNvSpPr txBox="1"/>
          <p:nvPr/>
        </p:nvSpPr>
        <p:spPr>
          <a:xfrm>
            <a:off x="7772400" y="457200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66573"/>
                </a:solidFill>
              </a:rPr>
              <a:t>Columns E-N are custom-field slots, hidden until an admin adds a field.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8C8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Lead Management columns (1/5): A-P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CRM - System Guide  |  Lead Management</a:t>
            </a:r>
            <a:endParaRPr lang="en-US" sz="1000" dirty="0"/>
          </a:p>
        </p:txBody>
      </p:sp>
      <p:graphicFrame>
        <p:nvGraphicFramePr>
          <p:cNvPr id="7" name="table-5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91672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600200"/>
                <a:gridCol w="4251960"/>
                <a:gridCol w="1508760"/>
                <a:gridCol w="868680"/>
                <a:gridCol w="23134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Definition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Locked?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Allowed values / example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 ID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Unique, permanent ID created by the script when a row first gets data. Typed changes are reverted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 by script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5665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7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LD-000001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 Name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 of the lead / student / customer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7A6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Ravi Kumar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Mobile Number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Contact number (plain text). Format and duplicates are flagged, not blocked (unless Block is set)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5665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7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9876543210 or +919876543210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Email ID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Email address. Invalid format and duplicates are flagged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5665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7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name@example.com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E-N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 Field 1-10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Optional slots, hidden until an admin adds a field (next slide)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 (optional)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7A6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No*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Header = field name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Assigned Counsellor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Counsellor who owns the lead. Changes are recorded as reassignments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Dropdown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5665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7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Active counsellors only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 Stage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 stage of the lead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Dropdown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7A6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Active stages, in Stage Order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note-58"/>
          <p:cNvSpPr txBox="1"/>
          <p:nvPr/>
        </p:nvSpPr>
        <p:spPr>
          <a:xfrm>
            <a:off x="548640" y="58521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6573"/>
                </a:solidFill>
              </a:rPr>
              <a:t>* A custom field is locked only if an admin lists its name in Counsellor-Locked Fields. "Locked" = counsellors cannot edit (strict protection).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8C8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Lead Management columns (2/5): custom field slots E-N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CRM - System Guide  |  Lead Management</a:t>
            </a:r>
            <a:endParaRPr lang="en-US" sz="1000" dirty="0"/>
          </a:p>
        </p:txBody>
      </p:sp>
      <p:graphicFrame>
        <p:nvGraphicFramePr>
          <p:cNvPr id="8" name="table-5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603504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097280"/>
                <a:gridCol w="237744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 header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After setup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Slot 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 Field 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Hidden, inactive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Slot 2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 Field 2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Hidden, inactive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Slot 3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 Field 3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Hidden, inactive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Slot 4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 Field 4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Hidden, inactive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Slot 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 Field 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Hidden, inactive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Slot 6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 Field 6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Hidden, inactive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Slot 7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 Field 7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Hidden, inactive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Slot 8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 Field 8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Hidden, inactive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Slot 9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 Field 9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Hidden, inactive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Slot 10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 Field 10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Hidden, inactive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5" name="bullets-60"/>
          <p:cNvSpPr txBox="1"/>
          <p:nvPr/>
        </p:nvSpPr>
        <p:spPr>
          <a:xfrm>
            <a:off x="6949440" y="1280160"/>
            <a:ext cx="4663440" cy="4114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Free text; the script never validates or reports on them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Shown only when Active = Yes in Lists &amp; Settings &gt; Custom Fields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Header = the Field Name from that table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Removing a field hides the column; the data is kept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Columns are never inserted or deleted: only shown or hidden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8C8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Lead Management columns (3/5): Q-W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CRM - System Guide  |  Lead Management</a:t>
            </a:r>
            <a:endParaRPr lang="en-US" sz="1000" dirty="0"/>
          </a:p>
        </p:txBody>
      </p:sp>
      <p:graphicFrame>
        <p:nvGraphicFramePr>
          <p:cNvPr id="9" name="table-6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91672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600200"/>
                <a:gridCol w="4251960"/>
                <a:gridCol w="1508760"/>
                <a:gridCol w="868680"/>
                <a:gridCol w="23134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Definition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Locked?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Allowed values / example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 Substage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Shows only the active substages of the chosen stage. Cleared when the stage changes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Dropdown (dependent)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7A6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Contacted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 Priority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urgent the lead is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Dropdown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7A6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Critical / Hot / Warm / Cold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Last Contact Date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 of the latest Contact activity. Cannot be in the future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 by script (or manual date)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7A6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12-Oct-2026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 Follow-Up Date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 scheduled follow-up. Drives the overdue / today / upcoming colours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 date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7A6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Any valid date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Last Follow-Up Outcome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Outcome of the latest follow-up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Dropdown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7A6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Connected, Call Back ...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Follow-Up Count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Number of Contact activities for this lead in the Follow-Up Log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Formula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5665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7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Last Updated By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Counsellor name (or email) of the last person who changed the lead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 by script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5665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7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Sample Counsellor 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8C8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Lead Management columns (4/5): X-AD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CRM - System Guide  |  Lead Management</a:t>
            </a:r>
            <a:endParaRPr lang="en-US" sz="1000" dirty="0"/>
          </a:p>
        </p:txBody>
      </p:sp>
      <p:graphicFrame>
        <p:nvGraphicFramePr>
          <p:cNvPr id="10" name="table-6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91672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600200"/>
                <a:gridCol w="4251960"/>
                <a:gridCol w="1508760"/>
                <a:gridCol w="868680"/>
                <a:gridCol w="23134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Definition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Locked?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Allowed values / example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Last Activity Timestamp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 date and time of the latest change or follow-up (never recalculates)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 by script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5665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7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12-Oct-2026 10:15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 Remarks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Latest remarks; the follow-up form also writes here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7A6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text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 Source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 the lead came from. Other values are allowed but flagged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Dropdown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5665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7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Website, Referral ...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 Created Date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 date and time when the Lead ID was generated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 by script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5665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7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12-Oct-2026 09:02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 Status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Overall status. Moving to the Converted / Lost stage sets it automatically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Dropdown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7A6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Open, On Hold, Converted, Lost, Duplicate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Last Follow-Up Date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 of the latest activity logged through the form or web app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 by script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5665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7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12-Oct-2026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Last Stage Change Date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 date and time of the latest stage or substage change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 by script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5665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7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12-Oct-2026 10:15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8C8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Lead Management columns (5/5): AE-AI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CRM - System Guide  |  Lead Management</a:t>
            </a:r>
            <a:endParaRPr lang="en-US" sz="1000" dirty="0"/>
          </a:p>
        </p:txBody>
      </p:sp>
      <p:graphicFrame>
        <p:nvGraphicFramePr>
          <p:cNvPr id="11" name="table-6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91672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600200"/>
                <a:gridCol w="4251960"/>
                <a:gridCol w="1508760"/>
                <a:gridCol w="868680"/>
                <a:gridCol w="23134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Definition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Locked?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Allowed values / example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 Assigned Date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 date and time of the latest (re)assignment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 by script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5665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7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12-Oct-2026 10:15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Previous Counsellor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Owner before the latest reassignment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 by script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5665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7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Sample Counsellor 2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Activities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Contact + Record Update entries in the log (System entries not counted)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Formula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5665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7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AH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Quality Flags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Warnings worked out by the script (see next slide)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 by script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5665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7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Unassigned; Overdue follow-up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 Snapshot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Copy of owner, stage, substage, status and next follow-up, used to detect changes (also in bulk pastes)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Hidden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5665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7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 not edit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note-64"/>
          <p:cNvSpPr txBox="1"/>
          <p:nvPr/>
        </p:nvSpPr>
        <p:spPr>
          <a:xfrm>
            <a:off x="548640" y="475488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6573"/>
                </a:solidFill>
              </a:rPr>
              <a:t>Locked by default: A, C, D, O, Z, AA (Counsellor-Locked Fields list) plus all system and formula columns: V, W, X, AC-AI.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8C8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Quality Flags (column AH)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CRM - System Guide  |  Lead Management</a:t>
            </a:r>
            <a:endParaRPr lang="en-US" sz="1000" dirty="0"/>
          </a:p>
        </p:txBody>
      </p:sp>
      <p:graphicFrame>
        <p:nvGraphicFramePr>
          <p:cNvPr id="12" name="table-6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54864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Flag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Shown when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Missing mobile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Mobile Number is empty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Invalid mobile format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Mobile does not match the Mobile Number Pattern setting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Duplicate mobile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Another lead has the same last 10 digits (if the check is not Off)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Invalid email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Email is not in name@domain.tld form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Duplicate email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Another lead has the same email (if the check is not Off)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Unassigned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Assigned Counsellor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Inactive/unknown counsellor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Owner is not an active counsellor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Missing stage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 Stage is empty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3" name="table-6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62472" y="1234440"/>
          <a:ext cx="55778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8346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Flag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Shown when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Inactive/unknown stage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is not active in Stage Master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Missing substage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has active substages but none is chosen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Substage not valid for stage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Substage is not an active substage of the stage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Invalid last contact date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Last Contact Date is not a date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next follow-up date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 lead without a Next Follow-Up Date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Invalid follow-up date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 Follow-Up Date is not a date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Overdue follow-up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 lead whose next follow-up is before today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Missing status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 Status is empty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6" name="note-67"/>
          <p:cNvSpPr txBox="1"/>
          <p:nvPr/>
        </p:nvSpPr>
        <p:spPr>
          <a:xfrm>
            <a:off x="548640" y="580644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6573"/>
                </a:solidFill>
              </a:rPr>
              <a:t>Updated for edited rows immediately and for all rows every hour. "Open" = status is not Converted, Lost or Duplicate.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8C8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286000"/>
            <a:ext cx="10058400" cy="10058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Follow-Up Log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429000"/>
            <a:ext cx="100584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Sheet 2 of 7 - the permanent history of every activity and audited change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ADCF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Follow-Up Log: purpose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CRM - System Guide  |  Follow-Up Log</a:t>
            </a:r>
            <a:endParaRPr lang="en-US" sz="1000" dirty="0"/>
          </a:p>
        </p:txBody>
      </p:sp>
      <p:sp>
        <p:nvSpPr>
          <p:cNvPr id="4" name="card-68"/>
          <p:cNvSpPr/>
          <p:nvPr/>
        </p:nvSpPr>
        <p:spPr>
          <a:xfrm>
            <a:off x="548640" y="1234440"/>
            <a:ext cx="5486400" cy="4480560"/>
          </a:xfrm>
          <a:prstGeom prst="roundRect">
            <a:avLst>
              <a:gd name="adj" fmla="val 1633"/>
            </a:avLst>
          </a:prstGeom>
          <a:solidFill>
            <a:schemeClr val="bg2"/>
          </a:solidFill>
          <a:ln w="9525">
            <a:solidFill>
              <a:srgbClr val="D5DBE5"/>
            </a:solidFill>
            <a:prstDash val="solid"/>
          </a:ln>
        </p:spPr>
      </p:sp>
      <p:sp>
        <p:nvSpPr>
          <p:cNvPr id="5" name="icon-bg-69"/>
          <p:cNvSpPr/>
          <p:nvPr/>
        </p:nvSpPr>
        <p:spPr>
          <a:xfrm>
            <a:off x="731520" y="1417320"/>
            <a:ext cx="502920" cy="502920"/>
          </a:xfrm>
          <a:prstGeom prst="ellipse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</p:sp>
      <p:pic>
        <p:nvPicPr>
          <p:cNvPr id="6" name="icon-7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" y="1536192"/>
            <a:ext cx="265176" cy="265176"/>
          </a:xfrm>
          <a:prstGeom prst="rect">
            <a:avLst/>
          </a:prstGeom>
        </p:spPr>
      </p:pic>
      <p:sp>
        <p:nvSpPr>
          <p:cNvPr id="7" name="card-title-71"/>
          <p:cNvSpPr txBox="1"/>
          <p:nvPr/>
        </p:nvSpPr>
        <p:spPr>
          <a:xfrm>
            <a:off x="1353312" y="141732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What it is</a:t>
            </a:r>
            <a:endParaRPr lang="en-US" sz="1800" dirty="0"/>
          </a:p>
        </p:txBody>
      </p:sp>
      <p:sp>
        <p:nvSpPr>
          <p:cNvPr id="8" name="bullets-72"/>
          <p:cNvSpPr txBox="1"/>
          <p:nvPr/>
        </p:nvSpPr>
        <p:spPr>
          <a:xfrm>
            <a:off x="777240" y="2103120"/>
            <a:ext cx="5074920" cy="3520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chemeClr val="tx1"/>
                </a:solidFill>
              </a:rPr>
              <a:t>One row per follow-up and per audited change; nothing is overwritten</a:t>
            </a:r>
            <a:endParaRPr lang="en-US" sz="15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chemeClr val="tx1"/>
                </a:solidFill>
              </a:rPr>
              <a:t>Written only by the script (form, web app, triggers)</a:t>
            </a:r>
            <a:endParaRPr lang="en-US" sz="15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chemeClr val="tx1"/>
                </a:solidFill>
              </a:rPr>
              <a:t>Grows automatically; the counts in Lead Management come from here</a:t>
            </a:r>
            <a:endParaRPr lang="en-US" sz="15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chemeClr val="tx1"/>
                </a:solidFill>
              </a:rPr>
              <a:t>Submission ID (hidden) blocks duplicate saves</a:t>
            </a:r>
            <a:endParaRPr lang="en-US" sz="1550" dirty="0"/>
          </a:p>
        </p:txBody>
      </p:sp>
      <p:sp>
        <p:nvSpPr>
          <p:cNvPr id="9" name="card-73"/>
          <p:cNvSpPr/>
          <p:nvPr/>
        </p:nvSpPr>
        <p:spPr>
          <a:xfrm>
            <a:off x="6172200" y="1234440"/>
            <a:ext cx="5486400" cy="4480560"/>
          </a:xfrm>
          <a:prstGeom prst="roundRect">
            <a:avLst>
              <a:gd name="adj" fmla="val 1633"/>
            </a:avLst>
          </a:prstGeom>
          <a:solidFill>
            <a:schemeClr val="bg2"/>
          </a:solidFill>
          <a:ln w="9525">
            <a:solidFill>
              <a:srgbClr val="D5DBE5"/>
            </a:solidFill>
            <a:prstDash val="solid"/>
          </a:ln>
        </p:spPr>
      </p:sp>
      <p:sp>
        <p:nvSpPr>
          <p:cNvPr id="10" name="icon-bg-74"/>
          <p:cNvSpPr/>
          <p:nvPr/>
        </p:nvSpPr>
        <p:spPr>
          <a:xfrm>
            <a:off x="6355080" y="1417320"/>
            <a:ext cx="502920" cy="502920"/>
          </a:xfrm>
          <a:prstGeom prst="ellipse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pic>
        <p:nvPicPr>
          <p:cNvPr id="11" name="icon-75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3952" y="1536192"/>
            <a:ext cx="265176" cy="265176"/>
          </a:xfrm>
          <a:prstGeom prst="rect">
            <a:avLst/>
          </a:prstGeom>
        </p:spPr>
      </p:pic>
      <p:sp>
        <p:nvSpPr>
          <p:cNvPr id="12" name="card-title-76"/>
          <p:cNvSpPr txBox="1"/>
          <p:nvPr/>
        </p:nvSpPr>
        <p:spPr>
          <a:xfrm>
            <a:off x="6976872" y="141732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Protection</a:t>
            </a:r>
            <a:endParaRPr lang="en-US" sz="1800" dirty="0"/>
          </a:p>
        </p:txBody>
      </p:sp>
      <p:sp>
        <p:nvSpPr>
          <p:cNvPr id="13" name="bullets-77"/>
          <p:cNvSpPr txBox="1"/>
          <p:nvPr/>
        </p:nvSpPr>
        <p:spPr>
          <a:xfrm>
            <a:off x="6400800" y="2103120"/>
            <a:ext cx="5074920" cy="3520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chemeClr val="tx1"/>
                </a:solidFill>
              </a:rPr>
              <a:t>STRICT: only admins and the script can change it</a:t>
            </a:r>
            <a:endParaRPr lang="en-US" sz="15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chemeClr val="tx1"/>
                </a:solidFill>
              </a:rPr>
              <a:t>An admin's manual edit is itself logged as "Log Edited"</a:t>
            </a:r>
            <a:endParaRPr lang="en-US" sz="15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chemeClr val="tx1"/>
                </a:solidFill>
              </a:rPr>
              <a:t>In legacy simple mode it falls back to warning-only</a:t>
            </a:r>
            <a:endParaRPr lang="en-US" sz="15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chemeClr val="tx1"/>
                </a:solidFill>
              </a:rPr>
              <a:t>Grey text = System rows; blue text = Record Update rows</a:t>
            </a:r>
            <a:endParaRPr lang="en-US" sz="15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8C8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Follow-Up Log columns (1/3): 1-6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CRM - System Guide  |  Follow-Up Log</a:t>
            </a:r>
            <a:endParaRPr lang="en-US" sz="1000" dirty="0"/>
          </a:p>
        </p:txBody>
      </p:sp>
      <p:graphicFrame>
        <p:nvGraphicFramePr>
          <p:cNvPr id="15" name="table-7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91672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502920"/>
                <a:gridCol w="2011680"/>
                <a:gridCol w="4572000"/>
                <a:gridCol w="1417320"/>
                <a:gridCol w="21762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Definition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Activity ID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Unique ID given when the row is written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 by script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ACT-000123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 ID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 the activity belongs to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 by script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LD-000001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 Name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 name at the time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 by script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Ravi Kumar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Counsellor Name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Counsellor credited (form / web app), the person who made the change (audit rows), or "System"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 by script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Sample Counsellor 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Activity Date and Time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When the activity happened (may be back-dated within the allowed days)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 by script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12-Oct-2026 10:15:03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Activity Type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 of activity or audited change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 by script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Outbound Call, Stage Updated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5" name="note-79"/>
          <p:cNvSpPr txBox="1"/>
          <p:nvPr/>
        </p:nvSpPr>
        <p:spPr>
          <a:xfrm>
            <a:off x="548640" y="512064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6573"/>
                </a:solidFill>
              </a:rPr>
              <a:t>Counsellors cannot edit any Follow-Up Log column (strict protection on the whole sheet).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8C8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Follow-Up Log columns (2/3): 7-12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CRM - System Guide  |  Follow-Up Log</a:t>
            </a:r>
            <a:endParaRPr lang="en-US" sz="1000" dirty="0"/>
          </a:p>
        </p:txBody>
      </p:sp>
      <p:graphicFrame>
        <p:nvGraphicFramePr>
          <p:cNvPr id="16" name="table-8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91672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502920"/>
                <a:gridCol w="2011680"/>
                <a:gridCol w="4572000"/>
                <a:gridCol w="1417320"/>
                <a:gridCol w="21762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Definition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Contact Outcome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Outcome chosen in the form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 by script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Interested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 Stage at Time of Activity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after the activity was saved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 by script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Interested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 Substage at Time of Activity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Substage after the activity was saved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 by script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Highly Interested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 Follow-Up Date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 date entered with the follow-up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 by script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13-Oct-2026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Remarks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Remarks, or the reason for an audit entry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 by script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Asked for fees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Updated By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Email of the account that made the change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 by script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name@gmail.com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8C8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Follow-Up Log columns (3/3): 13-18 (audit columns)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CRM - System Guide  |  Follow-Up Log</a:t>
            </a:r>
            <a:endParaRPr lang="en-US" sz="1000" dirty="0"/>
          </a:p>
        </p:txBody>
      </p:sp>
      <p:graphicFrame>
        <p:nvGraphicFramePr>
          <p:cNvPr id="17" name="table-8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91672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502920"/>
                <a:gridCol w="2011680"/>
                <a:gridCol w="4572000"/>
                <a:gridCol w="1417320"/>
                <a:gridCol w="21762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Definition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Activity Category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Contact, Record Update or System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 by script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Contact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 Changed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Which field an audit row is about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 by script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 Stage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Old Value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 before the change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 by script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Lead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Value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 after the change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 by script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Interested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 Owner at Time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Assigned counsellor when the row was written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 by script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Sample Counsellor 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Submission ID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 from the form, used to block a double save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Hidden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S7k2...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8C8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286000"/>
            <a:ext cx="10058400" cy="10058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Stage Master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429000"/>
            <a:ext cx="100584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Sheet 3 of 7 - stages and substages that drive the dropdowns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ADCF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Stage Master: purpose and columns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CRM - System Guide  |  Stage Master</a:t>
            </a:r>
            <a:endParaRPr lang="en-US" sz="1000" dirty="0"/>
          </a:p>
        </p:txBody>
      </p:sp>
      <p:sp>
        <p:nvSpPr>
          <p:cNvPr id="4" name="bullets-82"/>
          <p:cNvSpPr txBox="1"/>
          <p:nvPr/>
        </p:nvSpPr>
        <p:spPr>
          <a:xfrm>
            <a:off x="548640" y="1234440"/>
            <a:ext cx="11094415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One row per stage + substage pair</a:t>
            </a:r>
            <a:endParaRPr lang="en-US" sz="14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Admins only (strict); edits refresh every substage dropdown</a:t>
            </a:r>
            <a:endParaRPr lang="en-US" sz="14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Inactive rows show grey italic; sample rows are marked SAMPLE</a:t>
            </a:r>
            <a:endParaRPr lang="en-US" sz="1450" dirty="0"/>
          </a:p>
        </p:txBody>
      </p:sp>
      <p:graphicFrame>
        <p:nvGraphicFramePr>
          <p:cNvPr id="19" name="table-8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377440"/>
          <a:ext cx="11091672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600200"/>
                <a:gridCol w="4251960"/>
                <a:gridCol w="1508760"/>
                <a:gridCol w="868680"/>
                <a:gridCol w="23134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Definition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Locked?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Allowed values / example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ID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Filled in automatically when a row gets a stage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 by script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5665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7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STG-017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 Stage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name shown in the dropdown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5665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7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Interested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Substage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Substage name; blank for a stage without substages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5665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7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Details Shared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Description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text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5665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7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Brochure sent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Order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Sorts stages in dropdowns and reports (same number on each row of a stage)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 number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5665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7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(decimals allowed, &gt;= 0)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Active Status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Inactive = hidden from new selections; existing leads keep it. Blank becomes Active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Dropdown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5665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7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Active / Inactive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 Remarks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Notes for admins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5665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7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SAMPLE - replace...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8C8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286000"/>
            <a:ext cx="10058400" cy="10058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Counsellor Master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429000"/>
            <a:ext cx="100584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Sheet 4 of 7 - counsellors, their sign-in emails and status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ADCF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Counsellor Master: purpose and columns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CRM - System Guide  |  Counsellor Master</a:t>
            </a:r>
            <a:endParaRPr lang="en-US" sz="1000" dirty="0"/>
          </a:p>
        </p:txBody>
      </p:sp>
      <p:sp>
        <p:nvSpPr>
          <p:cNvPr id="4" name="bullets-84"/>
          <p:cNvSpPr txBox="1"/>
          <p:nvPr/>
        </p:nvSpPr>
        <p:spPr>
          <a:xfrm>
            <a:off x="548640" y="1234440"/>
            <a:ext cx="11094415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Feeds the Assigned Counsellor dropdown and the web app access list</a:t>
            </a:r>
            <a:endParaRPr lang="en-US" sz="14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Admins only (strict); inactive rows show grey italic</a:t>
            </a:r>
            <a:endParaRPr lang="en-US" sz="14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Do not rename a counsellor who has history; add a new row instead</a:t>
            </a:r>
            <a:endParaRPr lang="en-US" sz="1450" dirty="0"/>
          </a:p>
        </p:txBody>
      </p:sp>
      <p:graphicFrame>
        <p:nvGraphicFramePr>
          <p:cNvPr id="21" name="table-8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377440"/>
          <a:ext cx="11091672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600200"/>
                <a:gridCol w="4251960"/>
                <a:gridCol w="1508760"/>
                <a:gridCol w="868680"/>
                <a:gridCol w="23134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Definition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Locked?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Allowed values / example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Counsellor ID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Filled in automatically when a name is entered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 by script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5665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7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CNS-004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Counsellor Name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 shown in dropdowns and reports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5665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7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Sample Counsellor 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Email ID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Email of the Google account they sign in with (any provider)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5665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7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name@gmail.com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 Leader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text (no special permissions)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5665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7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Sample Team Leader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 Name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text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5665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7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 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Active / Inactive Status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Inactive = no new assignments and no web app access. Blank becomes Active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Dropdown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5665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7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Active / Inactive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 Added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Filled in with today's date when left blank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 by script (date)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5665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7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12-Oct-2026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8C8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286000"/>
            <a:ext cx="10058400" cy="10058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Dashboard sheet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429000"/>
            <a:ext cx="100584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Sheet 5 of 7 - management reporting (details in the Dashboard section)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ADCF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Dashboard: purpose and cell map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CRM - System Guide  |  Dashboard sheet</a:t>
            </a:r>
            <a:endParaRPr lang="en-US" sz="1000" dirty="0"/>
          </a:p>
        </p:txBody>
      </p:sp>
      <p:sp>
        <p:nvSpPr>
          <p:cNvPr id="4" name="bullets-86"/>
          <p:cNvSpPr txBox="1"/>
          <p:nvPr/>
        </p:nvSpPr>
        <p:spPr>
          <a:xfrm>
            <a:off x="548640" y="1234440"/>
            <a:ext cx="11094415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Numbers are calculated by the script and written as values (not live formulas)</a:t>
            </a:r>
            <a:endParaRPr lang="en-US" sz="14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Refresh: when a yellow filter cell changes, every hour, or Lead CRM &gt; Refresh Dashboard</a:t>
            </a:r>
            <a:endParaRPr lang="en-US" sz="14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Admins only (strict), except the 5 cells marked "Anyone"</a:t>
            </a:r>
            <a:endParaRPr lang="en-US" sz="1450" dirty="0"/>
          </a:p>
        </p:txBody>
      </p:sp>
      <p:graphicFrame>
        <p:nvGraphicFramePr>
          <p:cNvPr id="23" name="table-8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377440"/>
          <a:ext cx="11091672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5486400"/>
                <a:gridCol w="2011680"/>
                <a:gridCol w="176479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Cell / area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is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 edits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C4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Reporting Period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Dropdown (7 periods)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Anyone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F4 / I4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 From / Custom To (used with Custom Date Range)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Anyone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L4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Counsellor filter (All Counsellors or one person, including inactive)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Dropdown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Anyone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C5 / F5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Applied From / Applied To (dates actually used)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 by script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Script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I5 / K5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Last Refreshed time / warning if From is after To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 by script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Anyone (I5) / Script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Rows 7-13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KPI cards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 by script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Script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Row 16 down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Reports A, B, C, F, G, D, E; 6 charts from column 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 by script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Script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8C8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286000"/>
            <a:ext cx="10058400" cy="10058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Lists &amp; Settings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429000"/>
            <a:ext cx="100584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Sheet 6 of 7 - dropdown lists, ageing buckets, settings, custom fields and locked fields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ADCF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Lists &amp; Settings: purpose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CRM - System Guide  |  Lists &amp; Settings</a:t>
            </a:r>
            <a:endParaRPr lang="en-US" sz="1000" dirty="0"/>
          </a:p>
        </p:txBody>
      </p:sp>
      <p:sp>
        <p:nvSpPr>
          <p:cNvPr id="4" name="card-88"/>
          <p:cNvSpPr/>
          <p:nvPr/>
        </p:nvSpPr>
        <p:spPr>
          <a:xfrm>
            <a:off x="548640" y="1234440"/>
            <a:ext cx="3566160" cy="4206240"/>
          </a:xfrm>
          <a:prstGeom prst="roundRect">
            <a:avLst>
              <a:gd name="adj" fmla="val 2051"/>
            </a:avLst>
          </a:prstGeom>
          <a:solidFill>
            <a:schemeClr val="bg2"/>
          </a:solidFill>
          <a:ln w="9525">
            <a:solidFill>
              <a:srgbClr val="D5DBE5"/>
            </a:solidFill>
            <a:prstDash val="solid"/>
          </a:ln>
        </p:spPr>
      </p:sp>
      <p:sp>
        <p:nvSpPr>
          <p:cNvPr id="5" name="icon-bg-89"/>
          <p:cNvSpPr/>
          <p:nvPr/>
        </p:nvSpPr>
        <p:spPr>
          <a:xfrm>
            <a:off x="731520" y="1417320"/>
            <a:ext cx="502920" cy="502920"/>
          </a:xfrm>
          <a:prstGeom prst="ellipse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</p:sp>
      <p:pic>
        <p:nvPicPr>
          <p:cNvPr id="6" name="icon-9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" y="1536192"/>
            <a:ext cx="265176" cy="265176"/>
          </a:xfrm>
          <a:prstGeom prst="rect">
            <a:avLst/>
          </a:prstGeom>
        </p:spPr>
      </p:pic>
      <p:sp>
        <p:nvSpPr>
          <p:cNvPr id="7" name="card-title-91"/>
          <p:cNvSpPr txBox="1"/>
          <p:nvPr/>
        </p:nvSpPr>
        <p:spPr>
          <a:xfrm>
            <a:off x="1353312" y="14173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Lists (A-H)</a:t>
            </a:r>
            <a:endParaRPr lang="en-US" sz="1800" dirty="0"/>
          </a:p>
        </p:txBody>
      </p:sp>
      <p:sp>
        <p:nvSpPr>
          <p:cNvPr id="8" name="bullets-92"/>
          <p:cNvSpPr txBox="1"/>
          <p:nvPr/>
        </p:nvSpPr>
        <p:spPr>
          <a:xfrm>
            <a:off x="777240" y="2103120"/>
            <a:ext cx="3154680" cy="3246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chemeClr val="tx1"/>
                </a:solidFill>
              </a:rPr>
              <a:t>Dropdown values; add or remove freely</a:t>
            </a:r>
            <a:endParaRPr lang="en-US" sz="15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chemeClr val="tx1"/>
                </a:solidFill>
              </a:rPr>
              <a:t>Activity types carry a category</a:t>
            </a:r>
            <a:endParaRPr lang="en-US" sz="15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chemeClr val="tx1"/>
                </a:solidFill>
              </a:rPr>
              <a:t>Ageing buckets in J-L</a:t>
            </a:r>
            <a:endParaRPr lang="en-US" sz="1550" dirty="0"/>
          </a:p>
        </p:txBody>
      </p:sp>
      <p:sp>
        <p:nvSpPr>
          <p:cNvPr id="9" name="card-93"/>
          <p:cNvSpPr/>
          <p:nvPr/>
        </p:nvSpPr>
        <p:spPr>
          <a:xfrm>
            <a:off x="4315968" y="1234440"/>
            <a:ext cx="3566160" cy="4206240"/>
          </a:xfrm>
          <a:prstGeom prst="roundRect">
            <a:avLst>
              <a:gd name="adj" fmla="val 2051"/>
            </a:avLst>
          </a:prstGeom>
          <a:solidFill>
            <a:schemeClr val="bg2"/>
          </a:solidFill>
          <a:ln w="9525">
            <a:solidFill>
              <a:srgbClr val="D5DBE5"/>
            </a:solidFill>
            <a:prstDash val="solid"/>
          </a:ln>
        </p:spPr>
      </p:sp>
      <p:sp>
        <p:nvSpPr>
          <p:cNvPr id="10" name="icon-bg-94"/>
          <p:cNvSpPr/>
          <p:nvPr/>
        </p:nvSpPr>
        <p:spPr>
          <a:xfrm>
            <a:off x="4498848" y="1417320"/>
            <a:ext cx="502920" cy="502920"/>
          </a:xfrm>
          <a:prstGeom prst="ellipse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pic>
        <p:nvPicPr>
          <p:cNvPr id="11" name="icon-95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1536192"/>
            <a:ext cx="265176" cy="265176"/>
          </a:xfrm>
          <a:prstGeom prst="rect">
            <a:avLst/>
          </a:prstGeom>
        </p:spPr>
      </p:pic>
      <p:sp>
        <p:nvSpPr>
          <p:cNvPr id="12" name="card-title-96"/>
          <p:cNvSpPr txBox="1"/>
          <p:nvPr/>
        </p:nvSpPr>
        <p:spPr>
          <a:xfrm>
            <a:off x="5120640" y="14173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Settings (N-P)</a:t>
            </a:r>
            <a:endParaRPr lang="en-US" sz="1800" dirty="0"/>
          </a:p>
        </p:txBody>
      </p:sp>
      <p:sp>
        <p:nvSpPr>
          <p:cNvPr id="13" name="bullets-97"/>
          <p:cNvSpPr txBox="1"/>
          <p:nvPr/>
        </p:nvSpPr>
        <p:spPr>
          <a:xfrm>
            <a:off x="4544568" y="2103120"/>
            <a:ext cx="3154680" cy="3246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chemeClr val="tx1"/>
                </a:solidFill>
              </a:rPr>
              <a:t>Edit only the Value column</a:t>
            </a:r>
            <a:endParaRPr lang="en-US" sz="15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chemeClr val="tx1"/>
                </a:solidFill>
              </a:rPr>
              <a:t>Read by name, so rows may move</a:t>
            </a:r>
            <a:endParaRPr lang="en-US" sz="15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chemeClr val="tx1"/>
                </a:solidFill>
              </a:rPr>
              <a:t>Custom Fields (Z-AB) and Locked Fields (AD)</a:t>
            </a:r>
            <a:endParaRPr lang="en-US" sz="1550" dirty="0"/>
          </a:p>
        </p:txBody>
      </p:sp>
      <p:sp>
        <p:nvSpPr>
          <p:cNvPr id="14" name="card-98"/>
          <p:cNvSpPr/>
          <p:nvPr/>
        </p:nvSpPr>
        <p:spPr>
          <a:xfrm>
            <a:off x="8083296" y="1234440"/>
            <a:ext cx="3566160" cy="4206240"/>
          </a:xfrm>
          <a:prstGeom prst="roundRect">
            <a:avLst>
              <a:gd name="adj" fmla="val 2051"/>
            </a:avLst>
          </a:prstGeom>
          <a:solidFill>
            <a:schemeClr val="bg2"/>
          </a:solidFill>
          <a:ln w="9525">
            <a:solidFill>
              <a:srgbClr val="D5DBE5"/>
            </a:solidFill>
            <a:prstDash val="solid"/>
          </a:ln>
        </p:spPr>
      </p:sp>
      <p:sp>
        <p:nvSpPr>
          <p:cNvPr id="15" name="icon-bg-99"/>
          <p:cNvSpPr/>
          <p:nvPr/>
        </p:nvSpPr>
        <p:spPr>
          <a:xfrm>
            <a:off x="8266176" y="1417320"/>
            <a:ext cx="502920" cy="502920"/>
          </a:xfrm>
          <a:prstGeom prst="ellipse">
            <a:avLst/>
          </a:prstGeom>
          <a:solidFill>
            <a:srgbClr val="7F8C8D"/>
          </a:solidFill>
          <a:ln w="12700">
            <a:solidFill>
              <a:srgbClr val="7F8C8D"/>
            </a:solidFill>
            <a:prstDash val="solid"/>
          </a:ln>
        </p:spPr>
      </p:sp>
      <p:pic>
        <p:nvPicPr>
          <p:cNvPr id="16" name="icon-100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5048" y="1536192"/>
            <a:ext cx="265176" cy="265176"/>
          </a:xfrm>
          <a:prstGeom prst="rect">
            <a:avLst/>
          </a:prstGeom>
        </p:spPr>
      </p:pic>
      <p:sp>
        <p:nvSpPr>
          <p:cNvPr id="17" name="card-title-101"/>
          <p:cNvSpPr txBox="1"/>
          <p:nvPr/>
        </p:nvSpPr>
        <p:spPr>
          <a:xfrm>
            <a:off x="8887968" y="14173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Helper columns (R-X)</a:t>
            </a:r>
            <a:endParaRPr lang="en-US" sz="1800" dirty="0"/>
          </a:p>
        </p:txBody>
      </p:sp>
      <p:sp>
        <p:nvSpPr>
          <p:cNvPr id="18" name="bullets-102"/>
          <p:cNvSpPr txBox="1"/>
          <p:nvPr/>
        </p:nvSpPr>
        <p:spPr>
          <a:xfrm>
            <a:off x="8311896" y="2103120"/>
            <a:ext cx="3154680" cy="3246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chemeClr val="tx1"/>
                </a:solidFill>
              </a:rPr>
              <a:t>Calculated automatically from Stage Master and Counsellor Master</a:t>
            </a:r>
            <a:endParaRPr lang="en-US" sz="15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chemeClr val="tx1"/>
                </a:solidFill>
              </a:rPr>
              <a:t>Feed the dropdowns</a:t>
            </a:r>
            <a:endParaRPr lang="en-US" sz="15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chemeClr val="tx1"/>
                </a:solidFill>
              </a:rPr>
              <a:t>Do not type there</a:t>
            </a:r>
            <a:endParaRPr lang="en-US" sz="1550" dirty="0"/>
          </a:p>
        </p:txBody>
      </p:sp>
      <p:sp>
        <p:nvSpPr>
          <p:cNvPr id="19" name="note-103"/>
          <p:cNvSpPr txBox="1"/>
          <p:nvPr/>
        </p:nvSpPr>
        <p:spPr>
          <a:xfrm>
            <a:off x="548640" y="566928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6573"/>
                </a:solidFill>
              </a:rPr>
              <a:t>The whole sheet is admins only (strict protection). Every column here is locked for counsellors.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8C8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Lists &amp; Settings columns (1/4): lists A-H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CRM - System Guide  |  Lists &amp; Settings</a:t>
            </a:r>
            <a:endParaRPr lang="en-US" sz="1000" dirty="0"/>
          </a:p>
        </p:txBody>
      </p:sp>
      <p:graphicFrame>
        <p:nvGraphicFramePr>
          <p:cNvPr id="26" name="table-10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91672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828800"/>
                <a:gridCol w="4206240"/>
                <a:gridCol w="1371600"/>
                <a:gridCol w="868680"/>
                <a:gridCol w="22677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Block / field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Definition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Locked?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 / example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 Priority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Values for Lead Priority (Critical and Hot have colours)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 list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5665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7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Critical, Hot, Warm, Cold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Contact Outcome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Values for outcomes (sheet and form)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 list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5665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7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 values (see Dropdowns)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 Source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Values for Lead Source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 list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5665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7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 values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 Status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Keep Open, On Hold, Converted, Lost, Duplicate spelt exactly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 list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5665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7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values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Activity Type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Types of activity in the log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 list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5665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7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Outbound Call ...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Activity Category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Contact = counts as a follow-up; Record Update; System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Dropdown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5665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7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Contact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Show in Follow-Up Form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= hidden from the form / web app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Dropdown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5665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7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/ No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Active Status Values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Reference list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 list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5665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7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Active, Inactive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8C8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Lists &amp; Settings columns (2/4): ageing buckets and settings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CRM - System Guide  |  Lists &amp; Settings</a:t>
            </a:r>
            <a:endParaRPr lang="en-US" sz="1000" dirty="0"/>
          </a:p>
        </p:txBody>
      </p:sp>
      <p:graphicFrame>
        <p:nvGraphicFramePr>
          <p:cNvPr id="27" name="table-10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91672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828800"/>
                <a:gridCol w="4206240"/>
                <a:gridCol w="1371600"/>
                <a:gridCol w="868680"/>
                <a:gridCol w="22677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Block / field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Definition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Locked?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 / example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Ageing Bucket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Label of an age range (Dashboard report F, up to 10)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5665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7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0-3 Days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 Days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Lowest age in the bucket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Number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5665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7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 Days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Highest age; blank = no upper limit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Number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5665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7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Setting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Setting name (do not rename)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5665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7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 ID Prefix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value the CRM uses (some have dropdowns)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 / Dropdown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5665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7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LD-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Description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the setting does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5665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7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5" name="note-106"/>
          <p:cNvSpPr txBox="1"/>
          <p:nvPr/>
        </p:nvSpPr>
        <p:spPr>
          <a:xfrm>
            <a:off x="548640" y="49377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6573"/>
                </a:solidFill>
              </a:rPr>
              <a:t>Columns I, M, Q, Y, AC are empty spacers. The full settings list is in the Settings reference section.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8C8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Lists &amp; Settings columns (3/4): helper columns R-X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CRM - System Guide  |  Lists &amp; Settings</a:t>
            </a:r>
            <a:endParaRPr lang="en-US" sz="1000" dirty="0"/>
          </a:p>
        </p:txBody>
      </p:sp>
      <p:graphicFrame>
        <p:nvGraphicFramePr>
          <p:cNvPr id="28" name="table-10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91672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828800"/>
                <a:gridCol w="4206240"/>
                <a:gridCol w="1371600"/>
                <a:gridCol w="868680"/>
                <a:gridCol w="22677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Block / field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Definition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Locked?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 / example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Active Stages (auto)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Active stages from Stage Master, in Stage Order: the Lead Stage dropdown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Formula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5665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7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Lead, Contacted ...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Stages (auto)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stages (active and inactive), in order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Formula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5665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7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Active Counsellors (auto)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Active counsellor names: the Assigned Counsellor dropdown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Formula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5665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7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Counsellor Filter (auto)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"All Counsellors" + every counsellor: the Dashboard filter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Formula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5665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7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Counsellors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Reporting Periods (auto)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7 Dashboard periods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 by script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5665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7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Today ... Custom Date Range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(auto)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of each stage/substage pair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Formula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5665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7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Substage (auto)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Substage of each pair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Formula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5665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7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8C8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Lists &amp; Settings columns (4/4): custom fields and locked fields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CRM - System Guide  |  Lists &amp; Settings</a:t>
            </a:r>
            <a:endParaRPr lang="en-US" sz="1000" dirty="0"/>
          </a:p>
        </p:txBody>
      </p:sp>
      <p:graphicFrame>
        <p:nvGraphicFramePr>
          <p:cNvPr id="29" name="table-10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91672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828800"/>
                <a:gridCol w="4206240"/>
                <a:gridCol w="1371600"/>
                <a:gridCol w="868680"/>
                <a:gridCol w="22677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Block / field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Definition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Locked?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 / example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 Field Slot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Slot 1-10 = Lead Management column E-N (fixed)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 by script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5665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7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 Name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Header shown on Lead Management for that slot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5665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7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Course Interested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Active (Yes/No)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= column shown; No = column hidden, data kept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Dropdown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5665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7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(all 10 at setup)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Counsellor-Locked Fields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 names counsellors cannot edit; applies at once (protection, grey colour, web app)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 list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5665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7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 ID, Mobile Number, Email ID, Assigned Counsellor, Lead Created Date, Lead Source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5" name="note-109"/>
          <p:cNvSpPr txBox="1"/>
          <p:nvPr/>
        </p:nvSpPr>
        <p:spPr>
          <a:xfrm>
            <a:off x="548640" y="457200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6573"/>
                </a:solidFill>
              </a:rPr>
              <a:t>System and formula columns are always locked, whatever the AD list says. A custom field can be listed by its Field Name.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8C8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286000"/>
            <a:ext cx="10058400" cy="10058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Access Log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429000"/>
            <a:ext cx="100584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Sheet 7 of 7 - who opened, viewed or changed what, and when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ADCF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Access Log: purpose and columns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CRM - System Guide  |  Access Log</a:t>
            </a:r>
            <a:endParaRPr lang="en-US" sz="1000" dirty="0"/>
          </a:p>
        </p:txBody>
      </p:sp>
      <p:sp>
        <p:nvSpPr>
          <p:cNvPr id="4" name="bullets-110"/>
          <p:cNvSpPr txBox="1"/>
          <p:nvPr/>
        </p:nvSpPr>
        <p:spPr>
          <a:xfrm>
            <a:off x="548640" y="1234440"/>
            <a:ext cx="11094415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Written by the script; admins only (strict)</a:t>
            </a:r>
            <a:endParaRPr lang="en-US" sz="14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One row per web app event and per spreadsheet opening</a:t>
            </a:r>
            <a:endParaRPr lang="en-US" sz="14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Grows with use: archive yearly</a:t>
            </a:r>
            <a:endParaRPr lang="en-US" sz="1450" dirty="0"/>
          </a:p>
        </p:txBody>
      </p:sp>
      <p:graphicFrame>
        <p:nvGraphicFramePr>
          <p:cNvPr id="31" name="table-1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377440"/>
          <a:ext cx="11091672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600200"/>
                <a:gridCol w="4251960"/>
                <a:gridCol w="1508760"/>
                <a:gridCol w="868680"/>
                <a:gridCol w="23134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Definition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Locked?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Timestamp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When it happened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 by script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5665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7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12-Oct-2026 10:15:03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 Email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Google-verified email (or "(unknown)")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 by script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5665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7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name@gmail.com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Counsellor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Counsellor name for that email, if any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 by script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5665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7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Sample Counsellor 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happened (see Audit section)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 by script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5665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7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 Viewed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 ID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 involved, if any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 by script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5665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7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LD-000001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Details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Extra detail: IDs listed, old -&gt; new values, reason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 by script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5665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7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 Priority: "Warm" -&gt; "Hot"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Web app or Spreadsheet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 by script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5665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7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Web app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8C8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286000"/>
            <a:ext cx="10058400" cy="10058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Colours and dropdowns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429000"/>
            <a:ext cx="100584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colours on Lead Management mean, and every default list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ADCF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Lead Management colour legend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CRM - System Guide  |  Colours and dropdowns</a:t>
            </a:r>
            <a:endParaRPr lang="en-US" sz="1000" dirty="0"/>
          </a:p>
        </p:txBody>
      </p:sp>
      <p:sp>
        <p:nvSpPr>
          <p:cNvPr id="4" name="swatch-112"/>
          <p:cNvSpPr/>
          <p:nvPr/>
        </p:nvSpPr>
        <p:spPr>
          <a:xfrm>
            <a:off x="548640" y="1325880"/>
            <a:ext cx="1737360" cy="640080"/>
          </a:xfrm>
          <a:prstGeom prst="rect">
            <a:avLst/>
          </a:prstGeom>
          <a:solidFill>
            <a:srgbClr val="D5F5E3"/>
          </a:solidFill>
          <a:ln w="9525">
            <a:solidFill>
              <a:srgbClr val="BFC5CE"/>
            </a:solidFill>
            <a:prstDash val="solid"/>
          </a:ln>
        </p:spPr>
      </p:sp>
      <p:sp>
        <p:nvSpPr>
          <p:cNvPr id="5" name="swatch-text-113"/>
          <p:cNvSpPr txBox="1"/>
          <p:nvPr/>
        </p:nvSpPr>
        <p:spPr>
          <a:xfrm>
            <a:off x="548640" y="132588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45A32"/>
                </a:solidFill>
              </a:rPr>
              <a:t>Converted</a:t>
            </a:r>
            <a:endParaRPr lang="en-US" sz="1200" dirty="0"/>
          </a:p>
        </p:txBody>
      </p:sp>
      <p:sp>
        <p:nvSpPr>
          <p:cNvPr id="6" name="sw-desc-114"/>
          <p:cNvSpPr txBox="1"/>
          <p:nvPr/>
        </p:nvSpPr>
        <p:spPr>
          <a:xfrm>
            <a:off x="2423160" y="132588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Whole row: Lead Status = Converted</a:t>
            </a:r>
            <a:endParaRPr lang="en-US" sz="1350" dirty="0"/>
          </a:p>
        </p:txBody>
      </p:sp>
      <p:sp>
        <p:nvSpPr>
          <p:cNvPr id="7" name="swatch-115"/>
          <p:cNvSpPr/>
          <p:nvPr/>
        </p:nvSpPr>
        <p:spPr>
          <a:xfrm>
            <a:off x="548640" y="2194560"/>
            <a:ext cx="1737360" cy="640080"/>
          </a:xfrm>
          <a:prstGeom prst="rect">
            <a:avLst/>
          </a:prstGeom>
          <a:solidFill>
            <a:srgbClr val="E5E7E9"/>
          </a:solidFill>
          <a:ln w="9525">
            <a:solidFill>
              <a:srgbClr val="BFC5CE"/>
            </a:solidFill>
            <a:prstDash val="solid"/>
          </a:ln>
        </p:spPr>
      </p:sp>
      <p:sp>
        <p:nvSpPr>
          <p:cNvPr id="8" name="swatch-text-116"/>
          <p:cNvSpPr txBox="1"/>
          <p:nvPr/>
        </p:nvSpPr>
        <p:spPr>
          <a:xfrm>
            <a:off x="548640" y="219456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B7D7D"/>
                </a:solidFill>
              </a:rPr>
              <a:t>Lost / Duplicate</a:t>
            </a:r>
            <a:endParaRPr lang="en-US" sz="1200" dirty="0"/>
          </a:p>
        </p:txBody>
      </p:sp>
      <p:sp>
        <p:nvSpPr>
          <p:cNvPr id="9" name="sw-desc-117"/>
          <p:cNvSpPr txBox="1"/>
          <p:nvPr/>
        </p:nvSpPr>
        <p:spPr>
          <a:xfrm>
            <a:off x="2423160" y="219456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Whole row, italic: status Lost or Duplicate</a:t>
            </a:r>
            <a:endParaRPr lang="en-US" sz="1350" dirty="0"/>
          </a:p>
        </p:txBody>
      </p:sp>
      <p:sp>
        <p:nvSpPr>
          <p:cNvPr id="10" name="swatch-118"/>
          <p:cNvSpPr/>
          <p:nvPr/>
        </p:nvSpPr>
        <p:spPr>
          <a:xfrm>
            <a:off x="548640" y="3063240"/>
            <a:ext cx="1737360" cy="640080"/>
          </a:xfrm>
          <a:prstGeom prst="rect">
            <a:avLst/>
          </a:prstGeom>
          <a:solidFill>
            <a:srgbClr val="F5B7B1"/>
          </a:solidFill>
          <a:ln w="9525">
            <a:solidFill>
              <a:srgbClr val="BFC5CE"/>
            </a:solidFill>
            <a:prstDash val="solid"/>
          </a:ln>
        </p:spPr>
      </p:sp>
      <p:sp>
        <p:nvSpPr>
          <p:cNvPr id="11" name="swatch-text-119"/>
          <p:cNvSpPr txBox="1"/>
          <p:nvPr/>
        </p:nvSpPr>
        <p:spPr>
          <a:xfrm>
            <a:off x="548640" y="30632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22B21"/>
                </a:solidFill>
              </a:rPr>
              <a:t>Overdue</a:t>
            </a:r>
            <a:endParaRPr lang="en-US" sz="1200" dirty="0"/>
          </a:p>
        </p:txBody>
      </p:sp>
      <p:sp>
        <p:nvSpPr>
          <p:cNvPr id="12" name="sw-desc-120"/>
          <p:cNvSpPr txBox="1"/>
          <p:nvPr/>
        </p:nvSpPr>
        <p:spPr>
          <a:xfrm>
            <a:off x="2423160" y="306324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Lead ID + Next Follow-Up: date before today</a:t>
            </a:r>
            <a:endParaRPr lang="en-US" sz="1350" dirty="0"/>
          </a:p>
        </p:txBody>
      </p:sp>
      <p:sp>
        <p:nvSpPr>
          <p:cNvPr id="13" name="swatch-121"/>
          <p:cNvSpPr/>
          <p:nvPr/>
        </p:nvSpPr>
        <p:spPr>
          <a:xfrm>
            <a:off x="548640" y="3931920"/>
            <a:ext cx="1737360" cy="640080"/>
          </a:xfrm>
          <a:prstGeom prst="rect">
            <a:avLst/>
          </a:prstGeom>
          <a:solidFill>
            <a:srgbClr val="FCF3CF"/>
          </a:solidFill>
          <a:ln w="9525">
            <a:solidFill>
              <a:srgbClr val="BFC5CE"/>
            </a:solidFill>
            <a:prstDash val="solid"/>
          </a:ln>
        </p:spPr>
      </p:sp>
      <p:sp>
        <p:nvSpPr>
          <p:cNvPr id="14" name="swatch-text-122"/>
          <p:cNvSpPr txBox="1"/>
          <p:nvPr/>
        </p:nvSpPr>
        <p:spPr>
          <a:xfrm>
            <a:off x="548640" y="393192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D6608"/>
                </a:solidFill>
              </a:rPr>
              <a:t>Due today</a:t>
            </a:r>
            <a:endParaRPr lang="en-US" sz="1200" dirty="0"/>
          </a:p>
        </p:txBody>
      </p:sp>
      <p:sp>
        <p:nvSpPr>
          <p:cNvPr id="15" name="sw-desc-123"/>
          <p:cNvSpPr txBox="1"/>
          <p:nvPr/>
        </p:nvSpPr>
        <p:spPr>
          <a:xfrm>
            <a:off x="2423160" y="393192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Lead ID + Next Follow-Up: date is today</a:t>
            </a:r>
            <a:endParaRPr lang="en-US" sz="1350" dirty="0"/>
          </a:p>
        </p:txBody>
      </p:sp>
      <p:sp>
        <p:nvSpPr>
          <p:cNvPr id="16" name="swatch-124"/>
          <p:cNvSpPr/>
          <p:nvPr/>
        </p:nvSpPr>
        <p:spPr>
          <a:xfrm>
            <a:off x="548640" y="4800600"/>
            <a:ext cx="1737360" cy="640080"/>
          </a:xfrm>
          <a:prstGeom prst="rect">
            <a:avLst/>
          </a:prstGeom>
          <a:solidFill>
            <a:srgbClr val="D6EAF8"/>
          </a:solidFill>
          <a:ln w="9525">
            <a:solidFill>
              <a:srgbClr val="BFC5CE"/>
            </a:solidFill>
            <a:prstDash val="solid"/>
          </a:ln>
        </p:spPr>
      </p:sp>
      <p:sp>
        <p:nvSpPr>
          <p:cNvPr id="17" name="swatch-text-125"/>
          <p:cNvSpPr txBox="1"/>
          <p:nvPr/>
        </p:nvSpPr>
        <p:spPr>
          <a:xfrm>
            <a:off x="548640" y="480060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4F72"/>
                </a:solidFill>
              </a:rPr>
              <a:t>Upcoming</a:t>
            </a:r>
            <a:endParaRPr lang="en-US" sz="1200" dirty="0"/>
          </a:p>
        </p:txBody>
      </p:sp>
      <p:sp>
        <p:nvSpPr>
          <p:cNvPr id="18" name="sw-desc-126"/>
          <p:cNvSpPr txBox="1"/>
          <p:nvPr/>
        </p:nvSpPr>
        <p:spPr>
          <a:xfrm>
            <a:off x="2423160" y="480060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Next Follow-Up within the Upcoming window (3 days)</a:t>
            </a:r>
            <a:endParaRPr lang="en-US" sz="1350" dirty="0"/>
          </a:p>
        </p:txBody>
      </p:sp>
      <p:sp>
        <p:nvSpPr>
          <p:cNvPr id="19" name="swatch-127"/>
          <p:cNvSpPr/>
          <p:nvPr/>
        </p:nvSpPr>
        <p:spPr>
          <a:xfrm>
            <a:off x="6172200" y="1325880"/>
            <a:ext cx="1737360" cy="640080"/>
          </a:xfrm>
          <a:prstGeom prst="rect">
            <a:avLst/>
          </a:prstGeom>
          <a:solidFill>
            <a:srgbClr val="922B21"/>
          </a:solidFill>
          <a:ln w="9525">
            <a:solidFill>
              <a:srgbClr val="BFC5CE"/>
            </a:solidFill>
            <a:prstDash val="solid"/>
          </a:ln>
        </p:spPr>
      </p:sp>
      <p:sp>
        <p:nvSpPr>
          <p:cNvPr id="20" name="swatch-text-128"/>
          <p:cNvSpPr txBox="1"/>
          <p:nvPr/>
        </p:nvSpPr>
        <p:spPr>
          <a:xfrm>
            <a:off x="6172200" y="132588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Critical</a:t>
            </a:r>
            <a:endParaRPr lang="en-US" sz="1200" dirty="0"/>
          </a:p>
        </p:txBody>
      </p:sp>
      <p:sp>
        <p:nvSpPr>
          <p:cNvPr id="21" name="sw-desc-129"/>
          <p:cNvSpPr txBox="1"/>
          <p:nvPr/>
        </p:nvSpPr>
        <p:spPr>
          <a:xfrm>
            <a:off x="8046720" y="132588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Lead Priority = Critical</a:t>
            </a:r>
            <a:endParaRPr lang="en-US" sz="1350" dirty="0"/>
          </a:p>
        </p:txBody>
      </p:sp>
      <p:sp>
        <p:nvSpPr>
          <p:cNvPr id="22" name="swatch-130"/>
          <p:cNvSpPr/>
          <p:nvPr/>
        </p:nvSpPr>
        <p:spPr>
          <a:xfrm>
            <a:off x="6172200" y="2194560"/>
            <a:ext cx="1737360" cy="640080"/>
          </a:xfrm>
          <a:prstGeom prst="rect">
            <a:avLst/>
          </a:prstGeom>
          <a:solidFill>
            <a:srgbClr val="F5CBA7"/>
          </a:solidFill>
          <a:ln w="9525">
            <a:solidFill>
              <a:srgbClr val="BFC5CE"/>
            </a:solidFill>
            <a:prstDash val="solid"/>
          </a:ln>
        </p:spPr>
      </p:sp>
      <p:sp>
        <p:nvSpPr>
          <p:cNvPr id="23" name="swatch-text-131"/>
          <p:cNvSpPr txBox="1"/>
          <p:nvPr/>
        </p:nvSpPr>
        <p:spPr>
          <a:xfrm>
            <a:off x="6172200" y="219456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84212"/>
                </a:solidFill>
              </a:rPr>
              <a:t>Hot</a:t>
            </a:r>
            <a:endParaRPr lang="en-US" sz="1200" dirty="0"/>
          </a:p>
        </p:txBody>
      </p:sp>
      <p:sp>
        <p:nvSpPr>
          <p:cNvPr id="24" name="sw-desc-132"/>
          <p:cNvSpPr txBox="1"/>
          <p:nvPr/>
        </p:nvSpPr>
        <p:spPr>
          <a:xfrm>
            <a:off x="8046720" y="219456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Lead Priority = Hot</a:t>
            </a:r>
            <a:endParaRPr lang="en-US" sz="1350" dirty="0"/>
          </a:p>
        </p:txBody>
      </p:sp>
      <p:sp>
        <p:nvSpPr>
          <p:cNvPr id="25" name="swatch-133"/>
          <p:cNvSpPr/>
          <p:nvPr/>
        </p:nvSpPr>
        <p:spPr>
          <a:xfrm>
            <a:off x="6172200" y="3063240"/>
            <a:ext cx="1737360" cy="640080"/>
          </a:xfrm>
          <a:prstGeom prst="rect">
            <a:avLst/>
          </a:prstGeom>
          <a:solidFill>
            <a:srgbClr val="FAD7A0"/>
          </a:solidFill>
          <a:ln w="9525">
            <a:solidFill>
              <a:srgbClr val="BFC5CE"/>
            </a:solidFill>
            <a:prstDash val="solid"/>
          </a:ln>
        </p:spPr>
      </p:sp>
      <p:sp>
        <p:nvSpPr>
          <p:cNvPr id="26" name="swatch-text-134"/>
          <p:cNvSpPr txBox="1"/>
          <p:nvPr/>
        </p:nvSpPr>
        <p:spPr>
          <a:xfrm>
            <a:off x="6172200" y="30632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84212"/>
                </a:solidFill>
              </a:rPr>
              <a:t>Duplicate</a:t>
            </a:r>
            <a:endParaRPr lang="en-US" sz="1200" dirty="0"/>
          </a:p>
        </p:txBody>
      </p:sp>
      <p:sp>
        <p:nvSpPr>
          <p:cNvPr id="27" name="sw-desc-135"/>
          <p:cNvSpPr txBox="1"/>
          <p:nvPr/>
        </p:nvSpPr>
        <p:spPr>
          <a:xfrm>
            <a:off x="8046720" y="306324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Mobile or Email: same value on another lead</a:t>
            </a:r>
            <a:endParaRPr lang="en-US" sz="1350" dirty="0"/>
          </a:p>
        </p:txBody>
      </p:sp>
      <p:sp>
        <p:nvSpPr>
          <p:cNvPr id="28" name="swatch-136"/>
          <p:cNvSpPr/>
          <p:nvPr/>
        </p:nvSpPr>
        <p:spPr>
          <a:xfrm>
            <a:off x="6172200" y="3931920"/>
            <a:ext cx="173736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BFC5CE"/>
            </a:solidFill>
            <a:prstDash val="solid"/>
          </a:ln>
        </p:spPr>
      </p:sp>
      <p:sp>
        <p:nvSpPr>
          <p:cNvPr id="29" name="swatch-text-137"/>
          <p:cNvSpPr txBox="1"/>
          <p:nvPr/>
        </p:nvSpPr>
        <p:spPr>
          <a:xfrm>
            <a:off x="6172200" y="393192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B9770E"/>
                </a:solidFill>
              </a:rPr>
              <a:t>Flag text</a:t>
            </a:r>
            <a:endParaRPr lang="en-US" sz="1200" dirty="0"/>
          </a:p>
        </p:txBody>
      </p:sp>
      <p:sp>
        <p:nvSpPr>
          <p:cNvPr id="30" name="sw-desc-138"/>
          <p:cNvSpPr txBox="1"/>
          <p:nvPr/>
        </p:nvSpPr>
        <p:spPr>
          <a:xfrm>
            <a:off x="8046720" y="393192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Data Quality Flags: amber italic text</a:t>
            </a:r>
            <a:endParaRPr lang="en-US" sz="1350" dirty="0"/>
          </a:p>
        </p:txBody>
      </p:sp>
      <p:sp>
        <p:nvSpPr>
          <p:cNvPr id="31" name="swatch-139"/>
          <p:cNvSpPr/>
          <p:nvPr/>
        </p:nvSpPr>
        <p:spPr>
          <a:xfrm>
            <a:off x="6172200" y="4800600"/>
            <a:ext cx="1737360" cy="640080"/>
          </a:xfrm>
          <a:prstGeom prst="rect">
            <a:avLst/>
          </a:prstGeom>
          <a:solidFill>
            <a:srgbClr val="F2F3F4"/>
          </a:solidFill>
          <a:ln w="9525">
            <a:solidFill>
              <a:srgbClr val="BFC5CE"/>
            </a:solidFill>
            <a:prstDash val="solid"/>
          </a:ln>
        </p:spPr>
      </p:sp>
      <p:sp>
        <p:nvSpPr>
          <p:cNvPr id="32" name="swatch-text-140"/>
          <p:cNvSpPr txBox="1"/>
          <p:nvPr/>
        </p:nvSpPr>
        <p:spPr>
          <a:xfrm>
            <a:off x="6172200" y="480060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66573"/>
                </a:solidFill>
              </a:rPr>
              <a:t>Locked</a:t>
            </a:r>
            <a:endParaRPr lang="en-US" sz="1200" dirty="0"/>
          </a:p>
        </p:txBody>
      </p:sp>
      <p:sp>
        <p:nvSpPr>
          <p:cNvPr id="33" name="sw-desc-141"/>
          <p:cNvSpPr txBox="1"/>
          <p:nvPr/>
        </p:nvSpPr>
        <p:spPr>
          <a:xfrm>
            <a:off x="8046720" y="480060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Cells counsellors cannot edit (grey)</a:t>
            </a:r>
            <a:endParaRPr lang="en-US" sz="1350" dirty="0"/>
          </a:p>
        </p:txBody>
      </p:sp>
      <p:sp>
        <p:nvSpPr>
          <p:cNvPr id="34" name="note-142"/>
          <p:cNvSpPr txBox="1"/>
          <p:nvPr/>
        </p:nvSpPr>
        <p:spPr>
          <a:xfrm>
            <a:off x="548640" y="5760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6573"/>
                </a:solidFill>
              </a:rPr>
              <a:t>Rules higher in the list win: a converted or lost row is never shown as overdue. Other rows alternate white / pale blue.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8C8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Dropdown values (1/3): priority, outcome, source, status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CRM - System Guide  |  Colours and dropdowns</a:t>
            </a:r>
            <a:endParaRPr lang="en-US" sz="1000" dirty="0"/>
          </a:p>
        </p:txBody>
      </p:sp>
      <p:sp>
        <p:nvSpPr>
          <p:cNvPr id="4" name="list-card-143"/>
          <p:cNvSpPr/>
          <p:nvPr/>
        </p:nvSpPr>
        <p:spPr>
          <a:xfrm>
            <a:off x="548640" y="1280160"/>
            <a:ext cx="2651760" cy="457200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 w="9525">
            <a:solidFill>
              <a:srgbClr val="D5DBE5"/>
            </a:solidFill>
            <a:prstDash val="solid"/>
          </a:ln>
        </p:spPr>
      </p:sp>
      <p:sp>
        <p:nvSpPr>
          <p:cNvPr id="5" name="list-t-144"/>
          <p:cNvSpPr txBox="1"/>
          <p:nvPr/>
        </p:nvSpPr>
        <p:spPr>
          <a:xfrm>
            <a:off x="731520" y="13716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Lead Priority</a:t>
            </a:r>
            <a:endParaRPr lang="en-US" sz="1600" dirty="0"/>
          </a:p>
        </p:txBody>
      </p:sp>
      <p:sp>
        <p:nvSpPr>
          <p:cNvPr id="6" name="list-v-145"/>
          <p:cNvSpPr txBox="1"/>
          <p:nvPr/>
        </p:nvSpPr>
        <p:spPr>
          <a:xfrm>
            <a:off x="731520" y="1874520"/>
            <a:ext cx="233172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Critical</a:t>
            </a:r>
            <a:endParaRPr lang="en-US" sz="13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Hot</a:t>
            </a:r>
            <a:endParaRPr lang="en-US" sz="13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Warm</a:t>
            </a:r>
            <a:endParaRPr lang="en-US" sz="13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Cold</a:t>
            </a:r>
            <a:endParaRPr lang="en-US" sz="1300" dirty="0"/>
          </a:p>
        </p:txBody>
      </p:sp>
      <p:sp>
        <p:nvSpPr>
          <p:cNvPr id="7" name="list-card-146"/>
          <p:cNvSpPr/>
          <p:nvPr/>
        </p:nvSpPr>
        <p:spPr>
          <a:xfrm>
            <a:off x="3355848" y="1280160"/>
            <a:ext cx="2651760" cy="457200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 w="9525">
            <a:solidFill>
              <a:srgbClr val="D5DBE5"/>
            </a:solidFill>
            <a:prstDash val="solid"/>
          </a:ln>
        </p:spPr>
      </p:sp>
      <p:sp>
        <p:nvSpPr>
          <p:cNvPr id="8" name="list-t-147"/>
          <p:cNvSpPr txBox="1"/>
          <p:nvPr/>
        </p:nvSpPr>
        <p:spPr>
          <a:xfrm>
            <a:off x="3538728" y="13716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Contact Outcome</a:t>
            </a:r>
            <a:endParaRPr lang="en-US" sz="1600" dirty="0"/>
          </a:p>
        </p:txBody>
      </p:sp>
      <p:sp>
        <p:nvSpPr>
          <p:cNvPr id="9" name="list-v-148"/>
          <p:cNvSpPr txBox="1"/>
          <p:nvPr/>
        </p:nvSpPr>
        <p:spPr>
          <a:xfrm>
            <a:off x="3538728" y="1874520"/>
            <a:ext cx="233172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Connected</a:t>
            </a:r>
            <a:endParaRPr lang="en-US" sz="13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Not Connected</a:t>
            </a:r>
            <a:endParaRPr lang="en-US" sz="13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Interested</a:t>
            </a:r>
            <a:endParaRPr lang="en-US" sz="13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Not Interested</a:t>
            </a:r>
            <a:endParaRPr lang="en-US" sz="13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Call Back</a:t>
            </a:r>
            <a:endParaRPr lang="en-US" sz="13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Busy</a:t>
            </a:r>
            <a:endParaRPr lang="en-US" sz="13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Switched Off</a:t>
            </a:r>
            <a:endParaRPr lang="en-US" sz="13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Wrong Number</a:t>
            </a:r>
            <a:endParaRPr lang="en-US" sz="13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No Answer / Voicemail</a:t>
            </a:r>
            <a:endParaRPr lang="en-US" sz="13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Details Shared</a:t>
            </a:r>
            <a:endParaRPr lang="en-US" sz="13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Converted</a:t>
            </a:r>
            <a:endParaRPr lang="en-US" sz="1300" dirty="0"/>
          </a:p>
        </p:txBody>
      </p:sp>
      <p:sp>
        <p:nvSpPr>
          <p:cNvPr id="10" name="list-card-149"/>
          <p:cNvSpPr/>
          <p:nvPr/>
        </p:nvSpPr>
        <p:spPr>
          <a:xfrm>
            <a:off x="6163056" y="1280160"/>
            <a:ext cx="2651760" cy="457200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 w="9525">
            <a:solidFill>
              <a:srgbClr val="D5DBE5"/>
            </a:solidFill>
            <a:prstDash val="solid"/>
          </a:ln>
        </p:spPr>
      </p:sp>
      <p:sp>
        <p:nvSpPr>
          <p:cNvPr id="11" name="list-t-150"/>
          <p:cNvSpPr txBox="1"/>
          <p:nvPr/>
        </p:nvSpPr>
        <p:spPr>
          <a:xfrm>
            <a:off x="6345936" y="13716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Lead Source</a:t>
            </a:r>
            <a:endParaRPr lang="en-US" sz="1600" dirty="0"/>
          </a:p>
        </p:txBody>
      </p:sp>
      <p:sp>
        <p:nvSpPr>
          <p:cNvPr id="12" name="list-v-151"/>
          <p:cNvSpPr txBox="1"/>
          <p:nvPr/>
        </p:nvSpPr>
        <p:spPr>
          <a:xfrm>
            <a:off x="6345936" y="1874520"/>
            <a:ext cx="233172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Website</a:t>
            </a:r>
            <a:endParaRPr lang="en-US" sz="13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Walk-In</a:t>
            </a:r>
            <a:endParaRPr lang="en-US" sz="13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Referral</a:t>
            </a:r>
            <a:endParaRPr lang="en-US" sz="13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Social Media</a:t>
            </a:r>
            <a:endParaRPr lang="en-US" sz="13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Google Ads</a:t>
            </a:r>
            <a:endParaRPr lang="en-US" sz="13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Facebook / Instagram Ads</a:t>
            </a:r>
            <a:endParaRPr lang="en-US" sz="13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Event / Seminar</a:t>
            </a:r>
            <a:endParaRPr lang="en-US" sz="13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Inbound Call</a:t>
            </a:r>
            <a:endParaRPr lang="en-US" sz="13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Other</a:t>
            </a:r>
            <a:endParaRPr lang="en-US" sz="1300" dirty="0"/>
          </a:p>
        </p:txBody>
      </p:sp>
      <p:sp>
        <p:nvSpPr>
          <p:cNvPr id="13" name="list-card-152"/>
          <p:cNvSpPr/>
          <p:nvPr/>
        </p:nvSpPr>
        <p:spPr>
          <a:xfrm>
            <a:off x="8970264" y="1280160"/>
            <a:ext cx="2651760" cy="457200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 w="9525">
            <a:solidFill>
              <a:srgbClr val="D5DBE5"/>
            </a:solidFill>
            <a:prstDash val="solid"/>
          </a:ln>
        </p:spPr>
      </p:sp>
      <p:sp>
        <p:nvSpPr>
          <p:cNvPr id="14" name="list-t-153"/>
          <p:cNvSpPr txBox="1"/>
          <p:nvPr/>
        </p:nvSpPr>
        <p:spPr>
          <a:xfrm>
            <a:off x="9153144" y="13716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Lead Status</a:t>
            </a:r>
            <a:endParaRPr lang="en-US" sz="1600" dirty="0"/>
          </a:p>
        </p:txBody>
      </p:sp>
      <p:sp>
        <p:nvSpPr>
          <p:cNvPr id="15" name="list-v-154"/>
          <p:cNvSpPr txBox="1"/>
          <p:nvPr/>
        </p:nvSpPr>
        <p:spPr>
          <a:xfrm>
            <a:off x="9153144" y="1874520"/>
            <a:ext cx="233172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Open</a:t>
            </a:r>
            <a:endParaRPr lang="en-US" sz="13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On Hold</a:t>
            </a:r>
            <a:endParaRPr lang="en-US" sz="13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Converted</a:t>
            </a:r>
            <a:endParaRPr lang="en-US" sz="13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Lost</a:t>
            </a:r>
            <a:endParaRPr lang="en-US" sz="13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Duplicate</a:t>
            </a:r>
            <a:endParaRPr lang="en-US" sz="1300" dirty="0"/>
          </a:p>
        </p:txBody>
      </p:sp>
      <p:sp>
        <p:nvSpPr>
          <p:cNvPr id="16" name="note-155"/>
          <p:cNvSpPr txBox="1"/>
          <p:nvPr/>
        </p:nvSpPr>
        <p:spPr>
          <a:xfrm>
            <a:off x="548640" y="594360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6573"/>
                </a:solidFill>
              </a:rPr>
              <a:t>All lists are editable in Lists &amp; Settings (A-D). Keep the five status words exactly as spelt; extra statuses count as open.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8C8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Dropdown values (2/3): activity types and reporting periods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CRM - System Guide  |  Colours and dropdowns</a:t>
            </a:r>
            <a:endParaRPr lang="en-US" sz="1000" dirty="0"/>
          </a:p>
        </p:txBody>
      </p:sp>
      <p:graphicFrame>
        <p:nvGraphicFramePr>
          <p:cNvPr id="35" name="table-15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475488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64592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Activity type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form?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Outbound Call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Contact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Inbound Call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Contact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WhatsApp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Contact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Email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Contact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Contact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Meeting / Walk-In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Contact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Follow-Up Scheduled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Record Update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Other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Record Update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Updated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Record Update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 Assigned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Record Update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 Updated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Record Update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 Created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Substage Cleared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Edited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5" name="periods-t"/>
          <p:cNvSpPr txBox="1"/>
          <p:nvPr/>
        </p:nvSpPr>
        <p:spPr>
          <a:xfrm>
            <a:off x="6400800" y="1188720"/>
            <a:ext cx="5212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Reporting periods (Dashboard)</a:t>
            </a:r>
            <a:endParaRPr lang="en-US" sz="1600" dirty="0"/>
          </a:p>
        </p:txBody>
      </p:sp>
      <p:graphicFrame>
        <p:nvGraphicFramePr>
          <p:cNvPr id="69" name="table-15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691640"/>
          <a:ext cx="521208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32918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Period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Dates used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Today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Today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Yesterday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Yesterday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Last 7 Days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Today and the 6 days before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Last 30 Days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Today and the 29 days before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 Month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1st of this month to today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Previous Month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 previous month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 Date Range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 From to Custom To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8C8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Dropdown values (3/3): sample stages and substages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CRM - System Guide  |  Colours and dropdowns</a:t>
            </a:r>
            <a:endParaRPr lang="en-US" sz="1000" dirty="0"/>
          </a:p>
        </p:txBody>
      </p:sp>
      <p:graphicFrame>
        <p:nvGraphicFramePr>
          <p:cNvPr id="36" name="table-15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740664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1828800"/>
                <a:gridCol w="47548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Order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Substages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Lead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Contacted, First Attempt Pending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Contacted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Connected, Not Connected, Call Back Requested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Interested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Highly Interested, Details Shared, Follow-Up Required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Application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Application Started, Application Submitted, Documents Pending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Payment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Payment Pending, Partial Payment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Converted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Successfully Converted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Interested, Not Eligible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card-159"/>
          <p:cNvSpPr/>
          <p:nvPr/>
        </p:nvSpPr>
        <p:spPr>
          <a:xfrm>
            <a:off x="8183880" y="1234440"/>
            <a:ext cx="3456432" cy="4160520"/>
          </a:xfrm>
          <a:prstGeom prst="roundRect">
            <a:avLst>
              <a:gd name="adj" fmla="val 2116"/>
            </a:avLst>
          </a:prstGeom>
          <a:solidFill>
            <a:schemeClr val="bg2"/>
          </a:solidFill>
          <a:ln w="9525">
            <a:solidFill>
              <a:srgbClr val="D5DBE5"/>
            </a:solidFill>
            <a:prstDash val="solid"/>
          </a:ln>
        </p:spPr>
      </p:sp>
      <p:sp>
        <p:nvSpPr>
          <p:cNvPr id="6" name="icon-bg-160"/>
          <p:cNvSpPr/>
          <p:nvPr/>
        </p:nvSpPr>
        <p:spPr>
          <a:xfrm>
            <a:off x="8366760" y="1417320"/>
            <a:ext cx="502920" cy="502920"/>
          </a:xfrm>
          <a:prstGeom prst="ellipse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pic>
        <p:nvPicPr>
          <p:cNvPr id="7" name="icon-16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85632" y="1536192"/>
            <a:ext cx="265176" cy="265176"/>
          </a:xfrm>
          <a:prstGeom prst="rect">
            <a:avLst/>
          </a:prstGeom>
        </p:spPr>
      </p:pic>
      <p:sp>
        <p:nvSpPr>
          <p:cNvPr id="8" name="card-title-162"/>
          <p:cNvSpPr txBox="1"/>
          <p:nvPr/>
        </p:nvSpPr>
        <p:spPr>
          <a:xfrm>
            <a:off x="8988552" y="1417320"/>
            <a:ext cx="25420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Samples only</a:t>
            </a:r>
            <a:endParaRPr lang="en-US" sz="1800" dirty="0"/>
          </a:p>
        </p:txBody>
      </p:sp>
      <p:sp>
        <p:nvSpPr>
          <p:cNvPr id="9" name="bullets-163"/>
          <p:cNvSpPr txBox="1"/>
          <p:nvPr/>
        </p:nvSpPr>
        <p:spPr>
          <a:xfrm>
            <a:off x="8412480" y="2103120"/>
            <a:ext cx="3044952" cy="3200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chemeClr val="tx1"/>
                </a:solidFill>
              </a:rPr>
              <a:t>16 SAMPLE rows: replace with your process</a:t>
            </a:r>
            <a:endParaRPr lang="en-US" sz="15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chemeClr val="tx1"/>
                </a:solidFill>
              </a:rPr>
              <a:t>Default new-lead stage: New Lead / Not Contacted</a:t>
            </a:r>
            <a:endParaRPr lang="en-US" sz="15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chemeClr val="tx1"/>
                </a:solidFill>
              </a:rPr>
              <a:t>Converted and Lost stages set the status automatically</a:t>
            </a:r>
            <a:endParaRPr lang="en-US" sz="15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chemeClr val="tx1"/>
                </a:solidFill>
              </a:rPr>
              <a:t>Sample counsellors: 1 and 2 Active, 3 Inactive</a:t>
            </a:r>
            <a:endParaRPr lang="en-US" sz="15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8C8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286000"/>
            <a:ext cx="10058400" cy="10058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Settings reference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429000"/>
            <a:ext cx="100584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setting in Lists &amp; Settings (columns N-P)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ADCF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Settings (1/3): IDs and new-lead defaults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CRM - System Guide  |  Settings reference</a:t>
            </a:r>
            <a:endParaRPr lang="en-US" sz="1000" dirty="0"/>
          </a:p>
        </p:txBody>
      </p:sp>
      <p:graphicFrame>
        <p:nvGraphicFramePr>
          <p:cNvPr id="38" name="table-16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91672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463040"/>
                <a:gridCol w="65196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Setting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changing it does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 ID Prefix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LD-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 in front of new Lead IDs. Existing IDs never change; set before go-live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 ID Digits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Length of the running number (3-10 digits): LD-000001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Activity ID Prefix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ACT-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 in front of new Activity IDs in the Follow-Up Log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 Lead Status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 given to a new lead entered without one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 Lead Stage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Lead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given to a new lead without one (blank = none)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 Lead Substage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Contacted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Substage given with the default stage (must belong to it)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Converted Stage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Converted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Moving a lead to this stage sets Lead Status = Converted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8C8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Settings (2/3): status, duplicates and validation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CRM - System Guide  |  Settings reference</a:t>
            </a:r>
            <a:endParaRPr lang="en-US" sz="1000" dirty="0"/>
          </a:p>
        </p:txBody>
      </p:sp>
      <p:graphicFrame>
        <p:nvGraphicFramePr>
          <p:cNvPr id="39" name="table-16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91672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463040"/>
                <a:gridCol w="65196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Setting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changing it does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Lost Stage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Moving a lead to this stage sets Lead Status = Lost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Auto-Set Status From Stage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= apply the two stage-to-status rules; No = never change status automatically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Duplicate Mobile Check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Warn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 = no check; Warn = allow and flag; Block = clear a typed duplicate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Duplicate Email Check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Warn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 as above, for Email ID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Mobile Number Pattern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^\+?[0-9]{10,15}$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Pattern a valid mobile must match (10-15 digits, optional +); breaking it is a warning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Upcoming Follow-Up Window (Days)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many days ahead count as "upcoming" (light blue)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 Next Follow-Up For Open Leads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= the form insists on a next date while the lead stays open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8C8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Settings (3/3): form rules, reminders and admins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CRM - System Guide  |  Settings reference</a:t>
            </a:r>
            <a:endParaRPr lang="en-US" sz="1000" dirty="0"/>
          </a:p>
        </p:txBody>
      </p:sp>
      <p:graphicFrame>
        <p:nvGraphicFramePr>
          <p:cNvPr id="40" name="table-16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91672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463040"/>
                <a:gridCol w="65196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Setting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changing it does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 Remarks On Follow-Up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= remarks are required in the form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 Backdate Days For Activities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many days back an activity may be dated in the form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Email Reminders Enabled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Daily reminder emails. Change only via Admin &gt; Enable / Disable daily email reminders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Reminder Hour (0-23)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Hour of the daily reminder (spreadsheet time zone)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 Emails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Setup runner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Comma-separated admin emails (any provider). Then run Admin &gt; Reapply protections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note-167"/>
          <p:cNvSpPr txBox="1"/>
          <p:nvPr/>
        </p:nvSpPr>
        <p:spPr>
          <a:xfrm>
            <a:off x="548640" y="457200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6573"/>
                </a:solidFill>
              </a:rPr>
              <a:t>Settings are read by name: edit the Value column only, keep names unchanged.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8C8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286000"/>
            <a:ext cx="10058400" cy="10058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workflows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429000"/>
            <a:ext cx="100584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by step: what people do and what the CRM does automatically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ADCF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Adding a new lead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CRM - System Guide  |  Key workflows</a:t>
            </a:r>
            <a:endParaRPr lang="en-US" sz="1000" dirty="0"/>
          </a:p>
        </p:txBody>
      </p:sp>
      <p:sp>
        <p:nvSpPr>
          <p:cNvPr id="4" name="step-168"/>
          <p:cNvSpPr/>
          <p:nvPr/>
        </p:nvSpPr>
        <p:spPr>
          <a:xfrm>
            <a:off x="548640" y="1280160"/>
            <a:ext cx="2468880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12700">
            <a:solidFill>
              <a:srgbClr val="D5DBE5"/>
            </a:solidFill>
            <a:prstDash val="solid"/>
          </a:ln>
        </p:spPr>
      </p:sp>
      <p:sp>
        <p:nvSpPr>
          <p:cNvPr id="5" name="step-num-bg-169"/>
          <p:cNvSpPr/>
          <p:nvPr/>
        </p:nvSpPr>
        <p:spPr>
          <a:xfrm>
            <a:off x="685800" y="1417320"/>
            <a:ext cx="384048" cy="384048"/>
          </a:xfrm>
          <a:prstGeom prst="ellipse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</p:sp>
      <p:sp>
        <p:nvSpPr>
          <p:cNvPr id="6" name="step-num-170"/>
          <p:cNvSpPr txBox="1"/>
          <p:nvPr/>
        </p:nvSpPr>
        <p:spPr>
          <a:xfrm>
            <a:off x="685800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step-title-171"/>
          <p:cNvSpPr txBox="1"/>
          <p:nvPr/>
        </p:nvSpPr>
        <p:spPr>
          <a:xfrm>
            <a:off x="1143000" y="1371600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Type the lead</a:t>
            </a:r>
            <a:endParaRPr lang="en-US" sz="1500" dirty="0"/>
          </a:p>
        </p:txBody>
      </p:sp>
      <p:sp>
        <p:nvSpPr>
          <p:cNvPr id="8" name="step-text-172"/>
          <p:cNvSpPr txBox="1"/>
          <p:nvPr/>
        </p:nvSpPr>
        <p:spPr>
          <a:xfrm>
            <a:off x="685800" y="192024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Enter name, mobile or any field in the next empty row (or paste many rows).</a:t>
            </a:r>
            <a:endParaRPr lang="en-US" sz="1350" dirty="0"/>
          </a:p>
        </p:txBody>
      </p:sp>
      <p:sp>
        <p:nvSpPr>
          <p:cNvPr id="9" name="arrow-173"/>
          <p:cNvSpPr/>
          <p:nvPr/>
        </p:nvSpPr>
        <p:spPr>
          <a:xfrm>
            <a:off x="3063240" y="2217420"/>
            <a:ext cx="314858" cy="0"/>
          </a:xfrm>
          <a:prstGeom prst="line">
            <a:avLst/>
          </a:prstGeom>
          <a:noFill/>
          <a:ln w="22225">
            <a:solidFill>
              <a:srgbClr val="7F8C8D"/>
            </a:solidFill>
            <a:prstDash val="solid"/>
            <a:tailEnd type="triangle"/>
          </a:ln>
        </p:spPr>
      </p:sp>
      <p:sp>
        <p:nvSpPr>
          <p:cNvPr id="10" name="step-174"/>
          <p:cNvSpPr/>
          <p:nvPr/>
        </p:nvSpPr>
        <p:spPr>
          <a:xfrm>
            <a:off x="3423818" y="1280160"/>
            <a:ext cx="2468880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12700">
            <a:solidFill>
              <a:srgbClr val="D5DBE5"/>
            </a:solidFill>
            <a:prstDash val="solid"/>
          </a:ln>
        </p:spPr>
      </p:sp>
      <p:sp>
        <p:nvSpPr>
          <p:cNvPr id="11" name="step-num-bg-175"/>
          <p:cNvSpPr/>
          <p:nvPr/>
        </p:nvSpPr>
        <p:spPr>
          <a:xfrm>
            <a:off x="3560978" y="1417320"/>
            <a:ext cx="384048" cy="384048"/>
          </a:xfrm>
          <a:prstGeom prst="ellipse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</p:sp>
      <p:sp>
        <p:nvSpPr>
          <p:cNvPr id="12" name="step-num-176"/>
          <p:cNvSpPr txBox="1"/>
          <p:nvPr/>
        </p:nvSpPr>
        <p:spPr>
          <a:xfrm>
            <a:off x="3560978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3" name="step-title-177"/>
          <p:cNvSpPr txBox="1"/>
          <p:nvPr/>
        </p:nvSpPr>
        <p:spPr>
          <a:xfrm>
            <a:off x="4018178" y="1371600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Lead ID</a:t>
            </a:r>
            <a:endParaRPr lang="en-US" sz="1500" dirty="0"/>
          </a:p>
        </p:txBody>
      </p:sp>
      <p:sp>
        <p:nvSpPr>
          <p:cNvPr id="14" name="step-text-178"/>
          <p:cNvSpPr txBox="1"/>
          <p:nvPr/>
        </p:nvSpPr>
        <p:spPr>
          <a:xfrm>
            <a:off x="3560978" y="192024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The script gives the row the next ID, e.g. LD-000002. Duplicate pasted IDs are replaced.</a:t>
            </a:r>
            <a:endParaRPr lang="en-US" sz="1350" dirty="0"/>
          </a:p>
        </p:txBody>
      </p:sp>
      <p:sp>
        <p:nvSpPr>
          <p:cNvPr id="15" name="arrow-179"/>
          <p:cNvSpPr/>
          <p:nvPr/>
        </p:nvSpPr>
        <p:spPr>
          <a:xfrm>
            <a:off x="5938418" y="2217420"/>
            <a:ext cx="314858" cy="0"/>
          </a:xfrm>
          <a:prstGeom prst="line">
            <a:avLst/>
          </a:prstGeom>
          <a:noFill/>
          <a:ln w="22225">
            <a:solidFill>
              <a:srgbClr val="7F8C8D"/>
            </a:solidFill>
            <a:prstDash val="solid"/>
            <a:tailEnd type="triangle"/>
          </a:ln>
        </p:spPr>
      </p:sp>
      <p:sp>
        <p:nvSpPr>
          <p:cNvPr id="16" name="step-180"/>
          <p:cNvSpPr/>
          <p:nvPr/>
        </p:nvSpPr>
        <p:spPr>
          <a:xfrm>
            <a:off x="6298997" y="1280160"/>
            <a:ext cx="2468880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12700">
            <a:solidFill>
              <a:srgbClr val="D5DBE5"/>
            </a:solidFill>
            <a:prstDash val="solid"/>
          </a:ln>
        </p:spPr>
      </p:sp>
      <p:sp>
        <p:nvSpPr>
          <p:cNvPr id="17" name="step-num-bg-181"/>
          <p:cNvSpPr/>
          <p:nvPr/>
        </p:nvSpPr>
        <p:spPr>
          <a:xfrm>
            <a:off x="6436157" y="1417320"/>
            <a:ext cx="384048" cy="384048"/>
          </a:xfrm>
          <a:prstGeom prst="ellipse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</p:sp>
      <p:sp>
        <p:nvSpPr>
          <p:cNvPr id="18" name="step-num-182"/>
          <p:cNvSpPr txBox="1"/>
          <p:nvPr/>
        </p:nvSpPr>
        <p:spPr>
          <a:xfrm>
            <a:off x="6436157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9" name="step-title-183"/>
          <p:cNvSpPr txBox="1"/>
          <p:nvPr/>
        </p:nvSpPr>
        <p:spPr>
          <a:xfrm>
            <a:off x="6893357" y="1371600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Fixed dates</a:t>
            </a:r>
            <a:endParaRPr lang="en-US" sz="1500" dirty="0"/>
          </a:p>
        </p:txBody>
      </p:sp>
      <p:sp>
        <p:nvSpPr>
          <p:cNvPr id="20" name="step-text-184"/>
          <p:cNvSpPr txBox="1"/>
          <p:nvPr/>
        </p:nvSpPr>
        <p:spPr>
          <a:xfrm>
            <a:off x="6436157" y="192024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Lead Created Date is stamped. If a counsellor is set, Lead Assigned Date too.</a:t>
            </a:r>
            <a:endParaRPr lang="en-US" sz="1350" dirty="0"/>
          </a:p>
        </p:txBody>
      </p:sp>
      <p:sp>
        <p:nvSpPr>
          <p:cNvPr id="21" name="arrow-185"/>
          <p:cNvSpPr/>
          <p:nvPr/>
        </p:nvSpPr>
        <p:spPr>
          <a:xfrm>
            <a:off x="8813597" y="2217420"/>
            <a:ext cx="314858" cy="0"/>
          </a:xfrm>
          <a:prstGeom prst="line">
            <a:avLst/>
          </a:prstGeom>
          <a:noFill/>
          <a:ln w="22225">
            <a:solidFill>
              <a:srgbClr val="7F8C8D"/>
            </a:solidFill>
            <a:prstDash val="solid"/>
            <a:tailEnd type="triangle"/>
          </a:ln>
        </p:spPr>
      </p:sp>
      <p:sp>
        <p:nvSpPr>
          <p:cNvPr id="22" name="step-186"/>
          <p:cNvSpPr/>
          <p:nvPr/>
        </p:nvSpPr>
        <p:spPr>
          <a:xfrm>
            <a:off x="9174175" y="1280160"/>
            <a:ext cx="2468880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12700">
            <a:solidFill>
              <a:srgbClr val="D5DBE5"/>
            </a:solidFill>
            <a:prstDash val="solid"/>
          </a:ln>
        </p:spPr>
      </p:sp>
      <p:sp>
        <p:nvSpPr>
          <p:cNvPr id="23" name="step-num-bg-187"/>
          <p:cNvSpPr/>
          <p:nvPr/>
        </p:nvSpPr>
        <p:spPr>
          <a:xfrm>
            <a:off x="9311335" y="1417320"/>
            <a:ext cx="384048" cy="384048"/>
          </a:xfrm>
          <a:prstGeom prst="ellipse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</p:sp>
      <p:sp>
        <p:nvSpPr>
          <p:cNvPr id="24" name="step-num-188"/>
          <p:cNvSpPr txBox="1"/>
          <p:nvPr/>
        </p:nvSpPr>
        <p:spPr>
          <a:xfrm>
            <a:off x="9311335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5" name="step-title-189"/>
          <p:cNvSpPr txBox="1"/>
          <p:nvPr/>
        </p:nvSpPr>
        <p:spPr>
          <a:xfrm>
            <a:off x="9768535" y="1371600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Defaults</a:t>
            </a:r>
            <a:endParaRPr lang="en-US" sz="1500" dirty="0"/>
          </a:p>
        </p:txBody>
      </p:sp>
      <p:sp>
        <p:nvSpPr>
          <p:cNvPr id="26" name="step-text-190"/>
          <p:cNvSpPr txBox="1"/>
          <p:nvPr/>
        </p:nvSpPr>
        <p:spPr>
          <a:xfrm>
            <a:off x="9311335" y="192024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Empty status -&gt; Open. Empty stage -&gt; New Lead / Not Contacted. Substage list set.</a:t>
            </a:r>
            <a:endParaRPr lang="en-US" sz="1350" dirty="0"/>
          </a:p>
        </p:txBody>
      </p:sp>
      <p:sp>
        <p:nvSpPr>
          <p:cNvPr id="27" name="arrow-191"/>
          <p:cNvSpPr/>
          <p:nvPr/>
        </p:nvSpPr>
        <p:spPr>
          <a:xfrm>
            <a:off x="10408615" y="3154680"/>
            <a:ext cx="0" cy="251460"/>
          </a:xfrm>
          <a:prstGeom prst="line">
            <a:avLst/>
          </a:prstGeom>
          <a:noFill/>
          <a:ln w="22225">
            <a:solidFill>
              <a:srgbClr val="7F8C8D"/>
            </a:solidFill>
            <a:prstDash val="solid"/>
          </a:ln>
        </p:spPr>
      </p:sp>
      <p:sp>
        <p:nvSpPr>
          <p:cNvPr id="28" name="arrow-192"/>
          <p:cNvSpPr/>
          <p:nvPr/>
        </p:nvSpPr>
        <p:spPr>
          <a:xfrm>
            <a:off x="1783080" y="3406140"/>
            <a:ext cx="8625535" cy="0"/>
          </a:xfrm>
          <a:prstGeom prst="line">
            <a:avLst/>
          </a:prstGeom>
          <a:noFill/>
          <a:ln w="22225">
            <a:solidFill>
              <a:srgbClr val="7F8C8D"/>
            </a:solidFill>
            <a:prstDash val="solid"/>
          </a:ln>
        </p:spPr>
      </p:sp>
      <p:sp>
        <p:nvSpPr>
          <p:cNvPr id="29" name="arrow-193"/>
          <p:cNvSpPr/>
          <p:nvPr/>
        </p:nvSpPr>
        <p:spPr>
          <a:xfrm>
            <a:off x="1783080" y="3406140"/>
            <a:ext cx="0" cy="251460"/>
          </a:xfrm>
          <a:prstGeom prst="line">
            <a:avLst/>
          </a:prstGeom>
          <a:noFill/>
          <a:ln w="22225">
            <a:solidFill>
              <a:srgbClr val="7F8C8D"/>
            </a:solidFill>
            <a:prstDash val="solid"/>
            <a:tailEnd type="triangle"/>
          </a:ln>
        </p:spPr>
      </p:sp>
      <p:sp>
        <p:nvSpPr>
          <p:cNvPr id="30" name="step-194"/>
          <p:cNvSpPr/>
          <p:nvPr/>
        </p:nvSpPr>
        <p:spPr>
          <a:xfrm>
            <a:off x="548640" y="3657600"/>
            <a:ext cx="2468880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12700">
            <a:solidFill>
              <a:srgbClr val="D5DBE5"/>
            </a:solidFill>
            <a:prstDash val="solid"/>
          </a:ln>
        </p:spPr>
      </p:sp>
      <p:sp>
        <p:nvSpPr>
          <p:cNvPr id="31" name="step-num-bg-195"/>
          <p:cNvSpPr/>
          <p:nvPr/>
        </p:nvSpPr>
        <p:spPr>
          <a:xfrm>
            <a:off x="685800" y="3794760"/>
            <a:ext cx="384048" cy="384048"/>
          </a:xfrm>
          <a:prstGeom prst="ellipse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</p:sp>
      <p:sp>
        <p:nvSpPr>
          <p:cNvPr id="32" name="step-num-196"/>
          <p:cNvSpPr txBox="1"/>
          <p:nvPr/>
        </p:nvSpPr>
        <p:spPr>
          <a:xfrm>
            <a:off x="685800" y="3794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33" name="step-title-197"/>
          <p:cNvSpPr txBox="1"/>
          <p:nvPr/>
        </p:nvSpPr>
        <p:spPr>
          <a:xfrm>
            <a:off x="1143000" y="3749040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Who and when</a:t>
            </a:r>
            <a:endParaRPr lang="en-US" sz="1500" dirty="0"/>
          </a:p>
        </p:txBody>
      </p:sp>
      <p:sp>
        <p:nvSpPr>
          <p:cNvPr id="34" name="step-text-198"/>
          <p:cNvSpPr txBox="1"/>
          <p:nvPr/>
        </p:nvSpPr>
        <p:spPr>
          <a:xfrm>
            <a:off x="685800" y="429768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Last Updated By and Last Activity Timestamp are filled in.</a:t>
            </a:r>
            <a:endParaRPr lang="en-US" sz="1350" dirty="0"/>
          </a:p>
        </p:txBody>
      </p:sp>
      <p:sp>
        <p:nvSpPr>
          <p:cNvPr id="35" name="arrow-199"/>
          <p:cNvSpPr/>
          <p:nvPr/>
        </p:nvSpPr>
        <p:spPr>
          <a:xfrm>
            <a:off x="3063240" y="4594860"/>
            <a:ext cx="314858" cy="0"/>
          </a:xfrm>
          <a:prstGeom prst="line">
            <a:avLst/>
          </a:prstGeom>
          <a:noFill/>
          <a:ln w="22225">
            <a:solidFill>
              <a:srgbClr val="7F8C8D"/>
            </a:solidFill>
            <a:prstDash val="solid"/>
            <a:tailEnd type="triangle"/>
          </a:ln>
        </p:spPr>
      </p:sp>
      <p:sp>
        <p:nvSpPr>
          <p:cNvPr id="36" name="step-200"/>
          <p:cNvSpPr/>
          <p:nvPr/>
        </p:nvSpPr>
        <p:spPr>
          <a:xfrm>
            <a:off x="3423818" y="3657600"/>
            <a:ext cx="2468880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12700">
            <a:solidFill>
              <a:srgbClr val="D5DBE5"/>
            </a:solidFill>
            <a:prstDash val="solid"/>
          </a:ln>
        </p:spPr>
      </p:sp>
      <p:sp>
        <p:nvSpPr>
          <p:cNvPr id="37" name="step-num-bg-201"/>
          <p:cNvSpPr/>
          <p:nvPr/>
        </p:nvSpPr>
        <p:spPr>
          <a:xfrm>
            <a:off x="3560978" y="3794760"/>
            <a:ext cx="384048" cy="384048"/>
          </a:xfrm>
          <a:prstGeom prst="ellipse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</p:sp>
      <p:sp>
        <p:nvSpPr>
          <p:cNvPr id="38" name="step-num-202"/>
          <p:cNvSpPr txBox="1"/>
          <p:nvPr/>
        </p:nvSpPr>
        <p:spPr>
          <a:xfrm>
            <a:off x="3560978" y="3794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6</a:t>
            </a:r>
            <a:endParaRPr lang="en-US" sz="1400" dirty="0"/>
          </a:p>
        </p:txBody>
      </p:sp>
      <p:sp>
        <p:nvSpPr>
          <p:cNvPr id="39" name="step-title-203"/>
          <p:cNvSpPr txBox="1"/>
          <p:nvPr/>
        </p:nvSpPr>
        <p:spPr>
          <a:xfrm>
            <a:off x="4018178" y="3749040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Checks</a:t>
            </a:r>
            <a:endParaRPr lang="en-US" sz="1500" dirty="0"/>
          </a:p>
        </p:txBody>
      </p:sp>
      <p:sp>
        <p:nvSpPr>
          <p:cNvPr id="40" name="step-text-204"/>
          <p:cNvSpPr txBox="1"/>
          <p:nvPr/>
        </p:nvSpPr>
        <p:spPr>
          <a:xfrm>
            <a:off x="3560978" y="429768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Duplicate mobile/email warning appears; Data Quality Flags are written.</a:t>
            </a:r>
            <a:endParaRPr lang="en-US" sz="1350" dirty="0"/>
          </a:p>
        </p:txBody>
      </p:sp>
      <p:sp>
        <p:nvSpPr>
          <p:cNvPr id="41" name="arrow-205"/>
          <p:cNvSpPr/>
          <p:nvPr/>
        </p:nvSpPr>
        <p:spPr>
          <a:xfrm>
            <a:off x="5938418" y="4594860"/>
            <a:ext cx="314858" cy="0"/>
          </a:xfrm>
          <a:prstGeom prst="line">
            <a:avLst/>
          </a:prstGeom>
          <a:noFill/>
          <a:ln w="22225">
            <a:solidFill>
              <a:srgbClr val="7F8C8D"/>
            </a:solidFill>
            <a:prstDash val="solid"/>
            <a:tailEnd type="triangle"/>
          </a:ln>
        </p:spPr>
      </p:sp>
      <p:sp>
        <p:nvSpPr>
          <p:cNvPr id="42" name="step-206"/>
          <p:cNvSpPr/>
          <p:nvPr/>
        </p:nvSpPr>
        <p:spPr>
          <a:xfrm>
            <a:off x="6298997" y="3657600"/>
            <a:ext cx="2468880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12700">
            <a:solidFill>
              <a:srgbClr val="D5DBE5"/>
            </a:solidFill>
            <a:prstDash val="solid"/>
          </a:ln>
        </p:spPr>
      </p:sp>
      <p:sp>
        <p:nvSpPr>
          <p:cNvPr id="43" name="step-num-bg-207"/>
          <p:cNvSpPr/>
          <p:nvPr/>
        </p:nvSpPr>
        <p:spPr>
          <a:xfrm>
            <a:off x="6436157" y="3794760"/>
            <a:ext cx="384048" cy="384048"/>
          </a:xfrm>
          <a:prstGeom prst="ellipse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</p:sp>
      <p:sp>
        <p:nvSpPr>
          <p:cNvPr id="44" name="step-num-208"/>
          <p:cNvSpPr txBox="1"/>
          <p:nvPr/>
        </p:nvSpPr>
        <p:spPr>
          <a:xfrm>
            <a:off x="6436157" y="3794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7</a:t>
            </a:r>
            <a:endParaRPr lang="en-US" sz="1400" dirty="0"/>
          </a:p>
        </p:txBody>
      </p:sp>
      <p:sp>
        <p:nvSpPr>
          <p:cNvPr id="45" name="step-title-209"/>
          <p:cNvSpPr txBox="1"/>
          <p:nvPr/>
        </p:nvSpPr>
        <p:spPr>
          <a:xfrm>
            <a:off x="6893357" y="3749040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Logged</a:t>
            </a:r>
            <a:endParaRPr lang="en-US" sz="1500" dirty="0"/>
          </a:p>
        </p:txBody>
      </p:sp>
      <p:sp>
        <p:nvSpPr>
          <p:cNvPr id="46" name="step-text-210"/>
          <p:cNvSpPr txBox="1"/>
          <p:nvPr/>
        </p:nvSpPr>
        <p:spPr>
          <a:xfrm>
            <a:off x="6436157" y="429768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Follow-Up Log gets one "Lead Created" row (System) with owner, stage and status.</a:t>
            </a:r>
            <a:endParaRPr lang="en-US" sz="1350" dirty="0"/>
          </a:p>
        </p:txBody>
      </p:sp>
      <p:sp>
        <p:nvSpPr>
          <p:cNvPr id="47" name="arrow-211"/>
          <p:cNvSpPr/>
          <p:nvPr/>
        </p:nvSpPr>
        <p:spPr>
          <a:xfrm>
            <a:off x="8813597" y="4594860"/>
            <a:ext cx="314858" cy="0"/>
          </a:xfrm>
          <a:prstGeom prst="line">
            <a:avLst/>
          </a:prstGeom>
          <a:noFill/>
          <a:ln w="22225">
            <a:solidFill>
              <a:srgbClr val="7F8C8D"/>
            </a:solidFill>
            <a:prstDash val="solid"/>
            <a:tailEnd type="triangle"/>
          </a:ln>
        </p:spPr>
      </p:sp>
      <p:sp>
        <p:nvSpPr>
          <p:cNvPr id="48" name="step-212"/>
          <p:cNvSpPr/>
          <p:nvPr/>
        </p:nvSpPr>
        <p:spPr>
          <a:xfrm>
            <a:off x="9174175" y="3657600"/>
            <a:ext cx="2468880" cy="1874520"/>
          </a:xfrm>
          <a:prstGeom prst="roundRect">
            <a:avLst>
              <a:gd name="adj" fmla="val 3902"/>
            </a:avLst>
          </a:prstGeom>
          <a:solidFill>
            <a:srgbClr val="FDEBD0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49" name="step-num-bg-213"/>
          <p:cNvSpPr/>
          <p:nvPr/>
        </p:nvSpPr>
        <p:spPr>
          <a:xfrm>
            <a:off x="9311335" y="3794760"/>
            <a:ext cx="384048" cy="384048"/>
          </a:xfrm>
          <a:prstGeom prst="ellipse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50" name="step-num-214"/>
          <p:cNvSpPr txBox="1"/>
          <p:nvPr/>
        </p:nvSpPr>
        <p:spPr>
          <a:xfrm>
            <a:off x="9311335" y="3794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8</a:t>
            </a:r>
            <a:endParaRPr lang="en-US" sz="1400" dirty="0"/>
          </a:p>
        </p:txBody>
      </p:sp>
      <p:sp>
        <p:nvSpPr>
          <p:cNvPr id="51" name="step-title-215"/>
          <p:cNvSpPr txBox="1"/>
          <p:nvPr/>
        </p:nvSpPr>
        <p:spPr>
          <a:xfrm>
            <a:off x="9768535" y="3749040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Big imports</a:t>
            </a:r>
            <a:endParaRPr lang="en-US" sz="1500" dirty="0"/>
          </a:p>
        </p:txBody>
      </p:sp>
      <p:sp>
        <p:nvSpPr>
          <p:cNvPr id="52" name="step-text-216"/>
          <p:cNvSpPr txBox="1"/>
          <p:nvPr/>
        </p:nvSpPr>
        <p:spPr>
          <a:xfrm>
            <a:off x="9311335" y="429768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Over ~2,000 rows: run Admin &gt; Process imported / pasted leads.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8C8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Stage -&gt; dependent substage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CRM - System Guide  |  Key workflows</a:t>
            </a:r>
            <a:endParaRPr lang="en-US" sz="1000" dirty="0"/>
          </a:p>
        </p:txBody>
      </p:sp>
      <p:sp>
        <p:nvSpPr>
          <p:cNvPr id="4" name="step-217"/>
          <p:cNvSpPr/>
          <p:nvPr/>
        </p:nvSpPr>
        <p:spPr>
          <a:xfrm>
            <a:off x="548640" y="1280160"/>
            <a:ext cx="2468880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12700">
            <a:solidFill>
              <a:srgbClr val="D5DBE5"/>
            </a:solidFill>
            <a:prstDash val="solid"/>
          </a:ln>
        </p:spPr>
      </p:sp>
      <p:sp>
        <p:nvSpPr>
          <p:cNvPr id="5" name="step-num-bg-218"/>
          <p:cNvSpPr/>
          <p:nvPr/>
        </p:nvSpPr>
        <p:spPr>
          <a:xfrm>
            <a:off x="685800" y="1417320"/>
            <a:ext cx="384048" cy="384048"/>
          </a:xfrm>
          <a:prstGeom prst="ellipse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</p:sp>
      <p:sp>
        <p:nvSpPr>
          <p:cNvPr id="6" name="step-num-219"/>
          <p:cNvSpPr txBox="1"/>
          <p:nvPr/>
        </p:nvSpPr>
        <p:spPr>
          <a:xfrm>
            <a:off x="685800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step-title-220"/>
          <p:cNvSpPr txBox="1"/>
          <p:nvPr/>
        </p:nvSpPr>
        <p:spPr>
          <a:xfrm>
            <a:off x="1143000" y="1371600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Pick a stage</a:t>
            </a:r>
            <a:endParaRPr lang="en-US" sz="1500" dirty="0"/>
          </a:p>
        </p:txBody>
      </p:sp>
      <p:sp>
        <p:nvSpPr>
          <p:cNvPr id="8" name="step-text-221"/>
          <p:cNvSpPr txBox="1"/>
          <p:nvPr/>
        </p:nvSpPr>
        <p:spPr>
          <a:xfrm>
            <a:off x="685800" y="192024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Choose a new Lead Stage (sheet or web app).</a:t>
            </a:r>
            <a:endParaRPr lang="en-US" sz="1350" dirty="0"/>
          </a:p>
        </p:txBody>
      </p:sp>
      <p:sp>
        <p:nvSpPr>
          <p:cNvPr id="9" name="arrow-222"/>
          <p:cNvSpPr/>
          <p:nvPr/>
        </p:nvSpPr>
        <p:spPr>
          <a:xfrm>
            <a:off x="3063240" y="2217420"/>
            <a:ext cx="314858" cy="0"/>
          </a:xfrm>
          <a:prstGeom prst="line">
            <a:avLst/>
          </a:prstGeom>
          <a:noFill/>
          <a:ln w="22225">
            <a:solidFill>
              <a:srgbClr val="7F8C8D"/>
            </a:solidFill>
            <a:prstDash val="solid"/>
            <a:tailEnd type="triangle"/>
          </a:ln>
        </p:spPr>
      </p:sp>
      <p:sp>
        <p:nvSpPr>
          <p:cNvPr id="10" name="step-223"/>
          <p:cNvSpPr/>
          <p:nvPr/>
        </p:nvSpPr>
        <p:spPr>
          <a:xfrm>
            <a:off x="3423818" y="1280160"/>
            <a:ext cx="2468880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12700">
            <a:solidFill>
              <a:srgbClr val="D5DBE5"/>
            </a:solidFill>
            <a:prstDash val="solid"/>
          </a:ln>
        </p:spPr>
      </p:sp>
      <p:sp>
        <p:nvSpPr>
          <p:cNvPr id="11" name="step-num-bg-224"/>
          <p:cNvSpPr/>
          <p:nvPr/>
        </p:nvSpPr>
        <p:spPr>
          <a:xfrm>
            <a:off x="3560978" y="1417320"/>
            <a:ext cx="384048" cy="384048"/>
          </a:xfrm>
          <a:prstGeom prst="ellipse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</p:sp>
      <p:sp>
        <p:nvSpPr>
          <p:cNvPr id="12" name="step-num-225"/>
          <p:cNvSpPr txBox="1"/>
          <p:nvPr/>
        </p:nvSpPr>
        <p:spPr>
          <a:xfrm>
            <a:off x="3560978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3" name="step-title-226"/>
          <p:cNvSpPr txBox="1"/>
          <p:nvPr/>
        </p:nvSpPr>
        <p:spPr>
          <a:xfrm>
            <a:off x="4018178" y="1371600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Instant reset</a:t>
            </a:r>
            <a:endParaRPr lang="en-US" sz="1500" dirty="0"/>
          </a:p>
        </p:txBody>
      </p:sp>
      <p:sp>
        <p:nvSpPr>
          <p:cNvPr id="14" name="step-text-227"/>
          <p:cNvSpPr txBox="1"/>
          <p:nvPr/>
        </p:nvSpPr>
        <p:spPr>
          <a:xfrm>
            <a:off x="3560978" y="192024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First thing: the substage is cleared and its dropdown shows only this stage's active substages.</a:t>
            </a:r>
            <a:endParaRPr lang="en-US" sz="1350" dirty="0"/>
          </a:p>
        </p:txBody>
      </p:sp>
      <p:sp>
        <p:nvSpPr>
          <p:cNvPr id="15" name="arrow-228"/>
          <p:cNvSpPr/>
          <p:nvPr/>
        </p:nvSpPr>
        <p:spPr>
          <a:xfrm>
            <a:off x="5938418" y="2217420"/>
            <a:ext cx="314858" cy="0"/>
          </a:xfrm>
          <a:prstGeom prst="line">
            <a:avLst/>
          </a:prstGeom>
          <a:noFill/>
          <a:ln w="22225">
            <a:solidFill>
              <a:srgbClr val="7F8C8D"/>
            </a:solidFill>
            <a:prstDash val="solid"/>
            <a:tailEnd type="triangle"/>
          </a:ln>
        </p:spPr>
      </p:sp>
      <p:sp>
        <p:nvSpPr>
          <p:cNvPr id="16" name="step-229"/>
          <p:cNvSpPr/>
          <p:nvPr/>
        </p:nvSpPr>
        <p:spPr>
          <a:xfrm>
            <a:off x="6298997" y="1280160"/>
            <a:ext cx="2468880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12700">
            <a:solidFill>
              <a:srgbClr val="D5DBE5"/>
            </a:solidFill>
            <a:prstDash val="solid"/>
          </a:ln>
        </p:spPr>
      </p:sp>
      <p:sp>
        <p:nvSpPr>
          <p:cNvPr id="17" name="step-num-bg-230"/>
          <p:cNvSpPr/>
          <p:nvPr/>
        </p:nvSpPr>
        <p:spPr>
          <a:xfrm>
            <a:off x="6436157" y="1417320"/>
            <a:ext cx="384048" cy="384048"/>
          </a:xfrm>
          <a:prstGeom prst="ellipse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</p:sp>
      <p:sp>
        <p:nvSpPr>
          <p:cNvPr id="18" name="step-num-231"/>
          <p:cNvSpPr txBox="1"/>
          <p:nvPr/>
        </p:nvSpPr>
        <p:spPr>
          <a:xfrm>
            <a:off x="6436157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9" name="step-title-232"/>
          <p:cNvSpPr txBox="1"/>
          <p:nvPr/>
        </p:nvSpPr>
        <p:spPr>
          <a:xfrm>
            <a:off x="6893357" y="1371600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Pick substage</a:t>
            </a:r>
            <a:endParaRPr lang="en-US" sz="1500" dirty="0"/>
          </a:p>
        </p:txBody>
      </p:sp>
      <p:sp>
        <p:nvSpPr>
          <p:cNvPr id="20" name="step-text-233"/>
          <p:cNvSpPr txBox="1"/>
          <p:nvPr/>
        </p:nvSpPr>
        <p:spPr>
          <a:xfrm>
            <a:off x="6436157" y="192024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Choose a substage from the new list. A substage from another stage is cleared.</a:t>
            </a:r>
            <a:endParaRPr lang="en-US" sz="1350" dirty="0"/>
          </a:p>
        </p:txBody>
      </p:sp>
      <p:sp>
        <p:nvSpPr>
          <p:cNvPr id="21" name="arrow-234"/>
          <p:cNvSpPr/>
          <p:nvPr/>
        </p:nvSpPr>
        <p:spPr>
          <a:xfrm>
            <a:off x="8813597" y="2217420"/>
            <a:ext cx="314858" cy="0"/>
          </a:xfrm>
          <a:prstGeom prst="line">
            <a:avLst/>
          </a:prstGeom>
          <a:noFill/>
          <a:ln w="22225">
            <a:solidFill>
              <a:srgbClr val="7F8C8D"/>
            </a:solidFill>
            <a:prstDash val="solid"/>
            <a:tailEnd type="triangle"/>
          </a:ln>
        </p:spPr>
      </p:sp>
      <p:sp>
        <p:nvSpPr>
          <p:cNvPr id="22" name="step-235"/>
          <p:cNvSpPr/>
          <p:nvPr/>
        </p:nvSpPr>
        <p:spPr>
          <a:xfrm>
            <a:off x="9174175" y="1280160"/>
            <a:ext cx="2468880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12700">
            <a:solidFill>
              <a:srgbClr val="D5DBE5"/>
            </a:solidFill>
            <a:prstDash val="solid"/>
          </a:ln>
        </p:spPr>
      </p:sp>
      <p:sp>
        <p:nvSpPr>
          <p:cNvPr id="23" name="step-num-bg-236"/>
          <p:cNvSpPr/>
          <p:nvPr/>
        </p:nvSpPr>
        <p:spPr>
          <a:xfrm>
            <a:off x="9311335" y="1417320"/>
            <a:ext cx="384048" cy="384048"/>
          </a:xfrm>
          <a:prstGeom prst="ellipse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</p:sp>
      <p:sp>
        <p:nvSpPr>
          <p:cNvPr id="24" name="step-num-237"/>
          <p:cNvSpPr txBox="1"/>
          <p:nvPr/>
        </p:nvSpPr>
        <p:spPr>
          <a:xfrm>
            <a:off x="9311335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5" name="step-title-238"/>
          <p:cNvSpPr txBox="1"/>
          <p:nvPr/>
        </p:nvSpPr>
        <p:spPr>
          <a:xfrm>
            <a:off x="9768535" y="1371600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Audit</a:t>
            </a:r>
            <a:endParaRPr lang="en-US" sz="1500" dirty="0"/>
          </a:p>
        </p:txBody>
      </p:sp>
      <p:sp>
        <p:nvSpPr>
          <p:cNvPr id="26" name="step-text-239"/>
          <p:cNvSpPr txBox="1"/>
          <p:nvPr/>
        </p:nvSpPr>
        <p:spPr>
          <a:xfrm>
            <a:off x="9311335" y="192024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Log: "Stage Updated" (old -&gt; new) and "Substage Cleared" with the old value. Stage Change Date stamped.</a:t>
            </a:r>
            <a:endParaRPr lang="en-US" sz="1350" dirty="0"/>
          </a:p>
        </p:txBody>
      </p:sp>
      <p:sp>
        <p:nvSpPr>
          <p:cNvPr id="27" name="arrow-240"/>
          <p:cNvSpPr/>
          <p:nvPr/>
        </p:nvSpPr>
        <p:spPr>
          <a:xfrm>
            <a:off x="10408615" y="3154680"/>
            <a:ext cx="0" cy="251460"/>
          </a:xfrm>
          <a:prstGeom prst="line">
            <a:avLst/>
          </a:prstGeom>
          <a:noFill/>
          <a:ln w="22225">
            <a:solidFill>
              <a:srgbClr val="7F8C8D"/>
            </a:solidFill>
            <a:prstDash val="solid"/>
          </a:ln>
        </p:spPr>
      </p:sp>
      <p:sp>
        <p:nvSpPr>
          <p:cNvPr id="28" name="arrow-241"/>
          <p:cNvSpPr/>
          <p:nvPr/>
        </p:nvSpPr>
        <p:spPr>
          <a:xfrm>
            <a:off x="1783080" y="3406140"/>
            <a:ext cx="8625535" cy="0"/>
          </a:xfrm>
          <a:prstGeom prst="line">
            <a:avLst/>
          </a:prstGeom>
          <a:noFill/>
          <a:ln w="22225">
            <a:solidFill>
              <a:srgbClr val="7F8C8D"/>
            </a:solidFill>
            <a:prstDash val="solid"/>
          </a:ln>
        </p:spPr>
      </p:sp>
      <p:sp>
        <p:nvSpPr>
          <p:cNvPr id="29" name="arrow-242"/>
          <p:cNvSpPr/>
          <p:nvPr/>
        </p:nvSpPr>
        <p:spPr>
          <a:xfrm>
            <a:off x="1783080" y="3406140"/>
            <a:ext cx="0" cy="251460"/>
          </a:xfrm>
          <a:prstGeom prst="line">
            <a:avLst/>
          </a:prstGeom>
          <a:noFill/>
          <a:ln w="22225">
            <a:solidFill>
              <a:srgbClr val="7F8C8D"/>
            </a:solidFill>
            <a:prstDash val="solid"/>
            <a:tailEnd type="triangle"/>
          </a:ln>
        </p:spPr>
      </p:sp>
      <p:sp>
        <p:nvSpPr>
          <p:cNvPr id="30" name="step-243"/>
          <p:cNvSpPr/>
          <p:nvPr/>
        </p:nvSpPr>
        <p:spPr>
          <a:xfrm>
            <a:off x="548640" y="3657600"/>
            <a:ext cx="2468880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12700">
            <a:solidFill>
              <a:srgbClr val="D5DBE5"/>
            </a:solidFill>
            <a:prstDash val="solid"/>
          </a:ln>
        </p:spPr>
      </p:sp>
      <p:sp>
        <p:nvSpPr>
          <p:cNvPr id="31" name="step-num-bg-244"/>
          <p:cNvSpPr/>
          <p:nvPr/>
        </p:nvSpPr>
        <p:spPr>
          <a:xfrm>
            <a:off x="685800" y="3794760"/>
            <a:ext cx="384048" cy="384048"/>
          </a:xfrm>
          <a:prstGeom prst="ellipse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</p:sp>
      <p:sp>
        <p:nvSpPr>
          <p:cNvPr id="32" name="step-num-245"/>
          <p:cNvSpPr txBox="1"/>
          <p:nvPr/>
        </p:nvSpPr>
        <p:spPr>
          <a:xfrm>
            <a:off x="685800" y="3794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33" name="step-title-246"/>
          <p:cNvSpPr txBox="1"/>
          <p:nvPr/>
        </p:nvSpPr>
        <p:spPr>
          <a:xfrm>
            <a:off x="1143000" y="3749040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Auto status</a:t>
            </a:r>
            <a:endParaRPr lang="en-US" sz="1500" dirty="0"/>
          </a:p>
        </p:txBody>
      </p:sp>
      <p:sp>
        <p:nvSpPr>
          <p:cNvPr id="34" name="step-text-247"/>
          <p:cNvSpPr txBox="1"/>
          <p:nvPr/>
        </p:nvSpPr>
        <p:spPr>
          <a:xfrm>
            <a:off x="685800" y="429768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Stage = Converted or Lost stage -&gt; status becomes Converted or Lost (if the setting is Yes).</a:t>
            </a:r>
            <a:endParaRPr lang="en-US" sz="1350" dirty="0"/>
          </a:p>
        </p:txBody>
      </p:sp>
      <p:sp>
        <p:nvSpPr>
          <p:cNvPr id="35" name="arrow-248"/>
          <p:cNvSpPr/>
          <p:nvPr/>
        </p:nvSpPr>
        <p:spPr>
          <a:xfrm>
            <a:off x="3063240" y="4594860"/>
            <a:ext cx="314858" cy="0"/>
          </a:xfrm>
          <a:prstGeom prst="line">
            <a:avLst/>
          </a:prstGeom>
          <a:noFill/>
          <a:ln w="22225">
            <a:solidFill>
              <a:srgbClr val="7F8C8D"/>
            </a:solidFill>
            <a:prstDash val="solid"/>
            <a:tailEnd type="triangle"/>
          </a:ln>
        </p:spPr>
      </p:sp>
      <p:sp>
        <p:nvSpPr>
          <p:cNvPr id="36" name="step-249"/>
          <p:cNvSpPr/>
          <p:nvPr/>
        </p:nvSpPr>
        <p:spPr>
          <a:xfrm>
            <a:off x="3423818" y="3657600"/>
            <a:ext cx="2468880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12700">
            <a:solidFill>
              <a:srgbClr val="D5DBE5"/>
            </a:solidFill>
            <a:prstDash val="solid"/>
          </a:ln>
        </p:spPr>
      </p:sp>
      <p:sp>
        <p:nvSpPr>
          <p:cNvPr id="37" name="step-num-bg-250"/>
          <p:cNvSpPr/>
          <p:nvPr/>
        </p:nvSpPr>
        <p:spPr>
          <a:xfrm>
            <a:off x="3560978" y="3794760"/>
            <a:ext cx="384048" cy="384048"/>
          </a:xfrm>
          <a:prstGeom prst="ellipse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</p:sp>
      <p:sp>
        <p:nvSpPr>
          <p:cNvPr id="38" name="step-num-251"/>
          <p:cNvSpPr txBox="1"/>
          <p:nvPr/>
        </p:nvSpPr>
        <p:spPr>
          <a:xfrm>
            <a:off x="3560978" y="3794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6</a:t>
            </a:r>
            <a:endParaRPr lang="en-US" sz="1400" dirty="0"/>
          </a:p>
        </p:txBody>
      </p:sp>
      <p:sp>
        <p:nvSpPr>
          <p:cNvPr id="39" name="step-title-252"/>
          <p:cNvSpPr txBox="1"/>
          <p:nvPr/>
        </p:nvSpPr>
        <p:spPr>
          <a:xfrm>
            <a:off x="4018178" y="3749040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No substages</a:t>
            </a:r>
            <a:endParaRPr lang="en-US" sz="1500" dirty="0"/>
          </a:p>
        </p:txBody>
      </p:sp>
      <p:sp>
        <p:nvSpPr>
          <p:cNvPr id="40" name="step-text-253"/>
          <p:cNvSpPr txBox="1"/>
          <p:nvPr/>
        </p:nvSpPr>
        <p:spPr>
          <a:xfrm>
            <a:off x="3560978" y="429768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A stage without active substages shows "no active substages - leave blank".</a:t>
            </a:r>
            <a:endParaRPr lang="en-US" sz="1350" dirty="0"/>
          </a:p>
        </p:txBody>
      </p:sp>
      <p:sp>
        <p:nvSpPr>
          <p:cNvPr id="41" name="arrow-254"/>
          <p:cNvSpPr/>
          <p:nvPr/>
        </p:nvSpPr>
        <p:spPr>
          <a:xfrm>
            <a:off x="5938418" y="4594860"/>
            <a:ext cx="314858" cy="0"/>
          </a:xfrm>
          <a:prstGeom prst="line">
            <a:avLst/>
          </a:prstGeom>
          <a:noFill/>
          <a:ln w="22225">
            <a:solidFill>
              <a:srgbClr val="7F8C8D"/>
            </a:solidFill>
            <a:prstDash val="solid"/>
            <a:tailEnd type="triangle"/>
          </a:ln>
        </p:spPr>
      </p:sp>
      <p:sp>
        <p:nvSpPr>
          <p:cNvPr id="42" name="step-255"/>
          <p:cNvSpPr/>
          <p:nvPr/>
        </p:nvSpPr>
        <p:spPr>
          <a:xfrm>
            <a:off x="6298997" y="3657600"/>
            <a:ext cx="2468880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12700">
            <a:solidFill>
              <a:srgbClr val="D5DBE5"/>
            </a:solidFill>
            <a:prstDash val="solid"/>
          </a:ln>
        </p:spPr>
      </p:sp>
      <p:sp>
        <p:nvSpPr>
          <p:cNvPr id="43" name="step-num-bg-256"/>
          <p:cNvSpPr/>
          <p:nvPr/>
        </p:nvSpPr>
        <p:spPr>
          <a:xfrm>
            <a:off x="6436157" y="3794760"/>
            <a:ext cx="384048" cy="384048"/>
          </a:xfrm>
          <a:prstGeom prst="ellipse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</p:sp>
      <p:sp>
        <p:nvSpPr>
          <p:cNvPr id="44" name="step-num-257"/>
          <p:cNvSpPr txBox="1"/>
          <p:nvPr/>
        </p:nvSpPr>
        <p:spPr>
          <a:xfrm>
            <a:off x="6436157" y="3794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7</a:t>
            </a:r>
            <a:endParaRPr lang="en-US" sz="1400" dirty="0"/>
          </a:p>
        </p:txBody>
      </p:sp>
      <p:sp>
        <p:nvSpPr>
          <p:cNvPr id="45" name="step-title-258"/>
          <p:cNvSpPr txBox="1"/>
          <p:nvPr/>
        </p:nvSpPr>
        <p:spPr>
          <a:xfrm>
            <a:off x="6893357" y="3749040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Admin edits</a:t>
            </a:r>
            <a:endParaRPr lang="en-US" sz="1500" dirty="0"/>
          </a:p>
        </p:txBody>
      </p:sp>
      <p:sp>
        <p:nvSpPr>
          <p:cNvPr id="46" name="step-text-259"/>
          <p:cNvSpPr txBox="1"/>
          <p:nvPr/>
        </p:nvSpPr>
        <p:spPr>
          <a:xfrm>
            <a:off x="6436157" y="429768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Changing Stage Master rebuilds every row's substage list automatically.</a:t>
            </a:r>
            <a:endParaRPr lang="en-US" sz="1350" dirty="0"/>
          </a:p>
        </p:txBody>
      </p:sp>
      <p:sp>
        <p:nvSpPr>
          <p:cNvPr id="47" name="arrow-260"/>
          <p:cNvSpPr/>
          <p:nvPr/>
        </p:nvSpPr>
        <p:spPr>
          <a:xfrm>
            <a:off x="8813597" y="4594860"/>
            <a:ext cx="314858" cy="0"/>
          </a:xfrm>
          <a:prstGeom prst="line">
            <a:avLst/>
          </a:prstGeom>
          <a:noFill/>
          <a:ln w="22225">
            <a:solidFill>
              <a:srgbClr val="7F8C8D"/>
            </a:solidFill>
            <a:prstDash val="solid"/>
            <a:tailEnd type="triangle"/>
          </a:ln>
        </p:spPr>
      </p:sp>
      <p:sp>
        <p:nvSpPr>
          <p:cNvPr id="48" name="step-261"/>
          <p:cNvSpPr/>
          <p:nvPr/>
        </p:nvSpPr>
        <p:spPr>
          <a:xfrm>
            <a:off x="9174175" y="3657600"/>
            <a:ext cx="2468880" cy="1874520"/>
          </a:xfrm>
          <a:prstGeom prst="roundRect">
            <a:avLst>
              <a:gd name="adj" fmla="val 3902"/>
            </a:avLst>
          </a:prstGeom>
          <a:solidFill>
            <a:srgbClr val="FDEBD0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49" name="step-num-bg-262"/>
          <p:cNvSpPr/>
          <p:nvPr/>
        </p:nvSpPr>
        <p:spPr>
          <a:xfrm>
            <a:off x="9311335" y="3794760"/>
            <a:ext cx="384048" cy="384048"/>
          </a:xfrm>
          <a:prstGeom prst="ellipse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50" name="step-num-263"/>
          <p:cNvSpPr txBox="1"/>
          <p:nvPr/>
        </p:nvSpPr>
        <p:spPr>
          <a:xfrm>
            <a:off x="9311335" y="3794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8</a:t>
            </a:r>
            <a:endParaRPr lang="en-US" sz="1400" dirty="0"/>
          </a:p>
        </p:txBody>
      </p:sp>
      <p:sp>
        <p:nvSpPr>
          <p:cNvPr id="51" name="step-title-264"/>
          <p:cNvSpPr txBox="1"/>
          <p:nvPr/>
        </p:nvSpPr>
        <p:spPr>
          <a:xfrm>
            <a:off x="9768535" y="3749040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After sorting</a:t>
            </a:r>
            <a:endParaRPr lang="en-US" sz="1500" dirty="0"/>
          </a:p>
        </p:txBody>
      </p:sp>
      <p:sp>
        <p:nvSpPr>
          <p:cNvPr id="52" name="step-text-265"/>
          <p:cNvSpPr txBox="1"/>
          <p:nvPr/>
        </p:nvSpPr>
        <p:spPr>
          <a:xfrm>
            <a:off x="9311335" y="429768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Lists are rebuilt shortly after; or use Lead CRM &gt; Refresh substage dropdowns.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8C8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Logging a follow-up (web app and sidebar)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CRM - System Guide  |  Key workflows</a:t>
            </a:r>
            <a:endParaRPr lang="en-US" sz="1000" dirty="0"/>
          </a:p>
        </p:txBody>
      </p:sp>
      <p:sp>
        <p:nvSpPr>
          <p:cNvPr id="4" name="step-266"/>
          <p:cNvSpPr/>
          <p:nvPr/>
        </p:nvSpPr>
        <p:spPr>
          <a:xfrm>
            <a:off x="548640" y="1280160"/>
            <a:ext cx="2468880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12700">
            <a:solidFill>
              <a:srgbClr val="D5DBE5"/>
            </a:solidFill>
            <a:prstDash val="solid"/>
          </a:ln>
        </p:spPr>
      </p:sp>
      <p:sp>
        <p:nvSpPr>
          <p:cNvPr id="5" name="step-num-bg-267"/>
          <p:cNvSpPr/>
          <p:nvPr/>
        </p:nvSpPr>
        <p:spPr>
          <a:xfrm>
            <a:off x="685800" y="1417320"/>
            <a:ext cx="384048" cy="384048"/>
          </a:xfrm>
          <a:prstGeom prst="ellipse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</p:sp>
      <p:sp>
        <p:nvSpPr>
          <p:cNvPr id="6" name="step-num-268"/>
          <p:cNvSpPr txBox="1"/>
          <p:nvPr/>
        </p:nvSpPr>
        <p:spPr>
          <a:xfrm>
            <a:off x="685800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step-title-269"/>
          <p:cNvSpPr txBox="1"/>
          <p:nvPr/>
        </p:nvSpPr>
        <p:spPr>
          <a:xfrm>
            <a:off x="1143000" y="1371600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Open the lead</a:t>
            </a:r>
            <a:endParaRPr lang="en-US" sz="1500" dirty="0"/>
          </a:p>
        </p:txBody>
      </p:sp>
      <p:sp>
        <p:nvSpPr>
          <p:cNvPr id="8" name="step-text-270"/>
          <p:cNvSpPr txBox="1"/>
          <p:nvPr/>
        </p:nvSpPr>
        <p:spPr>
          <a:xfrm>
            <a:off x="685800" y="192024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Counsellor: web app, tap the lead. Admin: select the row, Lead CRM &gt; Log Follow-Up.</a:t>
            </a:r>
            <a:endParaRPr lang="en-US" sz="1350" dirty="0"/>
          </a:p>
        </p:txBody>
      </p:sp>
      <p:sp>
        <p:nvSpPr>
          <p:cNvPr id="9" name="arrow-271"/>
          <p:cNvSpPr/>
          <p:nvPr/>
        </p:nvSpPr>
        <p:spPr>
          <a:xfrm>
            <a:off x="3063240" y="2217420"/>
            <a:ext cx="314858" cy="0"/>
          </a:xfrm>
          <a:prstGeom prst="line">
            <a:avLst/>
          </a:prstGeom>
          <a:noFill/>
          <a:ln w="22225">
            <a:solidFill>
              <a:srgbClr val="7F8C8D"/>
            </a:solidFill>
            <a:prstDash val="solid"/>
            <a:tailEnd type="triangle"/>
          </a:ln>
        </p:spPr>
      </p:sp>
      <p:sp>
        <p:nvSpPr>
          <p:cNvPr id="10" name="step-272"/>
          <p:cNvSpPr/>
          <p:nvPr/>
        </p:nvSpPr>
        <p:spPr>
          <a:xfrm>
            <a:off x="3423818" y="1280160"/>
            <a:ext cx="2468880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12700">
            <a:solidFill>
              <a:srgbClr val="D5DBE5"/>
            </a:solidFill>
            <a:prstDash val="solid"/>
          </a:ln>
        </p:spPr>
      </p:sp>
      <p:sp>
        <p:nvSpPr>
          <p:cNvPr id="11" name="step-num-bg-273"/>
          <p:cNvSpPr/>
          <p:nvPr/>
        </p:nvSpPr>
        <p:spPr>
          <a:xfrm>
            <a:off x="3560978" y="1417320"/>
            <a:ext cx="384048" cy="384048"/>
          </a:xfrm>
          <a:prstGeom prst="ellipse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</p:sp>
      <p:sp>
        <p:nvSpPr>
          <p:cNvPr id="12" name="step-num-274"/>
          <p:cNvSpPr txBox="1"/>
          <p:nvPr/>
        </p:nvSpPr>
        <p:spPr>
          <a:xfrm>
            <a:off x="3560978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3" name="step-title-275"/>
          <p:cNvSpPr txBox="1"/>
          <p:nvPr/>
        </p:nvSpPr>
        <p:spPr>
          <a:xfrm>
            <a:off x="4018178" y="1371600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Fill the form</a:t>
            </a:r>
            <a:endParaRPr lang="en-US" sz="1500" dirty="0"/>
          </a:p>
        </p:txBody>
      </p:sp>
      <p:sp>
        <p:nvSpPr>
          <p:cNvPr id="14" name="step-text-276"/>
          <p:cNvSpPr txBox="1"/>
          <p:nvPr/>
        </p:nvSpPr>
        <p:spPr>
          <a:xfrm>
            <a:off x="3560978" y="192024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Activity type, outcome, next follow-up date, remarks. Time is optional (now by default).</a:t>
            </a:r>
            <a:endParaRPr lang="en-US" sz="1350" dirty="0"/>
          </a:p>
        </p:txBody>
      </p:sp>
      <p:sp>
        <p:nvSpPr>
          <p:cNvPr id="15" name="arrow-277"/>
          <p:cNvSpPr/>
          <p:nvPr/>
        </p:nvSpPr>
        <p:spPr>
          <a:xfrm>
            <a:off x="5938418" y="2217420"/>
            <a:ext cx="314858" cy="0"/>
          </a:xfrm>
          <a:prstGeom prst="line">
            <a:avLst/>
          </a:prstGeom>
          <a:noFill/>
          <a:ln w="22225">
            <a:solidFill>
              <a:srgbClr val="7F8C8D"/>
            </a:solidFill>
            <a:prstDash val="solid"/>
            <a:tailEnd type="triangle"/>
          </a:ln>
        </p:spPr>
      </p:sp>
      <p:sp>
        <p:nvSpPr>
          <p:cNvPr id="16" name="step-278"/>
          <p:cNvSpPr/>
          <p:nvPr/>
        </p:nvSpPr>
        <p:spPr>
          <a:xfrm>
            <a:off x="6298997" y="1280160"/>
            <a:ext cx="2468880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12700">
            <a:solidFill>
              <a:srgbClr val="D5DBE5"/>
            </a:solidFill>
            <a:prstDash val="solid"/>
          </a:ln>
        </p:spPr>
      </p:sp>
      <p:sp>
        <p:nvSpPr>
          <p:cNvPr id="17" name="step-num-bg-279"/>
          <p:cNvSpPr/>
          <p:nvPr/>
        </p:nvSpPr>
        <p:spPr>
          <a:xfrm>
            <a:off x="6436157" y="1417320"/>
            <a:ext cx="384048" cy="384048"/>
          </a:xfrm>
          <a:prstGeom prst="ellipse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</p:sp>
      <p:sp>
        <p:nvSpPr>
          <p:cNvPr id="18" name="step-num-280"/>
          <p:cNvSpPr txBox="1"/>
          <p:nvPr/>
        </p:nvSpPr>
        <p:spPr>
          <a:xfrm>
            <a:off x="6436157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9" name="step-title-281"/>
          <p:cNvSpPr txBox="1"/>
          <p:nvPr/>
        </p:nvSpPr>
        <p:spPr>
          <a:xfrm>
            <a:off x="6893357" y="1371600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Checks</a:t>
            </a:r>
            <a:endParaRPr lang="en-US" sz="1500" dirty="0"/>
          </a:p>
        </p:txBody>
      </p:sp>
      <p:sp>
        <p:nvSpPr>
          <p:cNvPr id="20" name="step-text-282"/>
          <p:cNvSpPr txBox="1"/>
          <p:nvPr/>
        </p:nvSpPr>
        <p:spPr>
          <a:xfrm>
            <a:off x="6436157" y="192024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Required fields, next date not in the past (within 1 year), back-dating limit, valid choices.</a:t>
            </a:r>
            <a:endParaRPr lang="en-US" sz="1350" dirty="0"/>
          </a:p>
        </p:txBody>
      </p:sp>
      <p:sp>
        <p:nvSpPr>
          <p:cNvPr id="21" name="arrow-283"/>
          <p:cNvSpPr/>
          <p:nvPr/>
        </p:nvSpPr>
        <p:spPr>
          <a:xfrm>
            <a:off x="8813597" y="2217420"/>
            <a:ext cx="314858" cy="0"/>
          </a:xfrm>
          <a:prstGeom prst="line">
            <a:avLst/>
          </a:prstGeom>
          <a:noFill/>
          <a:ln w="22225">
            <a:solidFill>
              <a:srgbClr val="7F8C8D"/>
            </a:solidFill>
            <a:prstDash val="solid"/>
            <a:tailEnd type="triangle"/>
          </a:ln>
        </p:spPr>
      </p:sp>
      <p:sp>
        <p:nvSpPr>
          <p:cNvPr id="22" name="step-284"/>
          <p:cNvSpPr/>
          <p:nvPr/>
        </p:nvSpPr>
        <p:spPr>
          <a:xfrm>
            <a:off x="9174175" y="1280160"/>
            <a:ext cx="2468880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12700">
            <a:solidFill>
              <a:srgbClr val="D5DBE5"/>
            </a:solidFill>
            <a:prstDash val="solid"/>
          </a:ln>
        </p:spPr>
      </p:sp>
      <p:sp>
        <p:nvSpPr>
          <p:cNvPr id="23" name="step-num-bg-285"/>
          <p:cNvSpPr/>
          <p:nvPr/>
        </p:nvSpPr>
        <p:spPr>
          <a:xfrm>
            <a:off x="9311335" y="1417320"/>
            <a:ext cx="384048" cy="384048"/>
          </a:xfrm>
          <a:prstGeom prst="ellipse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</p:sp>
      <p:sp>
        <p:nvSpPr>
          <p:cNvPr id="24" name="step-num-286"/>
          <p:cNvSpPr txBox="1"/>
          <p:nvPr/>
        </p:nvSpPr>
        <p:spPr>
          <a:xfrm>
            <a:off x="9311335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5" name="step-title-287"/>
          <p:cNvSpPr txBox="1"/>
          <p:nvPr/>
        </p:nvSpPr>
        <p:spPr>
          <a:xfrm>
            <a:off x="9768535" y="1371600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No duplicates</a:t>
            </a:r>
            <a:endParaRPr lang="en-US" sz="1500" dirty="0"/>
          </a:p>
        </p:txBody>
      </p:sp>
      <p:sp>
        <p:nvSpPr>
          <p:cNvPr id="26" name="step-text-288"/>
          <p:cNvSpPr txBox="1"/>
          <p:nvPr/>
        </p:nvSpPr>
        <p:spPr>
          <a:xfrm>
            <a:off x="9311335" y="192024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Double clicks and identical saves within 2 minutes are refused.</a:t>
            </a:r>
            <a:endParaRPr lang="en-US" sz="1350" dirty="0"/>
          </a:p>
        </p:txBody>
      </p:sp>
      <p:sp>
        <p:nvSpPr>
          <p:cNvPr id="27" name="arrow-289"/>
          <p:cNvSpPr/>
          <p:nvPr/>
        </p:nvSpPr>
        <p:spPr>
          <a:xfrm>
            <a:off x="10408615" y="3154680"/>
            <a:ext cx="0" cy="251460"/>
          </a:xfrm>
          <a:prstGeom prst="line">
            <a:avLst/>
          </a:prstGeom>
          <a:noFill/>
          <a:ln w="22225">
            <a:solidFill>
              <a:srgbClr val="7F8C8D"/>
            </a:solidFill>
            <a:prstDash val="solid"/>
          </a:ln>
        </p:spPr>
      </p:sp>
      <p:sp>
        <p:nvSpPr>
          <p:cNvPr id="28" name="arrow-290"/>
          <p:cNvSpPr/>
          <p:nvPr/>
        </p:nvSpPr>
        <p:spPr>
          <a:xfrm>
            <a:off x="1783080" y="3406140"/>
            <a:ext cx="8625535" cy="0"/>
          </a:xfrm>
          <a:prstGeom prst="line">
            <a:avLst/>
          </a:prstGeom>
          <a:noFill/>
          <a:ln w="22225">
            <a:solidFill>
              <a:srgbClr val="7F8C8D"/>
            </a:solidFill>
            <a:prstDash val="solid"/>
          </a:ln>
        </p:spPr>
      </p:sp>
      <p:sp>
        <p:nvSpPr>
          <p:cNvPr id="29" name="arrow-291"/>
          <p:cNvSpPr/>
          <p:nvPr/>
        </p:nvSpPr>
        <p:spPr>
          <a:xfrm>
            <a:off x="1783080" y="3406140"/>
            <a:ext cx="0" cy="251460"/>
          </a:xfrm>
          <a:prstGeom prst="line">
            <a:avLst/>
          </a:prstGeom>
          <a:noFill/>
          <a:ln w="22225">
            <a:solidFill>
              <a:srgbClr val="7F8C8D"/>
            </a:solidFill>
            <a:prstDash val="solid"/>
            <a:tailEnd type="triangle"/>
          </a:ln>
        </p:spPr>
      </p:sp>
      <p:sp>
        <p:nvSpPr>
          <p:cNvPr id="30" name="step-292"/>
          <p:cNvSpPr/>
          <p:nvPr/>
        </p:nvSpPr>
        <p:spPr>
          <a:xfrm>
            <a:off x="548640" y="3657600"/>
            <a:ext cx="2468880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12700">
            <a:solidFill>
              <a:srgbClr val="D5DBE5"/>
            </a:solidFill>
            <a:prstDash val="solid"/>
          </a:ln>
        </p:spPr>
      </p:sp>
      <p:sp>
        <p:nvSpPr>
          <p:cNvPr id="31" name="step-num-bg-293"/>
          <p:cNvSpPr/>
          <p:nvPr/>
        </p:nvSpPr>
        <p:spPr>
          <a:xfrm>
            <a:off x="685800" y="3794760"/>
            <a:ext cx="384048" cy="384048"/>
          </a:xfrm>
          <a:prstGeom prst="ellipse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</p:sp>
      <p:sp>
        <p:nvSpPr>
          <p:cNvPr id="32" name="step-num-294"/>
          <p:cNvSpPr txBox="1"/>
          <p:nvPr/>
        </p:nvSpPr>
        <p:spPr>
          <a:xfrm>
            <a:off x="685800" y="3794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33" name="step-title-295"/>
          <p:cNvSpPr txBox="1"/>
          <p:nvPr/>
        </p:nvSpPr>
        <p:spPr>
          <a:xfrm>
            <a:off x="1143000" y="3749040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Log row</a:t>
            </a:r>
            <a:endParaRPr lang="en-US" sz="1500" dirty="0"/>
          </a:p>
        </p:txBody>
      </p:sp>
      <p:sp>
        <p:nvSpPr>
          <p:cNvPr id="34" name="step-text-296"/>
          <p:cNvSpPr txBox="1"/>
          <p:nvPr/>
        </p:nvSpPr>
        <p:spPr>
          <a:xfrm>
            <a:off x="685800" y="429768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A new Follow-Up Log row with its own Activity ID. Earlier rows are never changed.</a:t>
            </a:r>
            <a:endParaRPr lang="en-US" sz="1350" dirty="0"/>
          </a:p>
        </p:txBody>
      </p:sp>
      <p:sp>
        <p:nvSpPr>
          <p:cNvPr id="35" name="arrow-297"/>
          <p:cNvSpPr/>
          <p:nvPr/>
        </p:nvSpPr>
        <p:spPr>
          <a:xfrm>
            <a:off x="3063240" y="4594860"/>
            <a:ext cx="314858" cy="0"/>
          </a:xfrm>
          <a:prstGeom prst="line">
            <a:avLst/>
          </a:prstGeom>
          <a:noFill/>
          <a:ln w="22225">
            <a:solidFill>
              <a:srgbClr val="7F8C8D"/>
            </a:solidFill>
            <a:prstDash val="solid"/>
            <a:tailEnd type="triangle"/>
          </a:ln>
        </p:spPr>
      </p:sp>
      <p:sp>
        <p:nvSpPr>
          <p:cNvPr id="36" name="step-298"/>
          <p:cNvSpPr/>
          <p:nvPr/>
        </p:nvSpPr>
        <p:spPr>
          <a:xfrm>
            <a:off x="3423818" y="3657600"/>
            <a:ext cx="2468880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12700">
            <a:solidFill>
              <a:srgbClr val="D5DBE5"/>
            </a:solidFill>
            <a:prstDash val="solid"/>
          </a:ln>
        </p:spPr>
      </p:sp>
      <p:sp>
        <p:nvSpPr>
          <p:cNvPr id="37" name="step-num-bg-299"/>
          <p:cNvSpPr/>
          <p:nvPr/>
        </p:nvSpPr>
        <p:spPr>
          <a:xfrm>
            <a:off x="3560978" y="3794760"/>
            <a:ext cx="384048" cy="384048"/>
          </a:xfrm>
          <a:prstGeom prst="ellipse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</p:sp>
      <p:sp>
        <p:nvSpPr>
          <p:cNvPr id="38" name="step-num-300"/>
          <p:cNvSpPr txBox="1"/>
          <p:nvPr/>
        </p:nvSpPr>
        <p:spPr>
          <a:xfrm>
            <a:off x="3560978" y="3794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6</a:t>
            </a:r>
            <a:endParaRPr lang="en-US" sz="1400" dirty="0"/>
          </a:p>
        </p:txBody>
      </p:sp>
      <p:sp>
        <p:nvSpPr>
          <p:cNvPr id="39" name="step-title-301"/>
          <p:cNvSpPr txBox="1"/>
          <p:nvPr/>
        </p:nvSpPr>
        <p:spPr>
          <a:xfrm>
            <a:off x="4018178" y="3749040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Lead updated</a:t>
            </a:r>
            <a:endParaRPr lang="en-US" sz="1500" dirty="0"/>
          </a:p>
        </p:txBody>
      </p:sp>
      <p:sp>
        <p:nvSpPr>
          <p:cNvPr id="40" name="step-text-302"/>
          <p:cNvSpPr txBox="1"/>
          <p:nvPr/>
        </p:nvSpPr>
        <p:spPr>
          <a:xfrm>
            <a:off x="3560978" y="429768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Outcome, remarks, next date, last contact (Contact types), last follow-up date, user and time.</a:t>
            </a:r>
            <a:endParaRPr lang="en-US" sz="1350" dirty="0"/>
          </a:p>
        </p:txBody>
      </p:sp>
      <p:sp>
        <p:nvSpPr>
          <p:cNvPr id="41" name="arrow-303"/>
          <p:cNvSpPr/>
          <p:nvPr/>
        </p:nvSpPr>
        <p:spPr>
          <a:xfrm>
            <a:off x="5938418" y="4594860"/>
            <a:ext cx="314858" cy="0"/>
          </a:xfrm>
          <a:prstGeom prst="line">
            <a:avLst/>
          </a:prstGeom>
          <a:noFill/>
          <a:ln w="22225">
            <a:solidFill>
              <a:srgbClr val="7F8C8D"/>
            </a:solidFill>
            <a:prstDash val="solid"/>
            <a:tailEnd type="triangle"/>
          </a:ln>
        </p:spPr>
      </p:sp>
      <p:sp>
        <p:nvSpPr>
          <p:cNvPr id="42" name="step-304"/>
          <p:cNvSpPr/>
          <p:nvPr/>
        </p:nvSpPr>
        <p:spPr>
          <a:xfrm>
            <a:off x="6298997" y="3657600"/>
            <a:ext cx="2468880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12700">
            <a:solidFill>
              <a:srgbClr val="D5DBE5"/>
            </a:solidFill>
            <a:prstDash val="solid"/>
          </a:ln>
        </p:spPr>
      </p:sp>
      <p:sp>
        <p:nvSpPr>
          <p:cNvPr id="43" name="step-num-bg-305"/>
          <p:cNvSpPr/>
          <p:nvPr/>
        </p:nvSpPr>
        <p:spPr>
          <a:xfrm>
            <a:off x="6436157" y="3794760"/>
            <a:ext cx="384048" cy="384048"/>
          </a:xfrm>
          <a:prstGeom prst="ellipse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</p:sp>
      <p:sp>
        <p:nvSpPr>
          <p:cNvPr id="44" name="step-num-306"/>
          <p:cNvSpPr txBox="1"/>
          <p:nvPr/>
        </p:nvSpPr>
        <p:spPr>
          <a:xfrm>
            <a:off x="6436157" y="3794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7</a:t>
            </a:r>
            <a:endParaRPr lang="en-US" sz="1400" dirty="0"/>
          </a:p>
        </p:txBody>
      </p:sp>
      <p:sp>
        <p:nvSpPr>
          <p:cNvPr id="45" name="step-title-307"/>
          <p:cNvSpPr txBox="1"/>
          <p:nvPr/>
        </p:nvSpPr>
        <p:spPr>
          <a:xfrm>
            <a:off x="6893357" y="3749040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Closed lead</a:t>
            </a:r>
            <a:endParaRPr lang="en-US" sz="1500" dirty="0"/>
          </a:p>
        </p:txBody>
      </p:sp>
      <p:sp>
        <p:nvSpPr>
          <p:cNvPr id="46" name="step-text-308"/>
          <p:cNvSpPr txBox="1"/>
          <p:nvPr/>
        </p:nvSpPr>
        <p:spPr>
          <a:xfrm>
            <a:off x="6436157" y="429768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If status is Converted/Lost/Duplicate and no next date: the next date is cleared.</a:t>
            </a:r>
            <a:endParaRPr lang="en-US" sz="1350" dirty="0"/>
          </a:p>
        </p:txBody>
      </p:sp>
      <p:sp>
        <p:nvSpPr>
          <p:cNvPr id="47" name="arrow-309"/>
          <p:cNvSpPr/>
          <p:nvPr/>
        </p:nvSpPr>
        <p:spPr>
          <a:xfrm>
            <a:off x="8813597" y="4594860"/>
            <a:ext cx="314858" cy="0"/>
          </a:xfrm>
          <a:prstGeom prst="line">
            <a:avLst/>
          </a:prstGeom>
          <a:noFill/>
          <a:ln w="22225">
            <a:solidFill>
              <a:srgbClr val="7F8C8D"/>
            </a:solidFill>
            <a:prstDash val="solid"/>
            <a:tailEnd type="triangle"/>
          </a:ln>
        </p:spPr>
      </p:sp>
      <p:sp>
        <p:nvSpPr>
          <p:cNvPr id="48" name="step-310"/>
          <p:cNvSpPr/>
          <p:nvPr/>
        </p:nvSpPr>
        <p:spPr>
          <a:xfrm>
            <a:off x="9174175" y="3657600"/>
            <a:ext cx="2468880" cy="1874520"/>
          </a:xfrm>
          <a:prstGeom prst="roundRect">
            <a:avLst>
              <a:gd name="adj" fmla="val 3902"/>
            </a:avLst>
          </a:prstGeom>
          <a:solidFill>
            <a:srgbClr val="FDEBD0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49" name="step-num-bg-311"/>
          <p:cNvSpPr/>
          <p:nvPr/>
        </p:nvSpPr>
        <p:spPr>
          <a:xfrm>
            <a:off x="9311335" y="3794760"/>
            <a:ext cx="384048" cy="384048"/>
          </a:xfrm>
          <a:prstGeom prst="ellipse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50" name="step-num-312"/>
          <p:cNvSpPr txBox="1"/>
          <p:nvPr/>
        </p:nvSpPr>
        <p:spPr>
          <a:xfrm>
            <a:off x="9311335" y="3794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8</a:t>
            </a:r>
            <a:endParaRPr lang="en-US" sz="1400" dirty="0"/>
          </a:p>
        </p:txBody>
      </p:sp>
      <p:sp>
        <p:nvSpPr>
          <p:cNvPr id="51" name="step-title-313"/>
          <p:cNvSpPr txBox="1"/>
          <p:nvPr/>
        </p:nvSpPr>
        <p:spPr>
          <a:xfrm>
            <a:off x="9768535" y="3749040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Recorded</a:t>
            </a:r>
            <a:endParaRPr lang="en-US" sz="1500" dirty="0"/>
          </a:p>
        </p:txBody>
      </p:sp>
      <p:sp>
        <p:nvSpPr>
          <p:cNvPr id="52" name="step-text-314"/>
          <p:cNvSpPr txBox="1"/>
          <p:nvPr/>
        </p:nvSpPr>
        <p:spPr>
          <a:xfrm>
            <a:off x="9311335" y="429768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Web app saves also go to the Access Log ("Follow-Up Logged").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8C8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Reassigning a lead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CRM - System Guide  |  Key workflows</a:t>
            </a:r>
            <a:endParaRPr lang="en-US" sz="1000" dirty="0"/>
          </a:p>
        </p:txBody>
      </p:sp>
      <p:sp>
        <p:nvSpPr>
          <p:cNvPr id="4" name="step-315"/>
          <p:cNvSpPr/>
          <p:nvPr/>
        </p:nvSpPr>
        <p:spPr>
          <a:xfrm>
            <a:off x="548640" y="1280160"/>
            <a:ext cx="32918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rgbClr val="D5DBE5"/>
            </a:solidFill>
            <a:prstDash val="solid"/>
          </a:ln>
        </p:spPr>
      </p:sp>
      <p:sp>
        <p:nvSpPr>
          <p:cNvPr id="5" name="step-num-bg-316"/>
          <p:cNvSpPr/>
          <p:nvPr/>
        </p:nvSpPr>
        <p:spPr>
          <a:xfrm>
            <a:off x="685800" y="1417320"/>
            <a:ext cx="384048" cy="384048"/>
          </a:xfrm>
          <a:prstGeom prst="ellipse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</p:sp>
      <p:sp>
        <p:nvSpPr>
          <p:cNvPr id="6" name="step-num-317"/>
          <p:cNvSpPr txBox="1"/>
          <p:nvPr/>
        </p:nvSpPr>
        <p:spPr>
          <a:xfrm>
            <a:off x="685800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step-title-318"/>
          <p:cNvSpPr txBox="1"/>
          <p:nvPr/>
        </p:nvSpPr>
        <p:spPr>
          <a:xfrm>
            <a:off x="1143000" y="137160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Change owner</a:t>
            </a:r>
            <a:endParaRPr lang="en-US" sz="1500" dirty="0"/>
          </a:p>
        </p:txBody>
      </p:sp>
      <p:sp>
        <p:nvSpPr>
          <p:cNvPr id="8" name="step-text-319"/>
          <p:cNvSpPr txBox="1"/>
          <p:nvPr/>
        </p:nvSpPr>
        <p:spPr>
          <a:xfrm>
            <a:off x="685800" y="192024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An admin picks a new Assigned Counsellor (active counsellors only).</a:t>
            </a:r>
            <a:endParaRPr lang="en-US" sz="1350" dirty="0"/>
          </a:p>
        </p:txBody>
      </p:sp>
      <p:sp>
        <p:nvSpPr>
          <p:cNvPr id="9" name="arrow-320"/>
          <p:cNvSpPr/>
          <p:nvPr/>
        </p:nvSpPr>
        <p:spPr>
          <a:xfrm>
            <a:off x="3886200" y="2148840"/>
            <a:ext cx="518008" cy="0"/>
          </a:xfrm>
          <a:prstGeom prst="line">
            <a:avLst/>
          </a:prstGeom>
          <a:noFill/>
          <a:ln w="22225">
            <a:solidFill>
              <a:srgbClr val="7F8C8D"/>
            </a:solidFill>
            <a:prstDash val="solid"/>
            <a:tailEnd type="triangle"/>
          </a:ln>
        </p:spPr>
      </p:sp>
      <p:sp>
        <p:nvSpPr>
          <p:cNvPr id="10" name="step-321"/>
          <p:cNvSpPr/>
          <p:nvPr/>
        </p:nvSpPr>
        <p:spPr>
          <a:xfrm>
            <a:off x="4449928" y="1280160"/>
            <a:ext cx="32918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rgbClr val="D5DBE5"/>
            </a:solidFill>
            <a:prstDash val="solid"/>
          </a:ln>
        </p:spPr>
      </p:sp>
      <p:sp>
        <p:nvSpPr>
          <p:cNvPr id="11" name="step-num-bg-322"/>
          <p:cNvSpPr/>
          <p:nvPr/>
        </p:nvSpPr>
        <p:spPr>
          <a:xfrm>
            <a:off x="4587088" y="1417320"/>
            <a:ext cx="384048" cy="384048"/>
          </a:xfrm>
          <a:prstGeom prst="ellipse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</p:sp>
      <p:sp>
        <p:nvSpPr>
          <p:cNvPr id="12" name="step-num-323"/>
          <p:cNvSpPr txBox="1"/>
          <p:nvPr/>
        </p:nvSpPr>
        <p:spPr>
          <a:xfrm>
            <a:off x="4587088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3" name="step-title-324"/>
          <p:cNvSpPr txBox="1"/>
          <p:nvPr/>
        </p:nvSpPr>
        <p:spPr>
          <a:xfrm>
            <a:off x="5044288" y="137160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Previous owner</a:t>
            </a:r>
            <a:endParaRPr lang="en-US" sz="1500" dirty="0"/>
          </a:p>
        </p:txBody>
      </p:sp>
      <p:sp>
        <p:nvSpPr>
          <p:cNvPr id="14" name="step-text-325"/>
          <p:cNvSpPr txBox="1"/>
          <p:nvPr/>
        </p:nvSpPr>
        <p:spPr>
          <a:xfrm>
            <a:off x="4587088" y="192024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Previous Counsellor (AF) keeps the old name.</a:t>
            </a:r>
            <a:endParaRPr lang="en-US" sz="1350" dirty="0"/>
          </a:p>
        </p:txBody>
      </p:sp>
      <p:sp>
        <p:nvSpPr>
          <p:cNvPr id="15" name="arrow-326"/>
          <p:cNvSpPr/>
          <p:nvPr/>
        </p:nvSpPr>
        <p:spPr>
          <a:xfrm>
            <a:off x="7787488" y="2148840"/>
            <a:ext cx="518008" cy="0"/>
          </a:xfrm>
          <a:prstGeom prst="line">
            <a:avLst/>
          </a:prstGeom>
          <a:noFill/>
          <a:ln w="22225">
            <a:solidFill>
              <a:srgbClr val="7F8C8D"/>
            </a:solidFill>
            <a:prstDash val="solid"/>
            <a:tailEnd type="triangle"/>
          </a:ln>
        </p:spPr>
      </p:sp>
      <p:sp>
        <p:nvSpPr>
          <p:cNvPr id="16" name="step-327"/>
          <p:cNvSpPr/>
          <p:nvPr/>
        </p:nvSpPr>
        <p:spPr>
          <a:xfrm>
            <a:off x="8351215" y="1280160"/>
            <a:ext cx="32918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rgbClr val="D5DBE5"/>
            </a:solidFill>
            <a:prstDash val="solid"/>
          </a:ln>
        </p:spPr>
      </p:sp>
      <p:sp>
        <p:nvSpPr>
          <p:cNvPr id="17" name="step-num-bg-328"/>
          <p:cNvSpPr/>
          <p:nvPr/>
        </p:nvSpPr>
        <p:spPr>
          <a:xfrm>
            <a:off x="8488375" y="1417320"/>
            <a:ext cx="384048" cy="384048"/>
          </a:xfrm>
          <a:prstGeom prst="ellipse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</p:sp>
      <p:sp>
        <p:nvSpPr>
          <p:cNvPr id="18" name="step-num-329"/>
          <p:cNvSpPr txBox="1"/>
          <p:nvPr/>
        </p:nvSpPr>
        <p:spPr>
          <a:xfrm>
            <a:off x="8488375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9" name="step-title-330"/>
          <p:cNvSpPr txBox="1"/>
          <p:nvPr/>
        </p:nvSpPr>
        <p:spPr>
          <a:xfrm>
            <a:off x="8945575" y="137160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Date stamped</a:t>
            </a:r>
            <a:endParaRPr lang="en-US" sz="1500" dirty="0"/>
          </a:p>
        </p:txBody>
      </p:sp>
      <p:sp>
        <p:nvSpPr>
          <p:cNvPr id="20" name="step-text-331"/>
          <p:cNvSpPr txBox="1"/>
          <p:nvPr/>
        </p:nvSpPr>
        <p:spPr>
          <a:xfrm>
            <a:off x="8488375" y="192024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Lead Assigned Date (AE) gets the current date and time.</a:t>
            </a:r>
            <a:endParaRPr lang="en-US" sz="1350" dirty="0"/>
          </a:p>
        </p:txBody>
      </p:sp>
      <p:sp>
        <p:nvSpPr>
          <p:cNvPr id="21" name="arrow-332"/>
          <p:cNvSpPr/>
          <p:nvPr/>
        </p:nvSpPr>
        <p:spPr>
          <a:xfrm>
            <a:off x="9997135" y="3017520"/>
            <a:ext cx="0" cy="251460"/>
          </a:xfrm>
          <a:prstGeom prst="line">
            <a:avLst/>
          </a:prstGeom>
          <a:noFill/>
          <a:ln w="22225">
            <a:solidFill>
              <a:srgbClr val="7F8C8D"/>
            </a:solidFill>
            <a:prstDash val="solid"/>
          </a:ln>
        </p:spPr>
      </p:sp>
      <p:sp>
        <p:nvSpPr>
          <p:cNvPr id="22" name="arrow-333"/>
          <p:cNvSpPr/>
          <p:nvPr/>
        </p:nvSpPr>
        <p:spPr>
          <a:xfrm>
            <a:off x="2194560" y="3268980"/>
            <a:ext cx="7802575" cy="0"/>
          </a:xfrm>
          <a:prstGeom prst="line">
            <a:avLst/>
          </a:prstGeom>
          <a:noFill/>
          <a:ln w="22225">
            <a:solidFill>
              <a:srgbClr val="7F8C8D"/>
            </a:solidFill>
            <a:prstDash val="solid"/>
          </a:ln>
        </p:spPr>
      </p:sp>
      <p:sp>
        <p:nvSpPr>
          <p:cNvPr id="23" name="arrow-334"/>
          <p:cNvSpPr/>
          <p:nvPr/>
        </p:nvSpPr>
        <p:spPr>
          <a:xfrm>
            <a:off x="2194560" y="3268980"/>
            <a:ext cx="0" cy="251460"/>
          </a:xfrm>
          <a:prstGeom prst="line">
            <a:avLst/>
          </a:prstGeom>
          <a:noFill/>
          <a:ln w="22225">
            <a:solidFill>
              <a:srgbClr val="7F8C8D"/>
            </a:solidFill>
            <a:prstDash val="solid"/>
            <a:tailEnd type="triangle"/>
          </a:ln>
        </p:spPr>
      </p:sp>
      <p:sp>
        <p:nvSpPr>
          <p:cNvPr id="24" name="step-335"/>
          <p:cNvSpPr/>
          <p:nvPr/>
        </p:nvSpPr>
        <p:spPr>
          <a:xfrm>
            <a:off x="548640" y="3520440"/>
            <a:ext cx="32918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rgbClr val="D5DBE5"/>
            </a:solidFill>
            <a:prstDash val="solid"/>
          </a:ln>
        </p:spPr>
      </p:sp>
      <p:sp>
        <p:nvSpPr>
          <p:cNvPr id="25" name="step-num-bg-336"/>
          <p:cNvSpPr/>
          <p:nvPr/>
        </p:nvSpPr>
        <p:spPr>
          <a:xfrm>
            <a:off x="685800" y="3657600"/>
            <a:ext cx="384048" cy="384048"/>
          </a:xfrm>
          <a:prstGeom prst="ellipse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</p:sp>
      <p:sp>
        <p:nvSpPr>
          <p:cNvPr id="26" name="step-num-337"/>
          <p:cNvSpPr txBox="1"/>
          <p:nvPr/>
        </p:nvSpPr>
        <p:spPr>
          <a:xfrm>
            <a:off x="685800" y="3657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7" name="step-title-338"/>
          <p:cNvSpPr txBox="1"/>
          <p:nvPr/>
        </p:nvSpPr>
        <p:spPr>
          <a:xfrm>
            <a:off x="1143000" y="361188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Audit row</a:t>
            </a:r>
            <a:endParaRPr lang="en-US" sz="1500" dirty="0"/>
          </a:p>
        </p:txBody>
      </p:sp>
      <p:sp>
        <p:nvSpPr>
          <p:cNvPr id="28" name="step-text-339"/>
          <p:cNvSpPr txBox="1"/>
          <p:nvPr/>
        </p:nvSpPr>
        <p:spPr>
          <a:xfrm>
            <a:off x="685800" y="416052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Follow-Up Log: "Lead Assigned" (Record Update), old -&gt; new, remark "Reassigned".</a:t>
            </a:r>
            <a:endParaRPr lang="en-US" sz="1350" dirty="0"/>
          </a:p>
        </p:txBody>
      </p:sp>
      <p:sp>
        <p:nvSpPr>
          <p:cNvPr id="29" name="arrow-340"/>
          <p:cNvSpPr/>
          <p:nvPr/>
        </p:nvSpPr>
        <p:spPr>
          <a:xfrm>
            <a:off x="3886200" y="4389120"/>
            <a:ext cx="518008" cy="0"/>
          </a:xfrm>
          <a:prstGeom prst="line">
            <a:avLst/>
          </a:prstGeom>
          <a:noFill/>
          <a:ln w="22225">
            <a:solidFill>
              <a:srgbClr val="7F8C8D"/>
            </a:solidFill>
            <a:prstDash val="solid"/>
            <a:tailEnd type="triangle"/>
          </a:ln>
        </p:spPr>
      </p:sp>
      <p:sp>
        <p:nvSpPr>
          <p:cNvPr id="30" name="step-341"/>
          <p:cNvSpPr/>
          <p:nvPr/>
        </p:nvSpPr>
        <p:spPr>
          <a:xfrm>
            <a:off x="4449928" y="3520440"/>
            <a:ext cx="32918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rgbClr val="D5DBE5"/>
            </a:solidFill>
            <a:prstDash val="solid"/>
          </a:ln>
        </p:spPr>
      </p:sp>
      <p:sp>
        <p:nvSpPr>
          <p:cNvPr id="31" name="step-num-bg-342"/>
          <p:cNvSpPr/>
          <p:nvPr/>
        </p:nvSpPr>
        <p:spPr>
          <a:xfrm>
            <a:off x="4587088" y="3657600"/>
            <a:ext cx="384048" cy="384048"/>
          </a:xfrm>
          <a:prstGeom prst="ellipse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</p:sp>
      <p:sp>
        <p:nvSpPr>
          <p:cNvPr id="32" name="step-num-343"/>
          <p:cNvSpPr txBox="1"/>
          <p:nvPr/>
        </p:nvSpPr>
        <p:spPr>
          <a:xfrm>
            <a:off x="4587088" y="3657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33" name="step-title-344"/>
          <p:cNvSpPr txBox="1"/>
          <p:nvPr/>
        </p:nvSpPr>
        <p:spPr>
          <a:xfrm>
            <a:off x="5044288" y="361188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Web app</a:t>
            </a:r>
            <a:endParaRPr lang="en-US" sz="1500" dirty="0"/>
          </a:p>
        </p:txBody>
      </p:sp>
      <p:sp>
        <p:nvSpPr>
          <p:cNvPr id="34" name="step-text-345"/>
          <p:cNvSpPr txBox="1"/>
          <p:nvPr/>
        </p:nvSpPr>
        <p:spPr>
          <a:xfrm>
            <a:off x="4587088" y="416052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The lead leaves the old counsellor's list and appears in the new one's on refresh.</a:t>
            </a:r>
            <a:endParaRPr lang="en-US" sz="1350" dirty="0"/>
          </a:p>
        </p:txBody>
      </p:sp>
      <p:sp>
        <p:nvSpPr>
          <p:cNvPr id="35" name="arrow-346"/>
          <p:cNvSpPr/>
          <p:nvPr/>
        </p:nvSpPr>
        <p:spPr>
          <a:xfrm>
            <a:off x="7787488" y="4389120"/>
            <a:ext cx="518008" cy="0"/>
          </a:xfrm>
          <a:prstGeom prst="line">
            <a:avLst/>
          </a:prstGeom>
          <a:noFill/>
          <a:ln w="22225">
            <a:solidFill>
              <a:srgbClr val="7F8C8D"/>
            </a:solidFill>
            <a:prstDash val="solid"/>
            <a:tailEnd type="triangle"/>
          </a:ln>
        </p:spPr>
      </p:sp>
      <p:sp>
        <p:nvSpPr>
          <p:cNvPr id="36" name="step-347"/>
          <p:cNvSpPr/>
          <p:nvPr/>
        </p:nvSpPr>
        <p:spPr>
          <a:xfrm>
            <a:off x="8351215" y="3520440"/>
            <a:ext cx="3291840" cy="1737360"/>
          </a:xfrm>
          <a:prstGeom prst="roundRect">
            <a:avLst>
              <a:gd name="adj" fmla="val 4211"/>
            </a:avLst>
          </a:prstGeom>
          <a:solidFill>
            <a:srgbClr val="FDEBD0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37" name="step-num-bg-348"/>
          <p:cNvSpPr/>
          <p:nvPr/>
        </p:nvSpPr>
        <p:spPr>
          <a:xfrm>
            <a:off x="8488375" y="3657600"/>
            <a:ext cx="384048" cy="384048"/>
          </a:xfrm>
          <a:prstGeom prst="ellipse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38" name="step-num-349"/>
          <p:cNvSpPr txBox="1"/>
          <p:nvPr/>
        </p:nvSpPr>
        <p:spPr>
          <a:xfrm>
            <a:off x="8488375" y="3657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6</a:t>
            </a:r>
            <a:endParaRPr lang="en-US" sz="1400" dirty="0"/>
          </a:p>
        </p:txBody>
      </p:sp>
      <p:sp>
        <p:nvSpPr>
          <p:cNvPr id="39" name="step-title-350"/>
          <p:cNvSpPr txBox="1"/>
          <p:nvPr/>
        </p:nvSpPr>
        <p:spPr>
          <a:xfrm>
            <a:off x="8945575" y="361188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Bulk changes</a:t>
            </a:r>
            <a:endParaRPr lang="en-US" sz="1500" dirty="0"/>
          </a:p>
        </p:txBody>
      </p:sp>
      <p:sp>
        <p:nvSpPr>
          <p:cNvPr id="40" name="step-text-351"/>
          <p:cNvSpPr txBox="1"/>
          <p:nvPr/>
        </p:nvSpPr>
        <p:spPr>
          <a:xfrm>
            <a:off x="8488375" y="416052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Pasting many owners: each row gets its own audit row (old value from the hidden snapshot).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8C8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Adding and removing a custom field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CRM - System Guide  |  Key workflows</a:t>
            </a:r>
            <a:endParaRPr lang="en-US" sz="1000" dirty="0"/>
          </a:p>
        </p:txBody>
      </p:sp>
      <p:sp>
        <p:nvSpPr>
          <p:cNvPr id="4" name="step-352"/>
          <p:cNvSpPr/>
          <p:nvPr/>
        </p:nvSpPr>
        <p:spPr>
          <a:xfrm>
            <a:off x="548640" y="1280160"/>
            <a:ext cx="32918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rgbClr val="D5DBE5"/>
            </a:solidFill>
            <a:prstDash val="solid"/>
          </a:ln>
        </p:spPr>
      </p:sp>
      <p:sp>
        <p:nvSpPr>
          <p:cNvPr id="5" name="step-num-bg-353"/>
          <p:cNvSpPr/>
          <p:nvPr/>
        </p:nvSpPr>
        <p:spPr>
          <a:xfrm>
            <a:off x="685800" y="1417320"/>
            <a:ext cx="384048" cy="384048"/>
          </a:xfrm>
          <a:prstGeom prst="ellipse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</p:sp>
      <p:sp>
        <p:nvSpPr>
          <p:cNvPr id="6" name="step-num-354"/>
          <p:cNvSpPr txBox="1"/>
          <p:nvPr/>
        </p:nvSpPr>
        <p:spPr>
          <a:xfrm>
            <a:off x="685800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step-title-355"/>
          <p:cNvSpPr txBox="1"/>
          <p:nvPr/>
        </p:nvSpPr>
        <p:spPr>
          <a:xfrm>
            <a:off x="1143000" y="137160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Add</a:t>
            </a:r>
            <a:endParaRPr lang="en-US" sz="1500" dirty="0"/>
          </a:p>
        </p:txBody>
      </p:sp>
      <p:sp>
        <p:nvSpPr>
          <p:cNvPr id="8" name="step-text-356"/>
          <p:cNvSpPr txBox="1"/>
          <p:nvPr/>
        </p:nvSpPr>
        <p:spPr>
          <a:xfrm>
            <a:off x="685800" y="192024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Admin: Lead CRM &gt; Add custom field, type a name (max 60 characters, not an existing column name).</a:t>
            </a:r>
            <a:endParaRPr lang="en-US" sz="1350" dirty="0"/>
          </a:p>
        </p:txBody>
      </p:sp>
      <p:sp>
        <p:nvSpPr>
          <p:cNvPr id="9" name="arrow-357"/>
          <p:cNvSpPr/>
          <p:nvPr/>
        </p:nvSpPr>
        <p:spPr>
          <a:xfrm>
            <a:off x="3886200" y="2148840"/>
            <a:ext cx="518008" cy="0"/>
          </a:xfrm>
          <a:prstGeom prst="line">
            <a:avLst/>
          </a:prstGeom>
          <a:noFill/>
          <a:ln w="22225">
            <a:solidFill>
              <a:srgbClr val="7F8C8D"/>
            </a:solidFill>
            <a:prstDash val="solid"/>
            <a:tailEnd type="triangle"/>
          </a:ln>
        </p:spPr>
      </p:sp>
      <p:sp>
        <p:nvSpPr>
          <p:cNvPr id="10" name="step-358"/>
          <p:cNvSpPr/>
          <p:nvPr/>
        </p:nvSpPr>
        <p:spPr>
          <a:xfrm>
            <a:off x="4449928" y="1280160"/>
            <a:ext cx="32918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rgbClr val="D5DBE5"/>
            </a:solidFill>
            <a:prstDash val="solid"/>
          </a:ln>
        </p:spPr>
      </p:sp>
      <p:sp>
        <p:nvSpPr>
          <p:cNvPr id="11" name="step-num-bg-359"/>
          <p:cNvSpPr/>
          <p:nvPr/>
        </p:nvSpPr>
        <p:spPr>
          <a:xfrm>
            <a:off x="4587088" y="1417320"/>
            <a:ext cx="384048" cy="384048"/>
          </a:xfrm>
          <a:prstGeom prst="ellipse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</p:sp>
      <p:sp>
        <p:nvSpPr>
          <p:cNvPr id="12" name="step-num-360"/>
          <p:cNvSpPr txBox="1"/>
          <p:nvPr/>
        </p:nvSpPr>
        <p:spPr>
          <a:xfrm>
            <a:off x="4587088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3" name="step-title-361"/>
          <p:cNvSpPr txBox="1"/>
          <p:nvPr/>
        </p:nvSpPr>
        <p:spPr>
          <a:xfrm>
            <a:off x="5044288" y="137160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Slot chosen</a:t>
            </a:r>
            <a:endParaRPr lang="en-US" sz="1500" dirty="0"/>
          </a:p>
        </p:txBody>
      </p:sp>
      <p:sp>
        <p:nvSpPr>
          <p:cNvPr id="14" name="step-text-362"/>
          <p:cNvSpPr txBox="1"/>
          <p:nvPr/>
        </p:nvSpPr>
        <p:spPr>
          <a:xfrm>
            <a:off x="4587088" y="192024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Next free slot, preferring an empty column. If only used slots are free, you are asked first.</a:t>
            </a:r>
            <a:endParaRPr lang="en-US" sz="1350" dirty="0"/>
          </a:p>
        </p:txBody>
      </p:sp>
      <p:sp>
        <p:nvSpPr>
          <p:cNvPr id="15" name="arrow-363"/>
          <p:cNvSpPr/>
          <p:nvPr/>
        </p:nvSpPr>
        <p:spPr>
          <a:xfrm>
            <a:off x="7787488" y="2148840"/>
            <a:ext cx="518008" cy="0"/>
          </a:xfrm>
          <a:prstGeom prst="line">
            <a:avLst/>
          </a:prstGeom>
          <a:noFill/>
          <a:ln w="22225">
            <a:solidFill>
              <a:srgbClr val="7F8C8D"/>
            </a:solidFill>
            <a:prstDash val="solid"/>
            <a:tailEnd type="triangle"/>
          </a:ln>
        </p:spPr>
      </p:sp>
      <p:sp>
        <p:nvSpPr>
          <p:cNvPr id="16" name="step-364"/>
          <p:cNvSpPr/>
          <p:nvPr/>
        </p:nvSpPr>
        <p:spPr>
          <a:xfrm>
            <a:off x="8351215" y="1280160"/>
            <a:ext cx="32918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rgbClr val="D5DBE5"/>
            </a:solidFill>
            <a:prstDash val="solid"/>
          </a:ln>
        </p:spPr>
      </p:sp>
      <p:sp>
        <p:nvSpPr>
          <p:cNvPr id="17" name="step-num-bg-365"/>
          <p:cNvSpPr/>
          <p:nvPr/>
        </p:nvSpPr>
        <p:spPr>
          <a:xfrm>
            <a:off x="8488375" y="1417320"/>
            <a:ext cx="384048" cy="384048"/>
          </a:xfrm>
          <a:prstGeom prst="ellipse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</p:sp>
      <p:sp>
        <p:nvSpPr>
          <p:cNvPr id="18" name="step-num-366"/>
          <p:cNvSpPr txBox="1"/>
          <p:nvPr/>
        </p:nvSpPr>
        <p:spPr>
          <a:xfrm>
            <a:off x="8488375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9" name="step-title-367"/>
          <p:cNvSpPr txBox="1"/>
          <p:nvPr/>
        </p:nvSpPr>
        <p:spPr>
          <a:xfrm>
            <a:off x="8945575" y="137160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Shown</a:t>
            </a:r>
            <a:endParaRPr lang="en-US" sz="1500" dirty="0"/>
          </a:p>
        </p:txBody>
      </p:sp>
      <p:sp>
        <p:nvSpPr>
          <p:cNvPr id="20" name="step-text-368"/>
          <p:cNvSpPr txBox="1"/>
          <p:nvPr/>
        </p:nvSpPr>
        <p:spPr>
          <a:xfrm>
            <a:off x="8488375" y="192024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Slot set Active = Yes, header = the name, column shown and selected.</a:t>
            </a:r>
            <a:endParaRPr lang="en-US" sz="1350" dirty="0"/>
          </a:p>
        </p:txBody>
      </p:sp>
      <p:sp>
        <p:nvSpPr>
          <p:cNvPr id="21" name="arrow-369"/>
          <p:cNvSpPr/>
          <p:nvPr/>
        </p:nvSpPr>
        <p:spPr>
          <a:xfrm>
            <a:off x="9997135" y="3017520"/>
            <a:ext cx="0" cy="251460"/>
          </a:xfrm>
          <a:prstGeom prst="line">
            <a:avLst/>
          </a:prstGeom>
          <a:noFill/>
          <a:ln w="22225">
            <a:solidFill>
              <a:srgbClr val="7F8C8D"/>
            </a:solidFill>
            <a:prstDash val="solid"/>
          </a:ln>
        </p:spPr>
      </p:sp>
      <p:sp>
        <p:nvSpPr>
          <p:cNvPr id="22" name="arrow-370"/>
          <p:cNvSpPr/>
          <p:nvPr/>
        </p:nvSpPr>
        <p:spPr>
          <a:xfrm>
            <a:off x="2194560" y="3268980"/>
            <a:ext cx="7802575" cy="0"/>
          </a:xfrm>
          <a:prstGeom prst="line">
            <a:avLst/>
          </a:prstGeom>
          <a:noFill/>
          <a:ln w="22225">
            <a:solidFill>
              <a:srgbClr val="7F8C8D"/>
            </a:solidFill>
            <a:prstDash val="solid"/>
          </a:ln>
        </p:spPr>
      </p:sp>
      <p:sp>
        <p:nvSpPr>
          <p:cNvPr id="23" name="arrow-371"/>
          <p:cNvSpPr/>
          <p:nvPr/>
        </p:nvSpPr>
        <p:spPr>
          <a:xfrm>
            <a:off x="2194560" y="3268980"/>
            <a:ext cx="0" cy="251460"/>
          </a:xfrm>
          <a:prstGeom prst="line">
            <a:avLst/>
          </a:prstGeom>
          <a:noFill/>
          <a:ln w="22225">
            <a:solidFill>
              <a:srgbClr val="7F8C8D"/>
            </a:solidFill>
            <a:prstDash val="solid"/>
            <a:tailEnd type="triangle"/>
          </a:ln>
        </p:spPr>
      </p:sp>
      <p:sp>
        <p:nvSpPr>
          <p:cNvPr id="24" name="step-372"/>
          <p:cNvSpPr/>
          <p:nvPr/>
        </p:nvSpPr>
        <p:spPr>
          <a:xfrm>
            <a:off x="548640" y="3520440"/>
            <a:ext cx="32918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rgbClr val="D5DBE5"/>
            </a:solidFill>
            <a:prstDash val="solid"/>
          </a:ln>
        </p:spPr>
      </p:sp>
      <p:sp>
        <p:nvSpPr>
          <p:cNvPr id="25" name="step-num-bg-373"/>
          <p:cNvSpPr/>
          <p:nvPr/>
        </p:nvSpPr>
        <p:spPr>
          <a:xfrm>
            <a:off x="685800" y="3657600"/>
            <a:ext cx="384048" cy="384048"/>
          </a:xfrm>
          <a:prstGeom prst="ellipse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</p:sp>
      <p:sp>
        <p:nvSpPr>
          <p:cNvPr id="26" name="step-num-374"/>
          <p:cNvSpPr txBox="1"/>
          <p:nvPr/>
        </p:nvSpPr>
        <p:spPr>
          <a:xfrm>
            <a:off x="685800" y="3657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7" name="step-title-375"/>
          <p:cNvSpPr txBox="1"/>
          <p:nvPr/>
        </p:nvSpPr>
        <p:spPr>
          <a:xfrm>
            <a:off x="1143000" y="361188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Remove</a:t>
            </a:r>
            <a:endParaRPr lang="en-US" sz="1500" dirty="0"/>
          </a:p>
        </p:txBody>
      </p:sp>
      <p:sp>
        <p:nvSpPr>
          <p:cNvPr id="28" name="step-text-376"/>
          <p:cNvSpPr txBox="1"/>
          <p:nvPr/>
        </p:nvSpPr>
        <p:spPr>
          <a:xfrm>
            <a:off x="685800" y="416052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Lead CRM &gt; Remove custom field, enter the number or name.</a:t>
            </a:r>
            <a:endParaRPr lang="en-US" sz="1350" dirty="0"/>
          </a:p>
        </p:txBody>
      </p:sp>
      <p:sp>
        <p:nvSpPr>
          <p:cNvPr id="29" name="arrow-377"/>
          <p:cNvSpPr/>
          <p:nvPr/>
        </p:nvSpPr>
        <p:spPr>
          <a:xfrm>
            <a:off x="3886200" y="4389120"/>
            <a:ext cx="518008" cy="0"/>
          </a:xfrm>
          <a:prstGeom prst="line">
            <a:avLst/>
          </a:prstGeom>
          <a:noFill/>
          <a:ln w="22225">
            <a:solidFill>
              <a:srgbClr val="7F8C8D"/>
            </a:solidFill>
            <a:prstDash val="solid"/>
            <a:tailEnd type="triangle"/>
          </a:ln>
        </p:spPr>
      </p:sp>
      <p:sp>
        <p:nvSpPr>
          <p:cNvPr id="30" name="step-378"/>
          <p:cNvSpPr/>
          <p:nvPr/>
        </p:nvSpPr>
        <p:spPr>
          <a:xfrm>
            <a:off x="4449928" y="3520440"/>
            <a:ext cx="32918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rgbClr val="D5DBE5"/>
            </a:solidFill>
            <a:prstDash val="solid"/>
          </a:ln>
        </p:spPr>
      </p:sp>
      <p:sp>
        <p:nvSpPr>
          <p:cNvPr id="31" name="step-num-bg-379"/>
          <p:cNvSpPr/>
          <p:nvPr/>
        </p:nvSpPr>
        <p:spPr>
          <a:xfrm>
            <a:off x="4587088" y="3657600"/>
            <a:ext cx="384048" cy="384048"/>
          </a:xfrm>
          <a:prstGeom prst="ellipse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</p:sp>
      <p:sp>
        <p:nvSpPr>
          <p:cNvPr id="32" name="step-num-380"/>
          <p:cNvSpPr txBox="1"/>
          <p:nvPr/>
        </p:nvSpPr>
        <p:spPr>
          <a:xfrm>
            <a:off x="4587088" y="3657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33" name="step-title-381"/>
          <p:cNvSpPr txBox="1"/>
          <p:nvPr/>
        </p:nvSpPr>
        <p:spPr>
          <a:xfrm>
            <a:off x="5044288" y="361188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Data warning</a:t>
            </a:r>
            <a:endParaRPr lang="en-US" sz="1500" dirty="0"/>
          </a:p>
        </p:txBody>
      </p:sp>
      <p:sp>
        <p:nvSpPr>
          <p:cNvPr id="34" name="step-text-382"/>
          <p:cNvSpPr txBox="1"/>
          <p:nvPr/>
        </p:nvSpPr>
        <p:spPr>
          <a:xfrm>
            <a:off x="4587088" y="416052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If the column has data: you see how many values and must confirm.</a:t>
            </a:r>
            <a:endParaRPr lang="en-US" sz="1350" dirty="0"/>
          </a:p>
        </p:txBody>
      </p:sp>
      <p:sp>
        <p:nvSpPr>
          <p:cNvPr id="35" name="arrow-383"/>
          <p:cNvSpPr/>
          <p:nvPr/>
        </p:nvSpPr>
        <p:spPr>
          <a:xfrm>
            <a:off x="7787488" y="4389120"/>
            <a:ext cx="518008" cy="0"/>
          </a:xfrm>
          <a:prstGeom prst="line">
            <a:avLst/>
          </a:prstGeom>
          <a:noFill/>
          <a:ln w="22225">
            <a:solidFill>
              <a:srgbClr val="7F8C8D"/>
            </a:solidFill>
            <a:prstDash val="solid"/>
            <a:tailEnd type="triangle"/>
          </a:ln>
        </p:spPr>
      </p:sp>
      <p:sp>
        <p:nvSpPr>
          <p:cNvPr id="36" name="step-384"/>
          <p:cNvSpPr/>
          <p:nvPr/>
        </p:nvSpPr>
        <p:spPr>
          <a:xfrm>
            <a:off x="8351215" y="3520440"/>
            <a:ext cx="3291840" cy="1737360"/>
          </a:xfrm>
          <a:prstGeom prst="roundRect">
            <a:avLst>
              <a:gd name="adj" fmla="val 4211"/>
            </a:avLst>
          </a:prstGeom>
          <a:solidFill>
            <a:srgbClr val="FDEBD0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37" name="step-num-bg-385"/>
          <p:cNvSpPr/>
          <p:nvPr/>
        </p:nvSpPr>
        <p:spPr>
          <a:xfrm>
            <a:off x="8488375" y="3657600"/>
            <a:ext cx="384048" cy="384048"/>
          </a:xfrm>
          <a:prstGeom prst="ellipse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38" name="step-num-386"/>
          <p:cNvSpPr txBox="1"/>
          <p:nvPr/>
        </p:nvSpPr>
        <p:spPr>
          <a:xfrm>
            <a:off x="8488375" y="3657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6</a:t>
            </a:r>
            <a:endParaRPr lang="en-US" sz="1400" dirty="0"/>
          </a:p>
        </p:txBody>
      </p:sp>
      <p:sp>
        <p:nvSpPr>
          <p:cNvPr id="39" name="step-title-387"/>
          <p:cNvSpPr txBox="1"/>
          <p:nvPr/>
        </p:nvSpPr>
        <p:spPr>
          <a:xfrm>
            <a:off x="8945575" y="361188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Hidden, kept</a:t>
            </a:r>
            <a:endParaRPr lang="en-US" sz="1500" dirty="0"/>
          </a:p>
        </p:txBody>
      </p:sp>
      <p:sp>
        <p:nvSpPr>
          <p:cNvPr id="40" name="step-text-388"/>
          <p:cNvSpPr txBox="1"/>
          <p:nvPr/>
        </p:nvSpPr>
        <p:spPr>
          <a:xfrm>
            <a:off x="8488375" y="416052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Column hidden, Active = No. Data stays and returns if the slot is used again.</a:t>
            </a:r>
            <a:endParaRPr lang="en-US" sz="1350" dirty="0"/>
          </a:p>
        </p:txBody>
      </p:sp>
      <p:sp>
        <p:nvSpPr>
          <p:cNvPr id="41" name="note-389"/>
          <p:cNvSpPr txBox="1"/>
          <p:nvPr/>
        </p:nvSpPr>
        <p:spPr>
          <a:xfrm>
            <a:off x="548640" y="58521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6573"/>
                </a:solidFill>
              </a:rPr>
              <a:t>Rename by editing Field Name in Lists &amp; Settings or the header in row 1; the other updates itself. All 10 in use = remove one first.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8C8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Adding a stage, substage or counsellor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CRM - System Guide  |  Key workflows</a:t>
            </a:r>
            <a:endParaRPr lang="en-US" sz="1000" dirty="0"/>
          </a:p>
        </p:txBody>
      </p:sp>
      <p:sp>
        <p:nvSpPr>
          <p:cNvPr id="4" name="card-390"/>
          <p:cNvSpPr/>
          <p:nvPr/>
        </p:nvSpPr>
        <p:spPr>
          <a:xfrm>
            <a:off x="548640" y="1234440"/>
            <a:ext cx="5486400" cy="4434840"/>
          </a:xfrm>
          <a:prstGeom prst="roundRect">
            <a:avLst>
              <a:gd name="adj" fmla="val 1649"/>
            </a:avLst>
          </a:prstGeom>
          <a:solidFill>
            <a:schemeClr val="bg2"/>
          </a:solidFill>
          <a:ln w="9525">
            <a:solidFill>
              <a:srgbClr val="D5DBE5"/>
            </a:solidFill>
            <a:prstDash val="solid"/>
          </a:ln>
        </p:spPr>
      </p:sp>
      <p:sp>
        <p:nvSpPr>
          <p:cNvPr id="5" name="icon-bg-391"/>
          <p:cNvSpPr/>
          <p:nvPr/>
        </p:nvSpPr>
        <p:spPr>
          <a:xfrm>
            <a:off x="731520" y="1417320"/>
            <a:ext cx="502920" cy="502920"/>
          </a:xfrm>
          <a:prstGeom prst="ellipse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</p:sp>
      <p:pic>
        <p:nvPicPr>
          <p:cNvPr id="6" name="icon-392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" y="1536192"/>
            <a:ext cx="265176" cy="265176"/>
          </a:xfrm>
          <a:prstGeom prst="rect">
            <a:avLst/>
          </a:prstGeom>
        </p:spPr>
      </p:pic>
      <p:sp>
        <p:nvSpPr>
          <p:cNvPr id="7" name="card-title-393"/>
          <p:cNvSpPr txBox="1"/>
          <p:nvPr/>
        </p:nvSpPr>
        <p:spPr>
          <a:xfrm>
            <a:off x="1353312" y="141732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Stage or substage (Stage Master)</a:t>
            </a:r>
            <a:endParaRPr lang="en-US" sz="1800" dirty="0"/>
          </a:p>
        </p:txBody>
      </p:sp>
      <p:sp>
        <p:nvSpPr>
          <p:cNvPr id="8" name="bullets-394"/>
          <p:cNvSpPr txBox="1"/>
          <p:nvPr/>
        </p:nvSpPr>
        <p:spPr>
          <a:xfrm>
            <a:off x="777240" y="2103120"/>
            <a:ext cx="5074920" cy="3474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chemeClr val="tx1"/>
                </a:solidFill>
              </a:rPr>
              <a:t>Add a row: stage, substage, order; ID and Active fill in</a:t>
            </a:r>
            <a:endParaRPr lang="en-US" sz="15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chemeClr val="tx1"/>
                </a:solidFill>
              </a:rPr>
              <a:t>New substage of a stage: same stage spelling</a:t>
            </a:r>
            <a:endParaRPr lang="en-US" sz="15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chemeClr val="tx1"/>
                </a:solidFill>
              </a:rPr>
              <a:t>All substage lists refresh; dashboard picks it up</a:t>
            </a:r>
            <a:endParaRPr lang="en-US" sz="15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chemeClr val="tx1"/>
                </a:solidFill>
              </a:rPr>
              <a:t>Inactive: hidden from new choices, kept on existing leads and flagged</a:t>
            </a:r>
            <a:endParaRPr lang="en-US" sz="1550" dirty="0"/>
          </a:p>
        </p:txBody>
      </p:sp>
      <p:sp>
        <p:nvSpPr>
          <p:cNvPr id="9" name="card-395"/>
          <p:cNvSpPr/>
          <p:nvPr/>
        </p:nvSpPr>
        <p:spPr>
          <a:xfrm>
            <a:off x="6172200" y="1234440"/>
            <a:ext cx="5486400" cy="4434840"/>
          </a:xfrm>
          <a:prstGeom prst="roundRect">
            <a:avLst>
              <a:gd name="adj" fmla="val 1649"/>
            </a:avLst>
          </a:prstGeom>
          <a:solidFill>
            <a:schemeClr val="bg2"/>
          </a:solidFill>
          <a:ln w="9525">
            <a:solidFill>
              <a:srgbClr val="D5DBE5"/>
            </a:solidFill>
            <a:prstDash val="solid"/>
          </a:ln>
        </p:spPr>
      </p:sp>
      <p:sp>
        <p:nvSpPr>
          <p:cNvPr id="10" name="icon-bg-396"/>
          <p:cNvSpPr/>
          <p:nvPr/>
        </p:nvSpPr>
        <p:spPr>
          <a:xfrm>
            <a:off x="6355080" y="1417320"/>
            <a:ext cx="502920" cy="502920"/>
          </a:xfrm>
          <a:prstGeom prst="ellipse">
            <a:avLst/>
          </a:prstGeom>
          <a:solidFill>
            <a:srgbClr val="5B2C6F"/>
          </a:solidFill>
          <a:ln w="12700">
            <a:solidFill>
              <a:srgbClr val="5B2C6F"/>
            </a:solidFill>
            <a:prstDash val="solid"/>
          </a:ln>
        </p:spPr>
      </p:sp>
      <p:pic>
        <p:nvPicPr>
          <p:cNvPr id="11" name="icon-397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3952" y="1536192"/>
            <a:ext cx="265176" cy="265176"/>
          </a:xfrm>
          <a:prstGeom prst="rect">
            <a:avLst/>
          </a:prstGeom>
        </p:spPr>
      </p:pic>
      <p:sp>
        <p:nvSpPr>
          <p:cNvPr id="12" name="card-title-398"/>
          <p:cNvSpPr txBox="1"/>
          <p:nvPr/>
        </p:nvSpPr>
        <p:spPr>
          <a:xfrm>
            <a:off x="6976872" y="141732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Counsellor (Counsellor Master)</a:t>
            </a:r>
            <a:endParaRPr lang="en-US" sz="1800" dirty="0"/>
          </a:p>
        </p:txBody>
      </p:sp>
      <p:sp>
        <p:nvSpPr>
          <p:cNvPr id="13" name="bullets-399"/>
          <p:cNvSpPr txBox="1"/>
          <p:nvPr/>
        </p:nvSpPr>
        <p:spPr>
          <a:xfrm>
            <a:off x="6400800" y="2103120"/>
            <a:ext cx="5074920" cy="3474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chemeClr val="tx1"/>
                </a:solidFill>
              </a:rPr>
              <a:t>Type the name: ID, Active and Date Added fill in</a:t>
            </a:r>
            <a:endParaRPr lang="en-US" sz="15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chemeClr val="tx1"/>
                </a:solidFill>
              </a:rPr>
              <a:t>Add the email of their Google account</a:t>
            </a:r>
            <a:endParaRPr lang="en-US" sz="15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chemeClr val="tx1"/>
                </a:solidFill>
              </a:rPr>
              <a:t>Appears in Assigned Counsellor at once</a:t>
            </a:r>
            <a:endParaRPr lang="en-US" sz="15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chemeClr val="tx1"/>
                </a:solidFill>
              </a:rPr>
              <a:t>Send the counsellor link; Inactive = access ends on next click</a:t>
            </a:r>
            <a:endParaRPr lang="en-US" sz="15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8C8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Counsellor sign-in to the web app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CRM - System Guide  |  Key workflows</a:t>
            </a:r>
            <a:endParaRPr lang="en-US" sz="1000" dirty="0"/>
          </a:p>
        </p:txBody>
      </p:sp>
      <p:sp>
        <p:nvSpPr>
          <p:cNvPr id="4" name="step-400"/>
          <p:cNvSpPr/>
          <p:nvPr/>
        </p:nvSpPr>
        <p:spPr>
          <a:xfrm>
            <a:off x="548640" y="1280160"/>
            <a:ext cx="2468880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12700">
            <a:solidFill>
              <a:srgbClr val="D5DBE5"/>
            </a:solidFill>
            <a:prstDash val="solid"/>
          </a:ln>
        </p:spPr>
      </p:sp>
      <p:sp>
        <p:nvSpPr>
          <p:cNvPr id="5" name="step-num-bg-401"/>
          <p:cNvSpPr/>
          <p:nvPr/>
        </p:nvSpPr>
        <p:spPr>
          <a:xfrm>
            <a:off x="685800" y="1417320"/>
            <a:ext cx="384048" cy="384048"/>
          </a:xfrm>
          <a:prstGeom prst="ellipse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</p:sp>
      <p:sp>
        <p:nvSpPr>
          <p:cNvPr id="6" name="step-num-402"/>
          <p:cNvSpPr txBox="1"/>
          <p:nvPr/>
        </p:nvSpPr>
        <p:spPr>
          <a:xfrm>
            <a:off x="685800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step-title-403"/>
          <p:cNvSpPr txBox="1"/>
          <p:nvPr/>
        </p:nvSpPr>
        <p:spPr>
          <a:xfrm>
            <a:off x="1143000" y="1371600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Open the link</a:t>
            </a:r>
            <a:endParaRPr lang="en-US" sz="1500" dirty="0"/>
          </a:p>
        </p:txBody>
      </p:sp>
      <p:sp>
        <p:nvSpPr>
          <p:cNvPr id="8" name="step-text-404"/>
          <p:cNvSpPr txBox="1"/>
          <p:nvPr/>
        </p:nvSpPr>
        <p:spPr>
          <a:xfrm>
            <a:off x="685800" y="192024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Counsellor opens the counsellor link (the sign-in app address).</a:t>
            </a:r>
            <a:endParaRPr lang="en-US" sz="1350" dirty="0"/>
          </a:p>
        </p:txBody>
      </p:sp>
      <p:sp>
        <p:nvSpPr>
          <p:cNvPr id="9" name="arrow-405"/>
          <p:cNvSpPr/>
          <p:nvPr/>
        </p:nvSpPr>
        <p:spPr>
          <a:xfrm>
            <a:off x="3063240" y="2217420"/>
            <a:ext cx="314858" cy="0"/>
          </a:xfrm>
          <a:prstGeom prst="line">
            <a:avLst/>
          </a:prstGeom>
          <a:noFill/>
          <a:ln w="22225">
            <a:solidFill>
              <a:srgbClr val="7F8C8D"/>
            </a:solidFill>
            <a:prstDash val="solid"/>
            <a:tailEnd type="triangle"/>
          </a:ln>
        </p:spPr>
      </p:sp>
      <p:sp>
        <p:nvSpPr>
          <p:cNvPr id="10" name="step-406"/>
          <p:cNvSpPr/>
          <p:nvPr/>
        </p:nvSpPr>
        <p:spPr>
          <a:xfrm>
            <a:off x="3423818" y="1280160"/>
            <a:ext cx="2468880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12700">
            <a:solidFill>
              <a:srgbClr val="D5DBE5"/>
            </a:solidFill>
            <a:prstDash val="solid"/>
          </a:ln>
        </p:spPr>
      </p:sp>
      <p:sp>
        <p:nvSpPr>
          <p:cNvPr id="11" name="step-num-bg-407"/>
          <p:cNvSpPr/>
          <p:nvPr/>
        </p:nvSpPr>
        <p:spPr>
          <a:xfrm>
            <a:off x="3560978" y="1417320"/>
            <a:ext cx="384048" cy="384048"/>
          </a:xfrm>
          <a:prstGeom prst="ellipse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</p:sp>
      <p:sp>
        <p:nvSpPr>
          <p:cNvPr id="12" name="step-num-408"/>
          <p:cNvSpPr txBox="1"/>
          <p:nvPr/>
        </p:nvSpPr>
        <p:spPr>
          <a:xfrm>
            <a:off x="3560978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3" name="step-title-409"/>
          <p:cNvSpPr txBox="1"/>
          <p:nvPr/>
        </p:nvSpPr>
        <p:spPr>
          <a:xfrm>
            <a:off x="4018178" y="1371600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First time only</a:t>
            </a:r>
            <a:endParaRPr lang="en-US" sz="1500" dirty="0"/>
          </a:p>
        </p:txBody>
      </p:sp>
      <p:sp>
        <p:nvSpPr>
          <p:cNvPr id="14" name="step-text-410"/>
          <p:cNvSpPr txBox="1"/>
          <p:nvPr/>
        </p:nvSpPr>
        <p:spPr>
          <a:xfrm>
            <a:off x="3560978" y="192024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Google asks to allow "See your primary Google Account email address".</a:t>
            </a:r>
            <a:endParaRPr lang="en-US" sz="1350" dirty="0"/>
          </a:p>
        </p:txBody>
      </p:sp>
      <p:sp>
        <p:nvSpPr>
          <p:cNvPr id="15" name="arrow-411"/>
          <p:cNvSpPr/>
          <p:nvPr/>
        </p:nvSpPr>
        <p:spPr>
          <a:xfrm>
            <a:off x="5938418" y="2217420"/>
            <a:ext cx="314858" cy="0"/>
          </a:xfrm>
          <a:prstGeom prst="line">
            <a:avLst/>
          </a:prstGeom>
          <a:noFill/>
          <a:ln w="22225">
            <a:solidFill>
              <a:srgbClr val="7F8C8D"/>
            </a:solidFill>
            <a:prstDash val="solid"/>
            <a:tailEnd type="triangle"/>
          </a:ln>
        </p:spPr>
      </p:sp>
      <p:sp>
        <p:nvSpPr>
          <p:cNvPr id="16" name="step-412"/>
          <p:cNvSpPr/>
          <p:nvPr/>
        </p:nvSpPr>
        <p:spPr>
          <a:xfrm>
            <a:off x="6298997" y="1280160"/>
            <a:ext cx="2468880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12700">
            <a:solidFill>
              <a:srgbClr val="D5DBE5"/>
            </a:solidFill>
            <a:prstDash val="solid"/>
          </a:ln>
        </p:spPr>
      </p:sp>
      <p:sp>
        <p:nvSpPr>
          <p:cNvPr id="17" name="step-num-bg-413"/>
          <p:cNvSpPr/>
          <p:nvPr/>
        </p:nvSpPr>
        <p:spPr>
          <a:xfrm>
            <a:off x="6436157" y="1417320"/>
            <a:ext cx="384048" cy="384048"/>
          </a:xfrm>
          <a:prstGeom prst="ellipse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</p:sp>
      <p:sp>
        <p:nvSpPr>
          <p:cNvPr id="18" name="step-num-414"/>
          <p:cNvSpPr txBox="1"/>
          <p:nvPr/>
        </p:nvSpPr>
        <p:spPr>
          <a:xfrm>
            <a:off x="6436157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9" name="step-title-415"/>
          <p:cNvSpPr txBox="1"/>
          <p:nvPr/>
        </p:nvSpPr>
        <p:spPr>
          <a:xfrm>
            <a:off x="6893357" y="1371600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Email read</a:t>
            </a:r>
            <a:endParaRPr lang="en-US" sz="1500" dirty="0"/>
          </a:p>
        </p:txBody>
      </p:sp>
      <p:sp>
        <p:nvSpPr>
          <p:cNvPr id="20" name="step-text-416"/>
          <p:cNvSpPr txBox="1"/>
          <p:nvPr/>
        </p:nvSpPr>
        <p:spPr>
          <a:xfrm>
            <a:off x="6436157" y="192024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The sign-in app, running as the counsellor, reads their Google-verified email.</a:t>
            </a:r>
            <a:endParaRPr lang="en-US" sz="1350" dirty="0"/>
          </a:p>
        </p:txBody>
      </p:sp>
      <p:sp>
        <p:nvSpPr>
          <p:cNvPr id="21" name="arrow-417"/>
          <p:cNvSpPr/>
          <p:nvPr/>
        </p:nvSpPr>
        <p:spPr>
          <a:xfrm>
            <a:off x="8813597" y="2217420"/>
            <a:ext cx="314858" cy="0"/>
          </a:xfrm>
          <a:prstGeom prst="line">
            <a:avLst/>
          </a:prstGeom>
          <a:noFill/>
          <a:ln w="22225">
            <a:solidFill>
              <a:srgbClr val="7F8C8D"/>
            </a:solidFill>
            <a:prstDash val="solid"/>
            <a:tailEnd type="triangle"/>
          </a:ln>
        </p:spPr>
      </p:sp>
      <p:sp>
        <p:nvSpPr>
          <p:cNvPr id="22" name="step-418"/>
          <p:cNvSpPr/>
          <p:nvPr/>
        </p:nvSpPr>
        <p:spPr>
          <a:xfrm>
            <a:off x="9174175" y="1280160"/>
            <a:ext cx="2468880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12700">
            <a:solidFill>
              <a:srgbClr val="D5DBE5"/>
            </a:solidFill>
            <a:prstDash val="solid"/>
          </a:ln>
        </p:spPr>
      </p:sp>
      <p:sp>
        <p:nvSpPr>
          <p:cNvPr id="23" name="step-num-bg-419"/>
          <p:cNvSpPr/>
          <p:nvPr/>
        </p:nvSpPr>
        <p:spPr>
          <a:xfrm>
            <a:off x="9311335" y="1417320"/>
            <a:ext cx="384048" cy="384048"/>
          </a:xfrm>
          <a:prstGeom prst="ellipse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</p:sp>
      <p:sp>
        <p:nvSpPr>
          <p:cNvPr id="24" name="step-num-420"/>
          <p:cNvSpPr txBox="1"/>
          <p:nvPr/>
        </p:nvSpPr>
        <p:spPr>
          <a:xfrm>
            <a:off x="9311335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5" name="step-title-421"/>
          <p:cNvSpPr txBox="1"/>
          <p:nvPr/>
        </p:nvSpPr>
        <p:spPr>
          <a:xfrm>
            <a:off x="9768535" y="1371600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Signed pass</a:t>
            </a:r>
            <a:endParaRPr lang="en-US" sz="1500" dirty="0"/>
          </a:p>
        </p:txBody>
      </p:sp>
      <p:sp>
        <p:nvSpPr>
          <p:cNvPr id="26" name="step-text-422"/>
          <p:cNvSpPr txBox="1"/>
          <p:nvPr/>
        </p:nvSpPr>
        <p:spPr>
          <a:xfrm>
            <a:off x="9311335" y="192024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It sends them on with a signed pass valid for 5 minutes, usable once.</a:t>
            </a:r>
            <a:endParaRPr lang="en-US" sz="1350" dirty="0"/>
          </a:p>
        </p:txBody>
      </p:sp>
      <p:sp>
        <p:nvSpPr>
          <p:cNvPr id="27" name="arrow-423"/>
          <p:cNvSpPr/>
          <p:nvPr/>
        </p:nvSpPr>
        <p:spPr>
          <a:xfrm>
            <a:off x="10408615" y="3154680"/>
            <a:ext cx="0" cy="251460"/>
          </a:xfrm>
          <a:prstGeom prst="line">
            <a:avLst/>
          </a:prstGeom>
          <a:noFill/>
          <a:ln w="22225">
            <a:solidFill>
              <a:srgbClr val="7F8C8D"/>
            </a:solidFill>
            <a:prstDash val="solid"/>
          </a:ln>
        </p:spPr>
      </p:sp>
      <p:sp>
        <p:nvSpPr>
          <p:cNvPr id="28" name="arrow-424"/>
          <p:cNvSpPr/>
          <p:nvPr/>
        </p:nvSpPr>
        <p:spPr>
          <a:xfrm>
            <a:off x="1783080" y="3406140"/>
            <a:ext cx="8625535" cy="0"/>
          </a:xfrm>
          <a:prstGeom prst="line">
            <a:avLst/>
          </a:prstGeom>
          <a:noFill/>
          <a:ln w="22225">
            <a:solidFill>
              <a:srgbClr val="7F8C8D"/>
            </a:solidFill>
            <a:prstDash val="solid"/>
          </a:ln>
        </p:spPr>
      </p:sp>
      <p:sp>
        <p:nvSpPr>
          <p:cNvPr id="29" name="arrow-425"/>
          <p:cNvSpPr/>
          <p:nvPr/>
        </p:nvSpPr>
        <p:spPr>
          <a:xfrm>
            <a:off x="1783080" y="3406140"/>
            <a:ext cx="0" cy="251460"/>
          </a:xfrm>
          <a:prstGeom prst="line">
            <a:avLst/>
          </a:prstGeom>
          <a:noFill/>
          <a:ln w="22225">
            <a:solidFill>
              <a:srgbClr val="7F8C8D"/>
            </a:solidFill>
            <a:prstDash val="solid"/>
            <a:tailEnd type="triangle"/>
          </a:ln>
        </p:spPr>
      </p:sp>
      <p:sp>
        <p:nvSpPr>
          <p:cNvPr id="30" name="step-426"/>
          <p:cNvSpPr/>
          <p:nvPr/>
        </p:nvSpPr>
        <p:spPr>
          <a:xfrm>
            <a:off x="548640" y="3657600"/>
            <a:ext cx="2468880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12700">
            <a:solidFill>
              <a:srgbClr val="D5DBE5"/>
            </a:solidFill>
            <a:prstDash val="solid"/>
          </a:ln>
        </p:spPr>
      </p:sp>
      <p:sp>
        <p:nvSpPr>
          <p:cNvPr id="31" name="step-num-bg-427"/>
          <p:cNvSpPr/>
          <p:nvPr/>
        </p:nvSpPr>
        <p:spPr>
          <a:xfrm>
            <a:off x="685800" y="3794760"/>
            <a:ext cx="384048" cy="384048"/>
          </a:xfrm>
          <a:prstGeom prst="ellipse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</p:sp>
      <p:sp>
        <p:nvSpPr>
          <p:cNvPr id="32" name="step-num-428"/>
          <p:cNvSpPr txBox="1"/>
          <p:nvPr/>
        </p:nvSpPr>
        <p:spPr>
          <a:xfrm>
            <a:off x="685800" y="3794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33" name="step-title-429"/>
          <p:cNvSpPr txBox="1"/>
          <p:nvPr/>
        </p:nvSpPr>
        <p:spPr>
          <a:xfrm>
            <a:off x="1143000" y="3749040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Pass checked</a:t>
            </a:r>
            <a:endParaRPr lang="en-US" sz="1500" dirty="0"/>
          </a:p>
        </p:txBody>
      </p:sp>
      <p:sp>
        <p:nvSpPr>
          <p:cNvPr id="34" name="step-text-430"/>
          <p:cNvSpPr txBox="1"/>
          <p:nvPr/>
        </p:nvSpPr>
        <p:spPr>
          <a:xfrm>
            <a:off x="685800" y="429768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The web app checks the signature, time limit and single use.</a:t>
            </a:r>
            <a:endParaRPr lang="en-US" sz="1350" dirty="0"/>
          </a:p>
        </p:txBody>
      </p:sp>
      <p:sp>
        <p:nvSpPr>
          <p:cNvPr id="35" name="arrow-431"/>
          <p:cNvSpPr/>
          <p:nvPr/>
        </p:nvSpPr>
        <p:spPr>
          <a:xfrm>
            <a:off x="3063240" y="4594860"/>
            <a:ext cx="314858" cy="0"/>
          </a:xfrm>
          <a:prstGeom prst="line">
            <a:avLst/>
          </a:prstGeom>
          <a:noFill/>
          <a:ln w="22225">
            <a:solidFill>
              <a:srgbClr val="7F8C8D"/>
            </a:solidFill>
            <a:prstDash val="solid"/>
            <a:tailEnd type="triangle"/>
          </a:ln>
        </p:spPr>
      </p:sp>
      <p:sp>
        <p:nvSpPr>
          <p:cNvPr id="36" name="step-432"/>
          <p:cNvSpPr/>
          <p:nvPr/>
        </p:nvSpPr>
        <p:spPr>
          <a:xfrm>
            <a:off x="3423818" y="3657600"/>
            <a:ext cx="2468880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12700">
            <a:solidFill>
              <a:srgbClr val="D5DBE5"/>
            </a:solidFill>
            <a:prstDash val="solid"/>
          </a:ln>
        </p:spPr>
      </p:sp>
      <p:sp>
        <p:nvSpPr>
          <p:cNvPr id="37" name="step-num-bg-433"/>
          <p:cNvSpPr/>
          <p:nvPr/>
        </p:nvSpPr>
        <p:spPr>
          <a:xfrm>
            <a:off x="3560978" y="3794760"/>
            <a:ext cx="384048" cy="384048"/>
          </a:xfrm>
          <a:prstGeom prst="ellipse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</p:sp>
      <p:sp>
        <p:nvSpPr>
          <p:cNvPr id="38" name="step-num-434"/>
          <p:cNvSpPr txBox="1"/>
          <p:nvPr/>
        </p:nvSpPr>
        <p:spPr>
          <a:xfrm>
            <a:off x="3560978" y="3794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6</a:t>
            </a:r>
            <a:endParaRPr lang="en-US" sz="1400" dirty="0"/>
          </a:p>
        </p:txBody>
      </p:sp>
      <p:sp>
        <p:nvSpPr>
          <p:cNvPr id="39" name="step-title-435"/>
          <p:cNvSpPr txBox="1"/>
          <p:nvPr/>
        </p:nvSpPr>
        <p:spPr>
          <a:xfrm>
            <a:off x="4018178" y="3749040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Access rule</a:t>
            </a:r>
            <a:endParaRPr lang="en-US" sz="1500" dirty="0"/>
          </a:p>
        </p:txBody>
      </p:sp>
      <p:sp>
        <p:nvSpPr>
          <p:cNvPr id="40" name="step-text-436"/>
          <p:cNvSpPr txBox="1"/>
          <p:nvPr/>
        </p:nvSpPr>
        <p:spPr>
          <a:xfrm>
            <a:off x="3560978" y="429768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Allowed only if Active in Counsellor Master or listed in Admin Emails.</a:t>
            </a:r>
            <a:endParaRPr lang="en-US" sz="1350" dirty="0"/>
          </a:p>
        </p:txBody>
      </p:sp>
      <p:sp>
        <p:nvSpPr>
          <p:cNvPr id="41" name="arrow-437"/>
          <p:cNvSpPr/>
          <p:nvPr/>
        </p:nvSpPr>
        <p:spPr>
          <a:xfrm>
            <a:off x="5938418" y="4594860"/>
            <a:ext cx="314858" cy="0"/>
          </a:xfrm>
          <a:prstGeom prst="line">
            <a:avLst/>
          </a:prstGeom>
          <a:noFill/>
          <a:ln w="22225">
            <a:solidFill>
              <a:srgbClr val="7F8C8D"/>
            </a:solidFill>
            <a:prstDash val="solid"/>
            <a:tailEnd type="triangle"/>
          </a:ln>
        </p:spPr>
      </p:sp>
      <p:sp>
        <p:nvSpPr>
          <p:cNvPr id="42" name="step-438"/>
          <p:cNvSpPr/>
          <p:nvPr/>
        </p:nvSpPr>
        <p:spPr>
          <a:xfrm>
            <a:off x="6298997" y="3657600"/>
            <a:ext cx="2468880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12700">
            <a:solidFill>
              <a:srgbClr val="D5DBE5"/>
            </a:solidFill>
            <a:prstDash val="solid"/>
          </a:ln>
        </p:spPr>
      </p:sp>
      <p:sp>
        <p:nvSpPr>
          <p:cNvPr id="43" name="step-num-bg-439"/>
          <p:cNvSpPr/>
          <p:nvPr/>
        </p:nvSpPr>
        <p:spPr>
          <a:xfrm>
            <a:off x="6436157" y="3794760"/>
            <a:ext cx="384048" cy="384048"/>
          </a:xfrm>
          <a:prstGeom prst="ellipse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</p:sp>
      <p:sp>
        <p:nvSpPr>
          <p:cNvPr id="44" name="step-num-440"/>
          <p:cNvSpPr txBox="1"/>
          <p:nvPr/>
        </p:nvSpPr>
        <p:spPr>
          <a:xfrm>
            <a:off x="6436157" y="3794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7</a:t>
            </a:r>
            <a:endParaRPr lang="en-US" sz="1400" dirty="0"/>
          </a:p>
        </p:txBody>
      </p:sp>
      <p:sp>
        <p:nvSpPr>
          <p:cNvPr id="45" name="step-title-441"/>
          <p:cNvSpPr txBox="1"/>
          <p:nvPr/>
        </p:nvSpPr>
        <p:spPr>
          <a:xfrm>
            <a:off x="6893357" y="3749040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Session</a:t>
            </a:r>
            <a:endParaRPr lang="en-US" sz="1500" dirty="0"/>
          </a:p>
        </p:txBody>
      </p:sp>
      <p:sp>
        <p:nvSpPr>
          <p:cNvPr id="46" name="step-text-442"/>
          <p:cNvSpPr txBox="1"/>
          <p:nvPr/>
        </p:nvSpPr>
        <p:spPr>
          <a:xfrm>
            <a:off x="6436157" y="429768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Allowed: a 6-hour session starts; "Portal Opened" is logged.</a:t>
            </a:r>
            <a:endParaRPr lang="en-US" sz="1350" dirty="0"/>
          </a:p>
        </p:txBody>
      </p:sp>
      <p:sp>
        <p:nvSpPr>
          <p:cNvPr id="47" name="arrow-443"/>
          <p:cNvSpPr/>
          <p:nvPr/>
        </p:nvSpPr>
        <p:spPr>
          <a:xfrm>
            <a:off x="8813597" y="4594860"/>
            <a:ext cx="314858" cy="0"/>
          </a:xfrm>
          <a:prstGeom prst="line">
            <a:avLst/>
          </a:prstGeom>
          <a:noFill/>
          <a:ln w="22225">
            <a:solidFill>
              <a:srgbClr val="7F8C8D"/>
            </a:solidFill>
            <a:prstDash val="solid"/>
            <a:tailEnd type="triangle"/>
          </a:ln>
        </p:spPr>
      </p:sp>
      <p:sp>
        <p:nvSpPr>
          <p:cNvPr id="48" name="step-444"/>
          <p:cNvSpPr/>
          <p:nvPr/>
        </p:nvSpPr>
        <p:spPr>
          <a:xfrm>
            <a:off x="9174175" y="3657600"/>
            <a:ext cx="2468880" cy="1874520"/>
          </a:xfrm>
          <a:prstGeom prst="roundRect">
            <a:avLst>
              <a:gd name="adj" fmla="val 3902"/>
            </a:avLst>
          </a:prstGeom>
          <a:solidFill>
            <a:srgbClr val="FDEBD0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49" name="step-num-bg-445"/>
          <p:cNvSpPr/>
          <p:nvPr/>
        </p:nvSpPr>
        <p:spPr>
          <a:xfrm>
            <a:off x="9311335" y="3794760"/>
            <a:ext cx="384048" cy="384048"/>
          </a:xfrm>
          <a:prstGeom prst="ellipse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50" name="step-num-446"/>
          <p:cNvSpPr txBox="1"/>
          <p:nvPr/>
        </p:nvSpPr>
        <p:spPr>
          <a:xfrm>
            <a:off x="9311335" y="3794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8</a:t>
            </a:r>
            <a:endParaRPr lang="en-US" sz="1400" dirty="0"/>
          </a:p>
        </p:txBody>
      </p:sp>
      <p:sp>
        <p:nvSpPr>
          <p:cNvPr id="51" name="step-title-447"/>
          <p:cNvSpPr txBox="1"/>
          <p:nvPr/>
        </p:nvSpPr>
        <p:spPr>
          <a:xfrm>
            <a:off x="9768535" y="3749040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Refused</a:t>
            </a:r>
            <a:endParaRPr lang="en-US" sz="1500" dirty="0"/>
          </a:p>
        </p:txBody>
      </p:sp>
      <p:sp>
        <p:nvSpPr>
          <p:cNvPr id="52" name="step-text-448"/>
          <p:cNvSpPr txBox="1"/>
          <p:nvPr/>
        </p:nvSpPr>
        <p:spPr>
          <a:xfrm>
            <a:off x="9311335" y="429768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Not allowed: "Access denied" page; "Access Denied" is logged.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8C8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286000"/>
            <a:ext cx="10058400" cy="10058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Counsellor web app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429000"/>
            <a:ext cx="100584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counsellors see and do - and what is blocked and logged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ADCF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 counsellor sees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CRM - System Guide  |  Counsellor web app</a:t>
            </a:r>
            <a:endParaRPr lang="en-US" sz="1000" dirty="0"/>
          </a:p>
        </p:txBody>
      </p:sp>
      <p:sp>
        <p:nvSpPr>
          <p:cNvPr id="4" name="card-449"/>
          <p:cNvSpPr/>
          <p:nvPr/>
        </p:nvSpPr>
        <p:spPr>
          <a:xfrm>
            <a:off x="548640" y="1234440"/>
            <a:ext cx="3657600" cy="448056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 w="9525">
            <a:solidFill>
              <a:srgbClr val="D5DBE5"/>
            </a:solidFill>
            <a:prstDash val="solid"/>
          </a:ln>
        </p:spPr>
      </p:sp>
      <p:sp>
        <p:nvSpPr>
          <p:cNvPr id="5" name="icon-bg-450"/>
          <p:cNvSpPr/>
          <p:nvPr/>
        </p:nvSpPr>
        <p:spPr>
          <a:xfrm>
            <a:off x="731520" y="1417320"/>
            <a:ext cx="502920" cy="502920"/>
          </a:xfrm>
          <a:prstGeom prst="ellipse">
            <a:avLst/>
          </a:prstGeom>
          <a:solidFill>
            <a:srgbClr val="5B2C6F"/>
          </a:solidFill>
          <a:ln w="12700">
            <a:solidFill>
              <a:srgbClr val="5B2C6F"/>
            </a:solidFill>
            <a:prstDash val="solid"/>
          </a:ln>
        </p:spPr>
      </p:sp>
      <p:pic>
        <p:nvPicPr>
          <p:cNvPr id="6" name="icon-45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" y="1536192"/>
            <a:ext cx="265176" cy="265176"/>
          </a:xfrm>
          <a:prstGeom prst="rect">
            <a:avLst/>
          </a:prstGeom>
        </p:spPr>
      </p:pic>
      <p:sp>
        <p:nvSpPr>
          <p:cNvPr id="7" name="card-title-452"/>
          <p:cNvSpPr txBox="1"/>
          <p:nvPr/>
        </p:nvSpPr>
        <p:spPr>
          <a:xfrm>
            <a:off x="1353312" y="141732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Lead list</a:t>
            </a:r>
            <a:endParaRPr lang="en-US" sz="1800" dirty="0"/>
          </a:p>
        </p:txBody>
      </p:sp>
      <p:sp>
        <p:nvSpPr>
          <p:cNvPr id="8" name="bullets-453"/>
          <p:cNvSpPr txBox="1"/>
          <p:nvPr/>
        </p:nvSpPr>
        <p:spPr>
          <a:xfrm>
            <a:off x="777240" y="2103120"/>
            <a:ext cx="3246120" cy="3520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chemeClr val="tx1"/>
                </a:solidFill>
              </a:rPr>
              <a:t>Tabs: Due &amp; overdue, All open, All my leads</a:t>
            </a:r>
            <a:endParaRPr lang="en-US" sz="15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chemeClr val="tx1"/>
                </a:solidFill>
              </a:rPr>
              <a:t>Search by Lead ID, name or mobile</a:t>
            </a:r>
            <a:endParaRPr lang="en-US" sz="15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chemeClr val="tx1"/>
                </a:solidFill>
              </a:rPr>
              <a:t>Counters: due/overdue, overdue, open, total</a:t>
            </a:r>
            <a:endParaRPr lang="en-US" sz="15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chemeClr val="tx1"/>
                </a:solidFill>
              </a:rPr>
              <a:t>Up to 300 leads per list</a:t>
            </a:r>
            <a:endParaRPr lang="en-US" sz="1550" dirty="0"/>
          </a:p>
        </p:txBody>
      </p:sp>
      <p:sp>
        <p:nvSpPr>
          <p:cNvPr id="9" name="card-454"/>
          <p:cNvSpPr/>
          <p:nvPr/>
        </p:nvSpPr>
        <p:spPr>
          <a:xfrm>
            <a:off x="4270248" y="1234440"/>
            <a:ext cx="3657600" cy="448056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 w="9525">
            <a:solidFill>
              <a:srgbClr val="D5DBE5"/>
            </a:solidFill>
            <a:prstDash val="solid"/>
          </a:ln>
        </p:spPr>
      </p:sp>
      <p:sp>
        <p:nvSpPr>
          <p:cNvPr id="10" name="icon-bg-455"/>
          <p:cNvSpPr/>
          <p:nvPr/>
        </p:nvSpPr>
        <p:spPr>
          <a:xfrm>
            <a:off x="4453128" y="1417320"/>
            <a:ext cx="502920" cy="502920"/>
          </a:xfrm>
          <a:prstGeom prst="ellipse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pic>
        <p:nvPicPr>
          <p:cNvPr id="11" name="icon-456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536192"/>
            <a:ext cx="265176" cy="265176"/>
          </a:xfrm>
          <a:prstGeom prst="rect">
            <a:avLst/>
          </a:prstGeom>
        </p:spPr>
      </p:pic>
      <p:sp>
        <p:nvSpPr>
          <p:cNvPr id="12" name="card-title-457"/>
          <p:cNvSpPr txBox="1"/>
          <p:nvPr/>
        </p:nvSpPr>
        <p:spPr>
          <a:xfrm>
            <a:off x="5074920" y="141732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Lead page</a:t>
            </a:r>
            <a:endParaRPr lang="en-US" sz="1800" dirty="0"/>
          </a:p>
        </p:txBody>
      </p:sp>
      <p:sp>
        <p:nvSpPr>
          <p:cNvPr id="13" name="bullets-458"/>
          <p:cNvSpPr txBox="1"/>
          <p:nvPr/>
        </p:nvSpPr>
        <p:spPr>
          <a:xfrm>
            <a:off x="4498848" y="2103120"/>
            <a:ext cx="3246120" cy="3520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chemeClr val="tx1"/>
                </a:solidFill>
              </a:rPr>
              <a:t>Mobile as a tap-to-call link</a:t>
            </a:r>
            <a:endParaRPr lang="en-US" sz="15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chemeClr val="tx1"/>
                </a:solidFill>
              </a:rPr>
              <a:t>Grey fields are read-only (locked)</a:t>
            </a:r>
            <a:endParaRPr lang="en-US" sz="15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chemeClr val="tx1"/>
                </a:solidFill>
              </a:rPr>
              <a:t>Other fields editable, then Save changes</a:t>
            </a:r>
            <a:endParaRPr lang="en-US" sz="15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chemeClr val="tx1"/>
                </a:solidFill>
              </a:rPr>
              <a:t>Changing the stage empties the substage list</a:t>
            </a:r>
            <a:endParaRPr lang="en-US" sz="1550" dirty="0"/>
          </a:p>
        </p:txBody>
      </p:sp>
      <p:sp>
        <p:nvSpPr>
          <p:cNvPr id="14" name="card-459"/>
          <p:cNvSpPr/>
          <p:nvPr/>
        </p:nvSpPr>
        <p:spPr>
          <a:xfrm>
            <a:off x="7991856" y="1234440"/>
            <a:ext cx="3657600" cy="448056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 w="9525">
            <a:solidFill>
              <a:srgbClr val="D5DBE5"/>
            </a:solidFill>
            <a:prstDash val="solid"/>
          </a:ln>
        </p:spPr>
      </p:sp>
      <p:sp>
        <p:nvSpPr>
          <p:cNvPr id="15" name="icon-bg-460"/>
          <p:cNvSpPr/>
          <p:nvPr/>
        </p:nvSpPr>
        <p:spPr>
          <a:xfrm>
            <a:off x="8174736" y="1417320"/>
            <a:ext cx="502920" cy="502920"/>
          </a:xfrm>
          <a:prstGeom prst="ellipse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</p:sp>
      <p:pic>
        <p:nvPicPr>
          <p:cNvPr id="16" name="icon-46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93608" y="1536192"/>
            <a:ext cx="265176" cy="265176"/>
          </a:xfrm>
          <a:prstGeom prst="rect">
            <a:avLst/>
          </a:prstGeom>
        </p:spPr>
      </p:pic>
      <p:sp>
        <p:nvSpPr>
          <p:cNvPr id="17" name="card-title-462"/>
          <p:cNvSpPr txBox="1"/>
          <p:nvPr/>
        </p:nvSpPr>
        <p:spPr>
          <a:xfrm>
            <a:off x="8796528" y="141732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Follow-up and history</a:t>
            </a:r>
            <a:endParaRPr lang="en-US" sz="1800" dirty="0"/>
          </a:p>
        </p:txBody>
      </p:sp>
      <p:sp>
        <p:nvSpPr>
          <p:cNvPr id="18" name="bullets-463"/>
          <p:cNvSpPr txBox="1"/>
          <p:nvPr/>
        </p:nvSpPr>
        <p:spPr>
          <a:xfrm>
            <a:off x="8220456" y="2103120"/>
            <a:ext cx="3246120" cy="3520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chemeClr val="tx1"/>
                </a:solidFill>
              </a:rPr>
              <a:t>Log a follow-up form on the lead page</a:t>
            </a:r>
            <a:endParaRPr lang="en-US" sz="15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chemeClr val="tx1"/>
                </a:solidFill>
              </a:rPr>
              <a:t>Last 10 activities shown</a:t>
            </a:r>
            <a:endParaRPr lang="en-US" sz="15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chemeClr val="tx1"/>
                </a:solidFill>
              </a:rPr>
              <a:t>Session lasts 6 hours of activity</a:t>
            </a:r>
            <a:endParaRPr lang="en-US" sz="15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chemeClr val="tx1"/>
                </a:solidFill>
              </a:rPr>
              <a:t>Then "Sign in again"</a:t>
            </a:r>
            <a:endParaRPr lang="en-US" sz="15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8C8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 app: allowed, blocked and logged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CRM - System Guide  |  Counsellor web app</a:t>
            </a:r>
            <a:endParaRPr lang="en-US" sz="1000" dirty="0"/>
          </a:p>
        </p:txBody>
      </p:sp>
      <p:sp>
        <p:nvSpPr>
          <p:cNvPr id="4" name="card-464"/>
          <p:cNvSpPr/>
          <p:nvPr/>
        </p:nvSpPr>
        <p:spPr>
          <a:xfrm>
            <a:off x="548640" y="1234440"/>
            <a:ext cx="3657600" cy="448056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 w="9525">
            <a:solidFill>
              <a:srgbClr val="D5DBE5"/>
            </a:solidFill>
            <a:prstDash val="solid"/>
          </a:ln>
        </p:spPr>
      </p:sp>
      <p:sp>
        <p:nvSpPr>
          <p:cNvPr id="5" name="icon-bg-465"/>
          <p:cNvSpPr/>
          <p:nvPr/>
        </p:nvSpPr>
        <p:spPr>
          <a:xfrm>
            <a:off x="731520" y="1417320"/>
            <a:ext cx="502920" cy="502920"/>
          </a:xfrm>
          <a:prstGeom prst="ellipse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</p:sp>
      <p:pic>
        <p:nvPicPr>
          <p:cNvPr id="6" name="icon-466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" y="1536192"/>
            <a:ext cx="265176" cy="265176"/>
          </a:xfrm>
          <a:prstGeom prst="rect">
            <a:avLst/>
          </a:prstGeom>
        </p:spPr>
      </p:pic>
      <p:sp>
        <p:nvSpPr>
          <p:cNvPr id="7" name="card-title-467"/>
          <p:cNvSpPr txBox="1"/>
          <p:nvPr/>
        </p:nvSpPr>
        <p:spPr>
          <a:xfrm>
            <a:off x="1353312" y="141732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Can do</a:t>
            </a:r>
            <a:endParaRPr lang="en-US" sz="1800" dirty="0"/>
          </a:p>
        </p:txBody>
      </p:sp>
      <p:sp>
        <p:nvSpPr>
          <p:cNvPr id="8" name="bullets-468"/>
          <p:cNvSpPr txBox="1"/>
          <p:nvPr/>
        </p:nvSpPr>
        <p:spPr>
          <a:xfrm>
            <a:off x="777240" y="2103120"/>
            <a:ext cx="3246120" cy="3520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chemeClr val="tx1"/>
                </a:solidFill>
              </a:rPr>
              <a:t>See leads assigned to them</a:t>
            </a:r>
            <a:endParaRPr lang="en-US" sz="15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chemeClr val="tx1"/>
                </a:solidFill>
              </a:rPr>
              <a:t>Edit unlocked fields</a:t>
            </a:r>
            <a:endParaRPr lang="en-US" sz="15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chemeClr val="tx1"/>
                </a:solidFill>
              </a:rPr>
              <a:t>Log follow-ups</a:t>
            </a:r>
            <a:endParaRPr lang="en-US" sz="15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chemeClr val="tx1"/>
                </a:solidFill>
              </a:rPr>
              <a:t>Admins: all leads</a:t>
            </a:r>
            <a:endParaRPr lang="en-US" sz="1550" dirty="0"/>
          </a:p>
        </p:txBody>
      </p:sp>
      <p:sp>
        <p:nvSpPr>
          <p:cNvPr id="9" name="card-469"/>
          <p:cNvSpPr/>
          <p:nvPr/>
        </p:nvSpPr>
        <p:spPr>
          <a:xfrm>
            <a:off x="4270248" y="1234440"/>
            <a:ext cx="3657600" cy="448056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 w="9525">
            <a:solidFill>
              <a:srgbClr val="D5DBE5"/>
            </a:solidFill>
            <a:prstDash val="solid"/>
          </a:ln>
        </p:spPr>
      </p:sp>
      <p:sp>
        <p:nvSpPr>
          <p:cNvPr id="10" name="icon-bg-470"/>
          <p:cNvSpPr/>
          <p:nvPr/>
        </p:nvSpPr>
        <p:spPr>
          <a:xfrm>
            <a:off x="4453128" y="1417320"/>
            <a:ext cx="502920" cy="50292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pic>
        <p:nvPicPr>
          <p:cNvPr id="11" name="icon-47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536192"/>
            <a:ext cx="265176" cy="265176"/>
          </a:xfrm>
          <a:prstGeom prst="rect">
            <a:avLst/>
          </a:prstGeom>
        </p:spPr>
      </p:pic>
      <p:sp>
        <p:nvSpPr>
          <p:cNvPr id="12" name="card-title-472"/>
          <p:cNvSpPr txBox="1"/>
          <p:nvPr/>
        </p:nvSpPr>
        <p:spPr>
          <a:xfrm>
            <a:off x="5074920" y="141732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Blocked (checked on the server)</a:t>
            </a:r>
            <a:endParaRPr lang="en-US" sz="1800" dirty="0"/>
          </a:p>
        </p:txBody>
      </p:sp>
      <p:sp>
        <p:nvSpPr>
          <p:cNvPr id="13" name="bullets-473"/>
          <p:cNvSpPr txBox="1"/>
          <p:nvPr/>
        </p:nvSpPr>
        <p:spPr>
          <a:xfrm>
            <a:off x="4498848" y="2103120"/>
            <a:ext cx="3246120" cy="3520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chemeClr val="tx1"/>
                </a:solidFill>
              </a:rPr>
              <a:t>Other counsellors' leads</a:t>
            </a:r>
            <a:endParaRPr lang="en-US" sz="15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chemeClr val="tx1"/>
                </a:solidFill>
              </a:rPr>
              <a:t>Locked fields (mobile, email, owner, source, IDs, system)</a:t>
            </a:r>
            <a:endParaRPr lang="en-US" sz="15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chemeClr val="tx1"/>
                </a:solidFill>
              </a:rPr>
              <a:t>Anyone not in the two lists</a:t>
            </a:r>
            <a:endParaRPr lang="en-US" sz="15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chemeClr val="tx1"/>
                </a:solidFill>
              </a:rPr>
              <a:t>Expired or reused sign-in passes</a:t>
            </a:r>
            <a:endParaRPr lang="en-US" sz="1550" dirty="0"/>
          </a:p>
        </p:txBody>
      </p:sp>
      <p:sp>
        <p:nvSpPr>
          <p:cNvPr id="14" name="card-474"/>
          <p:cNvSpPr/>
          <p:nvPr/>
        </p:nvSpPr>
        <p:spPr>
          <a:xfrm>
            <a:off x="7991856" y="1234440"/>
            <a:ext cx="3657600" cy="448056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 w="9525">
            <a:solidFill>
              <a:srgbClr val="D5DBE5"/>
            </a:solidFill>
            <a:prstDash val="solid"/>
          </a:ln>
        </p:spPr>
      </p:sp>
      <p:sp>
        <p:nvSpPr>
          <p:cNvPr id="15" name="icon-bg-475"/>
          <p:cNvSpPr/>
          <p:nvPr/>
        </p:nvSpPr>
        <p:spPr>
          <a:xfrm>
            <a:off x="8174736" y="1417320"/>
            <a:ext cx="502920" cy="502920"/>
          </a:xfrm>
          <a:prstGeom prst="ellipse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pic>
        <p:nvPicPr>
          <p:cNvPr id="16" name="icon-476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93608" y="1536192"/>
            <a:ext cx="265176" cy="265176"/>
          </a:xfrm>
          <a:prstGeom prst="rect">
            <a:avLst/>
          </a:prstGeom>
        </p:spPr>
      </p:pic>
      <p:sp>
        <p:nvSpPr>
          <p:cNvPr id="17" name="card-title-477"/>
          <p:cNvSpPr txBox="1"/>
          <p:nvPr/>
        </p:nvSpPr>
        <p:spPr>
          <a:xfrm>
            <a:off x="8796528" y="141732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Logged (Access Log)</a:t>
            </a:r>
            <a:endParaRPr lang="en-US" sz="1800" dirty="0"/>
          </a:p>
        </p:txBody>
      </p:sp>
      <p:sp>
        <p:nvSpPr>
          <p:cNvPr id="18" name="bullets-478"/>
          <p:cNvSpPr txBox="1"/>
          <p:nvPr/>
        </p:nvSpPr>
        <p:spPr>
          <a:xfrm>
            <a:off x="8220456" y="2103120"/>
            <a:ext cx="3246120" cy="3520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chemeClr val="tx1"/>
                </a:solidFill>
              </a:rPr>
              <a:t>Opening and lists viewed (with IDs)</a:t>
            </a:r>
            <a:endParaRPr lang="en-US" sz="15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chemeClr val="tx1"/>
                </a:solidFill>
              </a:rPr>
              <a:t>Leads viewed and edited (old -&gt; new)</a:t>
            </a:r>
            <a:endParaRPr lang="en-US" sz="15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chemeClr val="tx1"/>
                </a:solidFill>
              </a:rPr>
              <a:t>Follow-ups and refused attempts</a:t>
            </a:r>
            <a:endParaRPr lang="en-US" sz="15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chemeClr val="tx1"/>
                </a:solidFill>
              </a:rPr>
              <a:t>Copy in the browser (best effort)</a:t>
            </a:r>
            <a:endParaRPr lang="en-US" sz="15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8C8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286000"/>
            <a:ext cx="10058400" cy="10058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Dashboard reporting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429000"/>
            <a:ext cx="100584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KPIs, reports, charts, filters and refresh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ADCF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51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KPIs (1/2)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CRM - System Guide  |  Dashboard reporting</a:t>
            </a:r>
            <a:endParaRPr lang="en-US" sz="1000" dirty="0"/>
          </a:p>
        </p:txBody>
      </p:sp>
      <p:graphicFrame>
        <p:nvGraphicFramePr>
          <p:cNvPr id="53" name="table-47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91672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6583680"/>
                <a:gridCol w="18562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KPI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Exact definition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 basis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Leads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leads with a Lead ID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Leads Created (Period)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Leads whose Lead Created Date is in the period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 Created Date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Leads Worked (Period)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Unique Lead IDs with at least one Contact or Record Update activity in the period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Activity date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Unique Leads Contacted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Unique Lead IDs with at least one Contact activity in the period (each lead counted once)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Activity date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Follow-Ups Completed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Number of Contact activities in the period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Activity date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Follow-Ups Pending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 leads with a next follow-up date today or later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 of today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8C8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52</a:t>
            </a:fld>
            <a:endParaRPr 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KPIs (2/2)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CRM - System Guide  |  Dashboard reporting</a:t>
            </a:r>
            <a:endParaRPr lang="en-US" sz="1000" dirty="0"/>
          </a:p>
        </p:txBody>
      </p:sp>
      <p:graphicFrame>
        <p:nvGraphicFramePr>
          <p:cNvPr id="54" name="table-48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91672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6583680"/>
                <a:gridCol w="18562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KPI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Exact definition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 basis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Follow-Ups Overdue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 leads whose next follow-up date is before today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 of today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Converted Leads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Leads with Lead Status = Converted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Lost Leads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Leads with Lead Status = Lost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Leads Not Contacted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 leads with no Contact activity ever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Leads With No Activity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Leads with no Contact or Record Update entry ever (unworked)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Conversion Rate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Converted Leads / Total Leads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5" name="note-481"/>
          <p:cNvSpPr txBox="1"/>
          <p:nvPr/>
        </p:nvSpPr>
        <p:spPr>
          <a:xfrm>
            <a:off x="548640" y="49377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6573"/>
                </a:solidFill>
              </a:rPr>
              <a:t>Counsellor filter: lead KPIs use Assigned Counsellor; activity KPIs use the log's Counsellor Name. "Open" = not Converted, Lost or Duplicate.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8C8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53</a:t>
            </a:fld>
            <a:endParaRPr lang="en-US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Reports A-G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CRM - System Guide  |  Dashboard reporting</a:t>
            </a:r>
            <a:endParaRPr lang="en-US" sz="1000" dirty="0"/>
          </a:p>
        </p:txBody>
      </p:sp>
      <p:graphicFrame>
        <p:nvGraphicFramePr>
          <p:cNvPr id="55" name="table-48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9167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7315200"/>
                <a:gridCol w="176479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Report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shows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A. Stage-wise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 stage: current leads, leads worked and follow-ups in period, overdue, converted, % of total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 stages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B. Substage-wise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 stage/substage pair: current leads, leads worked in period, conversions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 pairs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C. Counsellor-wise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Assigned, unique worked, follow-ups, pending, overdue, conversions, rate, not contacted, avg activities per lead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 counsellors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F. Ageing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 leads by age since creation; due/overdue follow-ups by days overdue; leads by status and by source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buckets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G. Exceptions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 unassigned (open) and unworked leads, with totals and the number of flagged leads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 each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D. Daily trend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 day: activities, unique leads contacted, follow-ups completed, conversions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 days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E. Due / overdue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 leads due today or overdue, most overdue first, with Days Overdue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 rows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8C8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54</a:t>
            </a:fld>
            <a:endParaRPr lang="en-US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Charts, filters and refresh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CRM - System Guide  |  Dashboard reporting</a:t>
            </a:r>
            <a:endParaRPr lang="en-US" sz="1000" dirty="0"/>
          </a:p>
        </p:txBody>
      </p:sp>
      <p:graphicFrame>
        <p:nvGraphicFramePr>
          <p:cNvPr id="56" name="table-48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630936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3657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Shows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Leads by Stage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Bars: current leads and leads worked per stage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Counsellor Productivity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Columns: unique leads worked and follow-ups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Daily Activity Trend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Lines: activities, unique contacted, follow-ups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 Distribution by Status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Doughnut of current statuses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 &amp; Follow-Up Ageing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Columns per ageing bucket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 Leads by Substage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Bars per substage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5" name="card-484"/>
          <p:cNvSpPr/>
          <p:nvPr/>
        </p:nvSpPr>
        <p:spPr>
          <a:xfrm>
            <a:off x="7086600" y="1234440"/>
            <a:ext cx="4553712" cy="4480560"/>
          </a:xfrm>
          <a:prstGeom prst="roundRect">
            <a:avLst>
              <a:gd name="adj" fmla="val 1633"/>
            </a:avLst>
          </a:prstGeom>
          <a:solidFill>
            <a:schemeClr val="bg2"/>
          </a:solidFill>
          <a:ln w="9525">
            <a:solidFill>
              <a:srgbClr val="D5DBE5"/>
            </a:solidFill>
            <a:prstDash val="solid"/>
          </a:ln>
        </p:spPr>
      </p:sp>
      <p:sp>
        <p:nvSpPr>
          <p:cNvPr id="6" name="icon-bg-485"/>
          <p:cNvSpPr/>
          <p:nvPr/>
        </p:nvSpPr>
        <p:spPr>
          <a:xfrm>
            <a:off x="7269480" y="1417320"/>
            <a:ext cx="502920" cy="502920"/>
          </a:xfrm>
          <a:prstGeom prst="ellipse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</p:sp>
      <p:pic>
        <p:nvPicPr>
          <p:cNvPr id="7" name="icon-486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88352" y="1536192"/>
            <a:ext cx="265176" cy="265176"/>
          </a:xfrm>
          <a:prstGeom prst="rect">
            <a:avLst/>
          </a:prstGeom>
        </p:spPr>
      </p:pic>
      <p:sp>
        <p:nvSpPr>
          <p:cNvPr id="8" name="card-title-487"/>
          <p:cNvSpPr txBox="1"/>
          <p:nvPr/>
        </p:nvSpPr>
        <p:spPr>
          <a:xfrm>
            <a:off x="7891272" y="1417320"/>
            <a:ext cx="36393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Refresh</a:t>
            </a:r>
            <a:endParaRPr lang="en-US" sz="1800" dirty="0"/>
          </a:p>
        </p:txBody>
      </p:sp>
      <p:sp>
        <p:nvSpPr>
          <p:cNvPr id="9" name="bullets-488"/>
          <p:cNvSpPr txBox="1"/>
          <p:nvPr/>
        </p:nvSpPr>
        <p:spPr>
          <a:xfrm>
            <a:off x="7315200" y="2103120"/>
            <a:ext cx="4142232" cy="3520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chemeClr val="tx1"/>
                </a:solidFill>
              </a:rPr>
              <a:t>When a yellow filter cell changes</a:t>
            </a:r>
            <a:endParaRPr lang="en-US" sz="15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chemeClr val="tx1"/>
                </a:solidFill>
              </a:rPr>
              <a:t>Every hour (automatic)</a:t>
            </a:r>
            <a:endParaRPr lang="en-US" sz="15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chemeClr val="tx1"/>
                </a:solidFill>
              </a:rPr>
              <a:t>Lead CRM &gt; Refresh Dashboard</a:t>
            </a:r>
            <a:endParaRPr lang="en-US" sz="15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chemeClr val="tx1"/>
                </a:solidFill>
              </a:rPr>
              <a:t>Last Refreshed (I5) shows the time; not live in between</a:t>
            </a:r>
            <a:endParaRPr lang="en-US" sz="15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8C8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55</a:t>
            </a:fld>
            <a:endParaRPr lang="en-US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286000"/>
            <a:ext cx="10058400" cy="10058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Audit and security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429000"/>
            <a:ext cx="100584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categories, audit trail, identification, protection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ADCF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56</a:t>
            </a:fld>
            <a:endParaRPr lang="en-US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Activity categories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CRM - System Guide  |  Audit and security</a:t>
            </a:r>
            <a:endParaRPr lang="en-US" sz="1000" dirty="0"/>
          </a:p>
        </p:txBody>
      </p:sp>
      <p:sp>
        <p:nvSpPr>
          <p:cNvPr id="4" name="card-489"/>
          <p:cNvSpPr/>
          <p:nvPr/>
        </p:nvSpPr>
        <p:spPr>
          <a:xfrm>
            <a:off x="548640" y="1234440"/>
            <a:ext cx="3657600" cy="448056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 w="9525">
            <a:solidFill>
              <a:srgbClr val="D5DBE5"/>
            </a:solidFill>
            <a:prstDash val="solid"/>
          </a:ln>
        </p:spPr>
      </p:sp>
      <p:sp>
        <p:nvSpPr>
          <p:cNvPr id="5" name="icon-bg-490"/>
          <p:cNvSpPr/>
          <p:nvPr/>
        </p:nvSpPr>
        <p:spPr>
          <a:xfrm>
            <a:off x="731520" y="1417320"/>
            <a:ext cx="502920" cy="502920"/>
          </a:xfrm>
          <a:prstGeom prst="ellipse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</p:sp>
      <p:pic>
        <p:nvPicPr>
          <p:cNvPr id="6" name="icon-49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" y="1536192"/>
            <a:ext cx="265176" cy="265176"/>
          </a:xfrm>
          <a:prstGeom prst="rect">
            <a:avLst/>
          </a:prstGeom>
        </p:spPr>
      </p:pic>
      <p:sp>
        <p:nvSpPr>
          <p:cNvPr id="7" name="card-title-492"/>
          <p:cNvSpPr txBox="1"/>
          <p:nvPr/>
        </p:nvSpPr>
        <p:spPr>
          <a:xfrm>
            <a:off x="1353312" y="141732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Contact</a:t>
            </a:r>
            <a:endParaRPr lang="en-US" sz="1800" dirty="0"/>
          </a:p>
        </p:txBody>
      </p:sp>
      <p:sp>
        <p:nvSpPr>
          <p:cNvPr id="8" name="bullets-493"/>
          <p:cNvSpPr txBox="1"/>
          <p:nvPr/>
        </p:nvSpPr>
        <p:spPr>
          <a:xfrm>
            <a:off x="777240" y="2103120"/>
            <a:ext cx="3246120" cy="3520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chemeClr val="tx1"/>
                </a:solidFill>
              </a:rPr>
              <a:t>A real call, message, email or meeting</a:t>
            </a:r>
            <a:endParaRPr lang="en-US" sz="15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chemeClr val="tx1"/>
                </a:solidFill>
              </a:rPr>
              <a:t>Counts as a follow-up</a:t>
            </a:r>
            <a:endParaRPr lang="en-US" sz="15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chemeClr val="tx1"/>
                </a:solidFill>
              </a:rPr>
              <a:t>Updates Last Contact Date and Follow-Up Count</a:t>
            </a:r>
            <a:endParaRPr lang="en-US" sz="1550" dirty="0"/>
          </a:p>
        </p:txBody>
      </p:sp>
      <p:sp>
        <p:nvSpPr>
          <p:cNvPr id="9" name="card-494"/>
          <p:cNvSpPr/>
          <p:nvPr/>
        </p:nvSpPr>
        <p:spPr>
          <a:xfrm>
            <a:off x="4270248" y="1234440"/>
            <a:ext cx="3657600" cy="448056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 w="9525">
            <a:solidFill>
              <a:srgbClr val="D5DBE5"/>
            </a:solidFill>
            <a:prstDash val="solid"/>
          </a:ln>
        </p:spPr>
      </p:sp>
      <p:sp>
        <p:nvSpPr>
          <p:cNvPr id="10" name="icon-bg-495"/>
          <p:cNvSpPr/>
          <p:nvPr/>
        </p:nvSpPr>
        <p:spPr>
          <a:xfrm>
            <a:off x="4453128" y="1417320"/>
            <a:ext cx="502920" cy="502920"/>
          </a:xfrm>
          <a:prstGeom prst="ellipse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pic>
        <p:nvPicPr>
          <p:cNvPr id="11" name="icon-496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536192"/>
            <a:ext cx="265176" cy="265176"/>
          </a:xfrm>
          <a:prstGeom prst="rect">
            <a:avLst/>
          </a:prstGeom>
        </p:spPr>
      </p:pic>
      <p:sp>
        <p:nvSpPr>
          <p:cNvPr id="12" name="card-title-497"/>
          <p:cNvSpPr txBox="1"/>
          <p:nvPr/>
        </p:nvSpPr>
        <p:spPr>
          <a:xfrm>
            <a:off x="5074920" y="141732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Record Update</a:t>
            </a:r>
            <a:endParaRPr lang="en-US" sz="1800" dirty="0"/>
          </a:p>
        </p:txBody>
      </p:sp>
      <p:sp>
        <p:nvSpPr>
          <p:cNvPr id="13" name="bullets-498"/>
          <p:cNvSpPr txBox="1"/>
          <p:nvPr/>
        </p:nvSpPr>
        <p:spPr>
          <a:xfrm>
            <a:off x="4498848" y="2103120"/>
            <a:ext cx="3246120" cy="3520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chemeClr val="tx1"/>
                </a:solidFill>
              </a:rPr>
              <a:t>A change to the lead: stage, owner, status, next date</a:t>
            </a:r>
            <a:endParaRPr lang="en-US" sz="15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chemeClr val="tx1"/>
                </a:solidFill>
              </a:rPr>
              <a:t>Counts as "worked", not as a follow-up</a:t>
            </a:r>
            <a:endParaRPr lang="en-US" sz="1550" dirty="0"/>
          </a:p>
        </p:txBody>
      </p:sp>
      <p:sp>
        <p:nvSpPr>
          <p:cNvPr id="14" name="card-499"/>
          <p:cNvSpPr/>
          <p:nvPr/>
        </p:nvSpPr>
        <p:spPr>
          <a:xfrm>
            <a:off x="7991856" y="1234440"/>
            <a:ext cx="3657600" cy="448056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 w="9525">
            <a:solidFill>
              <a:srgbClr val="D5DBE5"/>
            </a:solidFill>
            <a:prstDash val="solid"/>
          </a:ln>
        </p:spPr>
      </p:sp>
      <p:sp>
        <p:nvSpPr>
          <p:cNvPr id="15" name="icon-bg-500"/>
          <p:cNvSpPr/>
          <p:nvPr/>
        </p:nvSpPr>
        <p:spPr>
          <a:xfrm>
            <a:off x="8174736" y="1417320"/>
            <a:ext cx="502920" cy="502920"/>
          </a:xfrm>
          <a:prstGeom prst="ellipse">
            <a:avLst/>
          </a:prstGeom>
          <a:solidFill>
            <a:srgbClr val="7F8C8D"/>
          </a:solidFill>
          <a:ln w="12700">
            <a:solidFill>
              <a:srgbClr val="7F8C8D"/>
            </a:solidFill>
            <a:prstDash val="solid"/>
          </a:ln>
        </p:spPr>
      </p:sp>
      <p:pic>
        <p:nvPicPr>
          <p:cNvPr id="16" name="icon-50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93608" y="1536192"/>
            <a:ext cx="265176" cy="265176"/>
          </a:xfrm>
          <a:prstGeom prst="rect">
            <a:avLst/>
          </a:prstGeom>
        </p:spPr>
      </p:pic>
      <p:sp>
        <p:nvSpPr>
          <p:cNvPr id="17" name="card-title-502"/>
          <p:cNvSpPr txBox="1"/>
          <p:nvPr/>
        </p:nvSpPr>
        <p:spPr>
          <a:xfrm>
            <a:off x="8796528" y="141732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System</a:t>
            </a:r>
            <a:endParaRPr lang="en-US" sz="1800" dirty="0"/>
          </a:p>
        </p:txBody>
      </p:sp>
      <p:sp>
        <p:nvSpPr>
          <p:cNvPr id="18" name="bullets-503"/>
          <p:cNvSpPr txBox="1"/>
          <p:nvPr/>
        </p:nvSpPr>
        <p:spPr>
          <a:xfrm>
            <a:off x="8220456" y="2103120"/>
            <a:ext cx="3246120" cy="3520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chemeClr val="tx1"/>
                </a:solidFill>
              </a:rPr>
              <a:t>Done automatically by the script</a:t>
            </a:r>
            <a:endParaRPr lang="en-US" sz="15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chemeClr val="tx1"/>
                </a:solidFill>
              </a:rPr>
              <a:t>Lead Created, Substage Cleared, automatic status, Log Edited</a:t>
            </a:r>
            <a:endParaRPr lang="en-US" sz="15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chemeClr val="tx1"/>
                </a:solidFill>
              </a:rPr>
              <a:t>Not counted as activity</a:t>
            </a:r>
            <a:endParaRPr lang="en-US" sz="15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8C8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57</a:t>
            </a:fld>
            <a:endParaRPr lang="en-US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audit trail records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CRM - System Guide  |  Audit and security</a:t>
            </a:r>
            <a:endParaRPr lang="en-US" sz="1000" dirty="0"/>
          </a:p>
        </p:txBody>
      </p:sp>
      <p:graphicFrame>
        <p:nvGraphicFramePr>
          <p:cNvPr id="59" name="table-50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6583680"/>
                <a:gridCol w="213055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entry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 Created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new lead gets its ID (summary of owner, stage, status)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 Assigned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Assigned Counsellor changes (old -&gt; new)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Record Update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Updated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or substage changes (old -&gt; new)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Record Update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Substage Cleared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Substage removed because the stage changed or it did not fit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 Updated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 Status changes (System when set automatically from the stage)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Record Update / System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Follow-Up Scheduled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 Follow-Up Date changed in the sheet or web app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Record Update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Edited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Someone edited the Follow-Up Log by hand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note-505"/>
          <p:cNvSpPr txBox="1"/>
          <p:nvPr/>
        </p:nvSpPr>
        <p:spPr>
          <a:xfrm>
            <a:off x="548640" y="525780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6573"/>
                </a:solidFill>
              </a:rPr>
              <a:t>Audit rows fill Field Changed, Old Value, New Value and Lead Owner at Time (columns N-Q).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8C8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58</a:t>
            </a:fld>
            <a:endParaRPr lang="en-US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Access Log actions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CRM - System Guide  |  Audit and security</a:t>
            </a:r>
            <a:endParaRPr lang="en-US" sz="1000" dirty="0"/>
          </a:p>
        </p:txBody>
      </p:sp>
      <p:graphicFrame>
        <p:nvGraphicFramePr>
          <p:cNvPr id="60" name="table-50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91672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79827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Written when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Portal Opened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Someone allowed signs in to the web app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Leads Listed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list is shown (filter, search and the Lead IDs shown)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 Viewed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lead page is opened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 Updated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Fields are saved (each field: old -&gt; new)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Follow-Up Logged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follow-up is saved (with Activity ID)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Access Denied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Unknown or inactive account, or someone else's lead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Copy In Browser (reported)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 copied in the web app (best effort, max once per 30 s)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Spreadsheet Opened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master sheet is opened (by a registered user)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8C8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59</a:t>
            </a:fld>
            <a:endParaRPr lang="en-US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users are identified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CRM - System Guide  |  Audit and security</a:t>
            </a:r>
            <a:endParaRPr lang="en-US" sz="1000" dirty="0"/>
          </a:p>
        </p:txBody>
      </p:sp>
      <p:sp>
        <p:nvSpPr>
          <p:cNvPr id="4" name="card-507"/>
          <p:cNvSpPr/>
          <p:nvPr/>
        </p:nvSpPr>
        <p:spPr>
          <a:xfrm>
            <a:off x="548640" y="1234440"/>
            <a:ext cx="3657600" cy="448056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 w="9525">
            <a:solidFill>
              <a:srgbClr val="D5DBE5"/>
            </a:solidFill>
            <a:prstDash val="solid"/>
          </a:ln>
        </p:spPr>
      </p:sp>
      <p:sp>
        <p:nvSpPr>
          <p:cNvPr id="5" name="icon-bg-508"/>
          <p:cNvSpPr/>
          <p:nvPr/>
        </p:nvSpPr>
        <p:spPr>
          <a:xfrm>
            <a:off x="731520" y="1417320"/>
            <a:ext cx="502920" cy="502920"/>
          </a:xfrm>
          <a:prstGeom prst="ellipse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pic>
        <p:nvPicPr>
          <p:cNvPr id="6" name="icon-509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" y="1536192"/>
            <a:ext cx="265176" cy="265176"/>
          </a:xfrm>
          <a:prstGeom prst="rect">
            <a:avLst/>
          </a:prstGeom>
        </p:spPr>
      </p:pic>
      <p:sp>
        <p:nvSpPr>
          <p:cNvPr id="7" name="card-title-510"/>
          <p:cNvSpPr txBox="1"/>
          <p:nvPr/>
        </p:nvSpPr>
        <p:spPr>
          <a:xfrm>
            <a:off x="1353312" y="141732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Web app</a:t>
            </a:r>
            <a:endParaRPr lang="en-US" sz="1800" dirty="0"/>
          </a:p>
        </p:txBody>
      </p:sp>
      <p:sp>
        <p:nvSpPr>
          <p:cNvPr id="8" name="bullets-511"/>
          <p:cNvSpPr txBox="1"/>
          <p:nvPr/>
        </p:nvSpPr>
        <p:spPr>
          <a:xfrm>
            <a:off x="777240" y="2103120"/>
            <a:ext cx="3246120" cy="3520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chemeClr val="tx1"/>
                </a:solidFill>
              </a:rPr>
              <a:t>Sign-in app reads the Google-verified email</a:t>
            </a:r>
            <a:endParaRPr lang="en-US" sz="15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chemeClr val="tx1"/>
                </a:solidFill>
              </a:rPr>
              <a:t>Signed pass, 5 minutes, used once</a:t>
            </a:r>
            <a:endParaRPr lang="en-US" sz="15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chemeClr val="tx1"/>
                </a:solidFill>
              </a:rPr>
              <a:t>Fully reliable for any Google account</a:t>
            </a:r>
            <a:endParaRPr lang="en-US" sz="1550" dirty="0"/>
          </a:p>
        </p:txBody>
      </p:sp>
      <p:sp>
        <p:nvSpPr>
          <p:cNvPr id="9" name="card-512"/>
          <p:cNvSpPr/>
          <p:nvPr/>
        </p:nvSpPr>
        <p:spPr>
          <a:xfrm>
            <a:off x="4270248" y="1234440"/>
            <a:ext cx="3657600" cy="448056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 w="9525">
            <a:solidFill>
              <a:srgbClr val="D5DBE5"/>
            </a:solidFill>
            <a:prstDash val="solid"/>
          </a:ln>
        </p:spPr>
      </p:sp>
      <p:sp>
        <p:nvSpPr>
          <p:cNvPr id="10" name="icon-bg-513"/>
          <p:cNvSpPr/>
          <p:nvPr/>
        </p:nvSpPr>
        <p:spPr>
          <a:xfrm>
            <a:off x="4453128" y="1417320"/>
            <a:ext cx="502920" cy="502920"/>
          </a:xfrm>
          <a:prstGeom prst="ellipse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pic>
        <p:nvPicPr>
          <p:cNvPr id="11" name="icon-514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536192"/>
            <a:ext cx="265176" cy="265176"/>
          </a:xfrm>
          <a:prstGeom prst="rect">
            <a:avLst/>
          </a:prstGeom>
        </p:spPr>
      </p:pic>
      <p:sp>
        <p:nvSpPr>
          <p:cNvPr id="12" name="card-title-515"/>
          <p:cNvSpPr txBox="1"/>
          <p:nvPr/>
        </p:nvSpPr>
        <p:spPr>
          <a:xfrm>
            <a:off x="5074920" y="141732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Edits in the sheet</a:t>
            </a:r>
            <a:endParaRPr lang="en-US" sz="1800" dirty="0"/>
          </a:p>
        </p:txBody>
      </p:sp>
      <p:sp>
        <p:nvSpPr>
          <p:cNvPr id="13" name="bullets-516"/>
          <p:cNvSpPr txBox="1"/>
          <p:nvPr/>
        </p:nvSpPr>
        <p:spPr>
          <a:xfrm>
            <a:off x="4498848" y="2103120"/>
            <a:ext cx="3246120" cy="3520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chemeClr val="tx1"/>
                </a:solidFill>
              </a:rPr>
              <a:t>Google hides other people's emails from the owner's trigger</a:t>
            </a:r>
            <a:endParaRPr lang="en-US" sz="15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chemeClr val="tx1"/>
                </a:solidFill>
              </a:rPr>
              <a:t>A per-person key is passed between the two edit triggers</a:t>
            </a:r>
            <a:endParaRPr lang="en-US" sz="15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chemeClr val="tx1"/>
                </a:solidFill>
              </a:rPr>
              <a:t>Mapped to the email they registered</a:t>
            </a:r>
            <a:endParaRPr lang="en-US" sz="1550" dirty="0"/>
          </a:p>
        </p:txBody>
      </p:sp>
      <p:sp>
        <p:nvSpPr>
          <p:cNvPr id="14" name="card-517"/>
          <p:cNvSpPr/>
          <p:nvPr/>
        </p:nvSpPr>
        <p:spPr>
          <a:xfrm>
            <a:off x="7991856" y="1234440"/>
            <a:ext cx="3657600" cy="448056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 w="9525">
            <a:solidFill>
              <a:srgbClr val="D5DBE5"/>
            </a:solidFill>
            <a:prstDash val="solid"/>
          </a:ln>
        </p:spPr>
      </p:sp>
      <p:sp>
        <p:nvSpPr>
          <p:cNvPr id="15" name="icon-bg-518"/>
          <p:cNvSpPr/>
          <p:nvPr/>
        </p:nvSpPr>
        <p:spPr>
          <a:xfrm>
            <a:off x="8174736" y="1417320"/>
            <a:ext cx="502920" cy="502920"/>
          </a:xfrm>
          <a:prstGeom prst="ellipse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</p:sp>
      <p:pic>
        <p:nvPicPr>
          <p:cNvPr id="16" name="icon-519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93608" y="1536192"/>
            <a:ext cx="265176" cy="265176"/>
          </a:xfrm>
          <a:prstGeom prst="rect">
            <a:avLst/>
          </a:prstGeom>
        </p:spPr>
      </p:pic>
      <p:sp>
        <p:nvSpPr>
          <p:cNvPr id="17" name="card-title-520"/>
          <p:cNvSpPr txBox="1"/>
          <p:nvPr/>
        </p:nvSpPr>
        <p:spPr>
          <a:xfrm>
            <a:off x="8796528" y="141732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Registration</a:t>
            </a:r>
            <a:endParaRPr lang="en-US" sz="1800" dirty="0"/>
          </a:p>
        </p:txBody>
      </p:sp>
      <p:sp>
        <p:nvSpPr>
          <p:cNvPr id="18" name="bullets-521"/>
          <p:cNvSpPr txBox="1"/>
          <p:nvPr/>
        </p:nvSpPr>
        <p:spPr>
          <a:xfrm>
            <a:off x="8220456" y="2103120"/>
            <a:ext cx="3246120" cy="3520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chemeClr val="tx1"/>
                </a:solidFill>
              </a:rPr>
              <a:t>Happens when someone uses the Lead CRM menu</a:t>
            </a:r>
            <a:endParaRPr lang="en-US" sz="15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chemeClr val="tx1"/>
                </a:solidFill>
              </a:rPr>
              <a:t>Google renews the key every 30 days</a:t>
            </a:r>
            <a:endParaRPr lang="en-US" sz="15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chemeClr val="tx1"/>
                </a:solidFill>
              </a:rPr>
              <a:t>Not registered = "Unidentified user" (edit still saved)</a:t>
            </a:r>
            <a:endParaRPr lang="en-US" sz="15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8C8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60</a:t>
            </a:fld>
            <a:endParaRPr lang="en-US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Protected and logged - and what is not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CRM - System Guide  |  Audit and security</a:t>
            </a:r>
            <a:endParaRPr lang="en-US" sz="1000" dirty="0"/>
          </a:p>
        </p:txBody>
      </p:sp>
      <p:sp>
        <p:nvSpPr>
          <p:cNvPr id="4" name="card-522"/>
          <p:cNvSpPr/>
          <p:nvPr/>
        </p:nvSpPr>
        <p:spPr>
          <a:xfrm>
            <a:off x="548640" y="1234440"/>
            <a:ext cx="5486400" cy="4480560"/>
          </a:xfrm>
          <a:prstGeom prst="roundRect">
            <a:avLst>
              <a:gd name="adj" fmla="val 1633"/>
            </a:avLst>
          </a:prstGeom>
          <a:solidFill>
            <a:schemeClr val="bg2"/>
          </a:solidFill>
          <a:ln w="9525">
            <a:solidFill>
              <a:srgbClr val="D5DBE5"/>
            </a:solidFill>
            <a:prstDash val="solid"/>
          </a:ln>
        </p:spPr>
      </p:sp>
      <p:sp>
        <p:nvSpPr>
          <p:cNvPr id="5" name="icon-bg-523"/>
          <p:cNvSpPr/>
          <p:nvPr/>
        </p:nvSpPr>
        <p:spPr>
          <a:xfrm>
            <a:off x="731520" y="1417320"/>
            <a:ext cx="502920" cy="502920"/>
          </a:xfrm>
          <a:prstGeom prst="ellipse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</p:sp>
      <p:pic>
        <p:nvPicPr>
          <p:cNvPr id="6" name="icon-524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" y="1536192"/>
            <a:ext cx="265176" cy="265176"/>
          </a:xfrm>
          <a:prstGeom prst="rect">
            <a:avLst/>
          </a:prstGeom>
        </p:spPr>
      </p:pic>
      <p:sp>
        <p:nvSpPr>
          <p:cNvPr id="7" name="card-title-525"/>
          <p:cNvSpPr txBox="1"/>
          <p:nvPr/>
        </p:nvSpPr>
        <p:spPr>
          <a:xfrm>
            <a:off x="1353312" y="141732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Protected and logged</a:t>
            </a:r>
            <a:endParaRPr lang="en-US" sz="1800" dirty="0"/>
          </a:p>
        </p:txBody>
      </p:sp>
      <p:sp>
        <p:nvSpPr>
          <p:cNvPr id="8" name="bullets-526"/>
          <p:cNvSpPr txBox="1"/>
          <p:nvPr/>
        </p:nvSpPr>
        <p:spPr>
          <a:xfrm>
            <a:off x="777240" y="2103120"/>
            <a:ext cx="5074920" cy="3520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chemeClr val="tx1"/>
                </a:solidFill>
              </a:rPr>
              <a:t>Strict: header row, locked columns, Follow-Up Log, master sheets, settings, Access Log, Dashboard (except filters)</a:t>
            </a:r>
            <a:endParaRPr lang="en-US" sz="15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chemeClr val="tx1"/>
                </a:solidFill>
              </a:rPr>
              <a:t>Web app checks every request on the server</a:t>
            </a:r>
            <a:endParaRPr lang="en-US" sz="15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chemeClr val="tx1"/>
                </a:solidFill>
              </a:rPr>
              <a:t>Every web app view and edit is logged</a:t>
            </a:r>
            <a:endParaRPr lang="en-US" sz="15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chemeClr val="tx1"/>
                </a:solidFill>
              </a:rPr>
              <a:t>Every important field change is audited</a:t>
            </a:r>
            <a:endParaRPr lang="en-US" sz="1550" dirty="0"/>
          </a:p>
        </p:txBody>
      </p:sp>
      <p:sp>
        <p:nvSpPr>
          <p:cNvPr id="9" name="card-527"/>
          <p:cNvSpPr/>
          <p:nvPr/>
        </p:nvSpPr>
        <p:spPr>
          <a:xfrm>
            <a:off x="6172200" y="1234440"/>
            <a:ext cx="5486400" cy="4480560"/>
          </a:xfrm>
          <a:prstGeom prst="roundRect">
            <a:avLst>
              <a:gd name="adj" fmla="val 1633"/>
            </a:avLst>
          </a:prstGeom>
          <a:solidFill>
            <a:schemeClr val="bg2"/>
          </a:solidFill>
          <a:ln w="9525">
            <a:solidFill>
              <a:srgbClr val="D5DBE5"/>
            </a:solidFill>
            <a:prstDash val="solid"/>
          </a:ln>
        </p:spPr>
      </p:sp>
      <p:sp>
        <p:nvSpPr>
          <p:cNvPr id="10" name="icon-bg-528"/>
          <p:cNvSpPr/>
          <p:nvPr/>
        </p:nvSpPr>
        <p:spPr>
          <a:xfrm>
            <a:off x="6355080" y="1417320"/>
            <a:ext cx="502920" cy="50292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pic>
        <p:nvPicPr>
          <p:cNvPr id="11" name="icon-529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3952" y="1536192"/>
            <a:ext cx="265176" cy="265176"/>
          </a:xfrm>
          <a:prstGeom prst="rect">
            <a:avLst/>
          </a:prstGeom>
        </p:spPr>
      </p:pic>
      <p:sp>
        <p:nvSpPr>
          <p:cNvPr id="12" name="card-title-530"/>
          <p:cNvSpPr txBox="1"/>
          <p:nvPr/>
        </p:nvSpPr>
        <p:spPr>
          <a:xfrm>
            <a:off x="6976872" y="141732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Not protected or not logged</a:t>
            </a:r>
            <a:endParaRPr lang="en-US" sz="1800" dirty="0"/>
          </a:p>
        </p:txBody>
      </p:sp>
      <p:sp>
        <p:nvSpPr>
          <p:cNvPr id="13" name="bullets-531"/>
          <p:cNvSpPr txBox="1"/>
          <p:nvPr/>
        </p:nvSpPr>
        <p:spPr>
          <a:xfrm>
            <a:off x="6400800" y="2103120"/>
            <a:ext cx="5074920" cy="3520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chemeClr val="tx1"/>
                </a:solidFill>
              </a:rPr>
              <a:t>Anyone with sheet access can download, copy or print it all</a:t>
            </a:r>
            <a:endParaRPr lang="en-US" sz="15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chemeClr val="tx1"/>
                </a:solidFill>
              </a:rPr>
              <a:t>With a personal Gmail owner, downloads and copies cannot be logged</a:t>
            </a:r>
            <a:endParaRPr lang="en-US" sz="15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chemeClr val="tx1"/>
                </a:solidFill>
              </a:rPr>
              <a:t>Screenshots and photos cannot be detected</a:t>
            </a:r>
            <a:endParaRPr lang="en-US" sz="15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chemeClr val="tx1"/>
                </a:solidFill>
              </a:rPr>
              <a:t>Protection is a safeguard, not secrecy: keep counsellors off the sheet</a:t>
            </a:r>
            <a:endParaRPr lang="en-US" sz="15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8C8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61</a:t>
            </a:fld>
            <a:endParaRPr lang="en-US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286000"/>
            <a:ext cx="10058400" cy="10058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Lead CRM menu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429000"/>
            <a:ext cx="100584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menu item and what it does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ADCF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62</a:t>
            </a:fld>
            <a:endParaRPr lang="en-US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Lead CRM menu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CRM - System Guide  |  Lead CRM menu</a:t>
            </a:r>
            <a:endParaRPr lang="en-US" sz="1000" dirty="0"/>
          </a:p>
        </p:txBody>
      </p:sp>
      <p:graphicFrame>
        <p:nvGraphicFramePr>
          <p:cNvPr id="64" name="table-5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91672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78912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Menu item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Follow-Up...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Admins: follow-up sidebar. Counsellors: button to the web app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 to Lead...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 a lead by ID or mobile and jump to its row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Views (shared filter)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My follow-ups due, all overdue, due today, unassigned, unworked, flagged; Clear view filters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Refresh Dashboard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Recalculate the Dashboard now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 counsellor web app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Show the counsellor link to share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 / Remove custom field...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Show or hide a custom-field slot (admins)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Refresh substage dropdowns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Rebuild every row's substage list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Identify me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Show who the CRM thinks you are; registers you for edit tracking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Help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Short quick guide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8C8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63</a:t>
            </a:fld>
            <a:endParaRPr lang="en-US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Admin menu (1/2)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CRM - System Guide  |  Lead CRM menu</a:t>
            </a:r>
            <a:endParaRPr lang="en-US" sz="1000" dirty="0"/>
          </a:p>
        </p:txBody>
      </p:sp>
      <p:graphicFrame>
        <p:nvGraphicFramePr>
          <p:cNvPr id="65" name="table-53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91672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68854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 item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 up / repair workbook (10,000 rows)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 or repair the workbook in stages; keeps all data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Quick test setup (1,000 rows)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Same, with 1,000 lead rows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Restart setup from the first stage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Forget saved setup progress (data untouched)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 imported / pasted leads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Give IDs, dates, defaults and audit to every row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Extend Lead Management by 5,000 rows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 rows with validation, colours and protection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Reapply protections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Apply admin list and locks again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Recalculate ID counters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Continue IDs after the highest one still present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 installable edit trigger + strict locking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 mode: owner trigger, strict locks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8C8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64</a:t>
            </a:fld>
            <a:endParaRPr lang="en-US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Admin menu (2/2)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CRM - System Guide  |  Lead CRM menu</a:t>
            </a:r>
            <a:endParaRPr lang="en-US" sz="1000" dirty="0"/>
          </a:p>
        </p:txBody>
      </p:sp>
      <p:graphicFrame>
        <p:nvGraphicFramePr>
          <p:cNvPr id="66" name="table-53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91672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68854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 item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 legacy simple edit trigger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Old mode: locks become warning-only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Recalculate data-quality flags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Rewrite flags for every lead now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Web app sign-in setup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Create the shared secret; save the sign-in app link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 counsellor web app URL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Save the web app link if not detected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Enable / Disable daily email reminders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Turn the daily list of due leads per counsellor on or off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Send reminders now (test)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Send today's reminders immediately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 health check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 sheets, formulas, triggers, counters, identity, locks, web app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8C8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65</a:t>
            </a:fld>
            <a:endParaRPr lang="en-US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286000"/>
            <a:ext cx="10058400" cy="10058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 and troubleshooting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429000"/>
            <a:ext cx="100584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limits and the most common fixes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ADCF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66</a:t>
            </a:fld>
            <a:endParaRPr lang="en-US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Main limitations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CRM - System Guide  |  Limitations and troubleshooting</a:t>
            </a:r>
            <a:endParaRPr lang="en-US" sz="1000" dirty="0"/>
          </a:p>
        </p:txBody>
      </p:sp>
      <p:sp>
        <p:nvSpPr>
          <p:cNvPr id="4" name="bullets-535"/>
          <p:cNvSpPr txBox="1"/>
          <p:nvPr/>
        </p:nvSpPr>
        <p:spPr>
          <a:xfrm>
            <a:off x="548640" y="1280160"/>
            <a:ext cx="6949440" cy="4572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Dashboard and data-quality flags are not live: up to 1 hour old (see Last Refreshed)</a:t>
            </a:r>
            <a:endParaRPr lang="en-US" sz="17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Sheet editors who never used the menu show as "Unidentified user"</a:t>
            </a:r>
            <a:endParaRPr lang="en-US" sz="17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Downloads, copies and screenshots cannot be logged with a personal Gmail owner</a:t>
            </a:r>
            <a:endParaRPr lang="en-US" sz="17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Counsellors in the sheet cannot sort (locked columns); use personal filter views</a:t>
            </a:r>
            <a:endParaRPr lang="en-US" sz="17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Fixed report space: 25 stages, 80 pairs, 40 counsellors, 62 days, 500 overdue rows</a:t>
            </a:r>
            <a:endParaRPr lang="en-US" sz="17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Never insert, delete or move columns; maximum 10 custom fields</a:t>
            </a:r>
            <a:endParaRPr lang="en-US" sz="1700" dirty="0"/>
          </a:p>
        </p:txBody>
      </p:sp>
      <p:sp>
        <p:nvSpPr>
          <p:cNvPr id="5" name="card-536"/>
          <p:cNvSpPr/>
          <p:nvPr/>
        </p:nvSpPr>
        <p:spPr>
          <a:xfrm>
            <a:off x="7680960" y="1280160"/>
            <a:ext cx="3959352" cy="4206240"/>
          </a:xfrm>
          <a:prstGeom prst="roundRect">
            <a:avLst>
              <a:gd name="adj" fmla="val 1848"/>
            </a:avLst>
          </a:prstGeom>
          <a:solidFill>
            <a:schemeClr val="bg2"/>
          </a:solidFill>
          <a:ln w="9525">
            <a:solidFill>
              <a:srgbClr val="D5DBE5"/>
            </a:solidFill>
            <a:prstDash val="solid"/>
          </a:ln>
        </p:spPr>
      </p:sp>
      <p:sp>
        <p:nvSpPr>
          <p:cNvPr id="6" name="icon-bg-537"/>
          <p:cNvSpPr/>
          <p:nvPr/>
        </p:nvSpPr>
        <p:spPr>
          <a:xfrm>
            <a:off x="7863840" y="1463040"/>
            <a:ext cx="502920" cy="502920"/>
          </a:xfrm>
          <a:prstGeom prst="ellipse">
            <a:avLst/>
          </a:prstGeom>
          <a:solidFill>
            <a:srgbClr val="7F8C8D"/>
          </a:solidFill>
          <a:ln w="12700">
            <a:solidFill>
              <a:srgbClr val="7F8C8D"/>
            </a:solidFill>
            <a:prstDash val="solid"/>
          </a:ln>
        </p:spPr>
      </p:sp>
      <p:pic>
        <p:nvPicPr>
          <p:cNvPr id="7" name="icon-538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82712" y="1581912"/>
            <a:ext cx="265176" cy="265176"/>
          </a:xfrm>
          <a:prstGeom prst="rect">
            <a:avLst/>
          </a:prstGeom>
        </p:spPr>
      </p:pic>
      <p:sp>
        <p:nvSpPr>
          <p:cNvPr id="8" name="card-title-539"/>
          <p:cNvSpPr txBox="1"/>
          <p:nvPr/>
        </p:nvSpPr>
        <p:spPr>
          <a:xfrm>
            <a:off x="8485632" y="1463040"/>
            <a:ext cx="30449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Also</a:t>
            </a:r>
            <a:endParaRPr lang="en-US" sz="1800" dirty="0"/>
          </a:p>
        </p:txBody>
      </p:sp>
      <p:sp>
        <p:nvSpPr>
          <p:cNvPr id="9" name="bullets-540"/>
          <p:cNvSpPr txBox="1"/>
          <p:nvPr/>
        </p:nvSpPr>
        <p:spPr>
          <a:xfrm>
            <a:off x="7909560" y="2148840"/>
            <a:ext cx="3547872" cy="3246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chemeClr val="tx1"/>
                </a:solidFill>
              </a:rPr>
              <a:t>Web app sessions last 6 hours</a:t>
            </a:r>
            <a:endParaRPr lang="en-US" sz="15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chemeClr val="tx1"/>
                </a:solidFill>
              </a:rPr>
              <a:t>Reminders: about 100 emails a day</a:t>
            </a:r>
            <a:endParaRPr lang="en-US" sz="15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chemeClr val="tx1"/>
                </a:solidFill>
              </a:rPr>
              <a:t>Lead IDs are unique but may skip numbers</a:t>
            </a:r>
            <a:endParaRPr lang="en-US" sz="15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8C8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67</a:t>
            </a:fld>
            <a:endParaRPr lang="en-US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Troubleshooting: top issues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CRM - System Guide  |  Limitations and troubleshooting</a:t>
            </a:r>
            <a:endParaRPr lang="en-US" sz="1000" dirty="0"/>
          </a:p>
        </p:txBody>
      </p:sp>
      <p:graphicFrame>
        <p:nvGraphicFramePr>
          <p:cNvPr id="69" name="table-54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91672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68854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Problem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Setup says "NOT finished yet"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 setupWorkbook again (use Run, not Debug)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Substage list shows the old stage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 CRM &gt; Refresh substage dropdowns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row has no Lead ID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 &gt; Process imported / pasted leads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"Unidentified user" in Last Updated By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That person runs Lead CRM &gt; Identify me once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Web app: "Access denied"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 the exact email shown, Active, to Counsellor Master (or Admin Emails)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"Sign-in link expired" / "Please sign in"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 the counsellor link (sign-in app), not the main app address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 numbers look old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 a filter or Lead CRM &gt; Refresh Dashboard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8C8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68</a:t>
            </a:fld>
            <a:endParaRPr lang="en-US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286000"/>
            <a:ext cx="10058400" cy="10058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Glossary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429000"/>
            <a:ext cx="100584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Terms used in this guide and in the CRM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ADCF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69</a:t>
            </a:fld>
            <a:endParaRPr lang="en-US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Glossary (1/2)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CRM - System Guide  |  Glossary</a:t>
            </a:r>
            <a:endParaRPr lang="en-US" sz="1000" dirty="0"/>
          </a:p>
        </p:txBody>
      </p:sp>
      <p:graphicFrame>
        <p:nvGraphicFramePr>
          <p:cNvPr id="71" name="table-54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7142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 ID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Permanent unique number of a lead (LD-000001); never reused or changed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Main step of the lead in your process (e.g. Interested)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Substage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Finer step that belongs to exactly one stage (e.g. Details Shared)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Follow-Up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Contact activity: a call, message, email or meeting logged in the Follow-Up Log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Worked lead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lead with at least one Contact or Record Update activity in the period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Unique lead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Each lead counted once, however many activities it had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 lead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 Status is not Converted, Lost or Duplicate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8C8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70</a:t>
            </a:fld>
            <a:endParaRPr lang="en-US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Glossary (2/2)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CRM - System Guide  |  Glossary</a:t>
            </a:r>
            <a:endParaRPr lang="en-US" sz="1000" dirty="0"/>
          </a:p>
        </p:txBody>
      </p:sp>
      <p:graphicFrame>
        <p:nvGraphicFramePr>
          <p:cNvPr id="72" name="table-54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7142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Overdue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 lead whose Next Follow-Up Date is before today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Due today / Upcoming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 date is today / within the upcoming window (3 days by default)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Ageing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Days since the lead was created (or days a follow-up is overdue), grouped in buckets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Locked field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Column counsellors cannot edit; shown in grey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 trail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Automatic log rows that record who changed what, old and new value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Activity category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Contact, Record Update or System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Counsellor link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1B26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Address of the sign-in app that counsellors open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8C8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ead CRM">
  <a:themeElements>
    <a:clrScheme name="Lead CRM">
      <a:dk1>
        <a:srgbClr val="1B2631"/>
      </a:dk1>
      <a:lt1>
        <a:srgbClr val="FFFFFF"/>
      </a:lt1>
      <a:dk2>
        <a:srgbClr val="1F3864"/>
      </a:dk2>
      <a:lt2>
        <a:srgbClr val="EEF2F7"/>
      </a:lt2>
      <a:accent1>
        <a:srgbClr val="1F3864"/>
      </a:accent1>
      <a:accent2>
        <a:srgbClr val="117A65"/>
      </a:accent2>
      <a:accent3>
        <a:srgbClr val="E67E22"/>
      </a:accent3>
      <a:accent4>
        <a:srgbClr val="C0392B"/>
      </a:accent4>
      <a:accent5>
        <a:srgbClr val="7F8C8D"/>
      </a:accent5>
      <a:accent6>
        <a:srgbClr val="5B2C6F"/>
      </a:accent6>
      <a:hlink>
        <a:srgbClr val="2E75B6"/>
      </a:hlink>
      <a:folHlink>
        <a:srgbClr val="5B2C6F"/>
      </a:folHlink>
    </a:clrScheme>
    <a:fontScheme name="Lead CRM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71</Slides>
  <Notes>71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71</vt:i4>
      </vt:variant>
    </vt:vector>
  </HeadingPairs>
  <TitlesOfParts>
    <vt:vector size="7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Lead CRM - System Guide</dc:title>
  <dc:subject>PptxGenJS Presentation</dc:subject>
  <dc:creator>Lead CRM</dc:creator>
  <cp:lastModifiedBy>Lead CRM</cp:lastModifiedBy>
  <cp:revision>1</cp:revision>
  <dcterms:created xsi:type="dcterms:W3CDTF">2026-10-12T11:16:54Z</dcterms:created>
  <dcterms:modified xsi:type="dcterms:W3CDTF">2026-10-12T11:16:54Z</dcterms:modified>
</cp:coreProperties>
</file>