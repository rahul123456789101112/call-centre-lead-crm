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</p:sldIdLst>
  <p:notesMasterIdLst>
    <p:notesMasterId r:id="rId8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18cf9b7f-e898-f645-c459-795b5fedffcd}">
          <p14:sldIdLst>
            <p14:sldId id="256"/>
            <p14:sldId id="257"/>
            <p14:sldId id="258"/>
            <p14:sldId id="259"/>
          </p14:sldIdLst>
        </p14:section>
        <p14:section name="Start Here" id="{13aa240f-48a5-f4d2-92c0-f0fb7bdfbf68}">
          <p14:sldIdLst>
            <p14:sldId id="260"/>
            <p14:sldId id="261"/>
          </p14:sldIdLst>
        </p14:section>
        <p14:section name="Lead Management" id="{daee87e4-8e7f-f79a-60cc-93259887ba9b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Lead Entry" id="{e367c12c-04ba-49cc-fbf2-4b862452a0d1}">
          <p14:sldIdLst>
            <p14:sldId id="270"/>
            <p14:sldId id="271"/>
            <p14:sldId id="272"/>
          </p14:sldIdLst>
        </p14:section>
        <p14:section name="Follow-Up Log" id="{cee989ce-1336-05f3-af5b-e839be982439}">
          <p14:sldIdLst>
            <p14:sldId id="273"/>
            <p14:sldId id="274"/>
            <p14:sldId id="275"/>
            <p14:sldId id="276"/>
          </p14:sldIdLst>
        </p14:section>
        <p14:section name="Stage Master" id="{d153b508-9f70-b7cc-6a93-bf0e3f15f306}">
          <p14:sldIdLst>
            <p14:sldId id="277"/>
            <p14:sldId id="278"/>
          </p14:sldIdLst>
        </p14:section>
        <p14:section name="Counsellor Master" id="{8a641317-d281-bad1-1808-afd69bc7a87f}">
          <p14:sldIdLst>
            <p14:sldId id="279"/>
            <p14:sldId id="280"/>
          </p14:sldIdLst>
        </p14:section>
        <p14:section name="Dashboard sheet" id="{a241bc1e-0bc7-ce15-3092-f36dcaa50de8}">
          <p14:sldIdLst>
            <p14:sldId id="281"/>
            <p14:sldId id="282"/>
          </p14:sldIdLst>
        </p14:section>
        <p14:section name="Field Guide" id="{a9cb58ea-2126-77c5-89e0-37664d96ede7}">
          <p14:sldIdLst>
            <p14:sldId id="283"/>
            <p14:sldId id="284"/>
          </p14:sldIdLst>
        </p14:section>
        <p14:section name="Lists &amp; Settings" id="{3b8424f1-16b8-32f1-4fb7-5e3b9cc1e884}">
          <p14:sldIdLst>
            <p14:sldId id="285"/>
            <p14:sldId id="286"/>
            <p14:sldId id="287"/>
            <p14:sldId id="288"/>
          </p14:sldIdLst>
        </p14:section>
        <p14:section name="Access Log" id="{f4c291c6-c2fa-8f81-78e2-e7d2dc922e0d}">
          <p14:sldIdLst>
            <p14:sldId id="289"/>
            <p14:sldId id="290"/>
          </p14:sldIdLst>
        </p14:section>
        <p14:section name="Deleted Leads" id="{3d84939d-02fb-3de3-33b9-6f5507975d14}">
          <p14:sldIdLst>
            <p14:sldId id="291"/>
            <p14:sldId id="292"/>
          </p14:sldIdLst>
        </p14:section>
        <p14:section name="Colours and dropdowns" id="{5c52b044-52a6-5b5a-1eb1-e5a44569524d}">
          <p14:sldIdLst>
            <p14:sldId id="293"/>
            <p14:sldId id="294"/>
            <p14:sldId id="295"/>
            <p14:sldId id="296"/>
          </p14:sldIdLst>
        </p14:section>
        <p14:section name="Settings reference" id="{afb54dcc-013f-9a77-dbea-a3346f816d5b}">
          <p14:sldIdLst>
            <p14:sldId id="297"/>
            <p14:sldId id="298"/>
            <p14:sldId id="299"/>
            <p14:sldId id="300"/>
          </p14:sldIdLst>
        </p14:section>
        <p14:section name="Protection and validation" id="{85279b6d-2de7-d714-67b2-d554f5d74860}">
          <p14:sldIdLst>
            <p14:sldId id="301"/>
            <p14:sldId id="302"/>
            <p14:sldId id="303"/>
            <p14:sldId id="304"/>
            <p14:sldId id="305"/>
          </p14:sldIdLst>
        </p14:section>
        <p14:section name="Key workflows" id="{9490c09b-9c6d-c7ec-2be3-45fb2981a15c}">
          <p14:sldIdLst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</p14:sldIdLst>
        </p14:section>
        <p14:section name="Counsellor web app (optional)" id="{89a98c52-5d39-25c6-4017-c63f5f539ad8}">
          <p14:sldIdLst>
            <p14:sldId id="314"/>
            <p14:sldId id="315"/>
            <p14:sldId id="316"/>
          </p14:sldIdLst>
        </p14:section>
        <p14:section name="Dashboard reporting" id="{71045918-45a7-2467-27bb-224232a1618a}">
          <p14:sldIdLst>
            <p14:sldId id="317"/>
            <p14:sldId id="318"/>
            <p14:sldId id="319"/>
            <p14:sldId id="320"/>
            <p14:sldId id="321"/>
          </p14:sldIdLst>
        </p14:section>
        <p14:section name="Audit and security" id="{4b3353e6-5f89-dd29-b697-f88035ce0646}">
          <p14:sldIdLst>
            <p14:sldId id="322"/>
            <p14:sldId id="323"/>
            <p14:sldId id="324"/>
            <p14:sldId id="325"/>
          </p14:sldIdLst>
        </p14:section>
        <p14:section name="Lead CRM menu" id="{2f5c8e5a-b611-42cd-79ed-1384a3792984}">
          <p14:sldIdLst>
            <p14:sldId id="326"/>
            <p14:sldId id="327"/>
            <p14:sldId id="328"/>
            <p14:sldId id="329"/>
          </p14:sldIdLst>
        </p14:section>
        <p14:section name="Limitations and troubleshooting" id="{619a1a01-c727-60e2-bd34-a4a92a6b16ec}">
          <p14:sldIdLst>
            <p14:sldId id="330"/>
            <p14:sldId id="331"/>
            <p14:sldId id="332"/>
          </p14:sldIdLst>
        </p14:section>
        <p14:section name="Glossary" id="{a5f9efcc-c7f5-c174-b480-82cc20f52505}">
          <p14:sldIdLst>
            <p14:sldId id="333"/>
            <p14:sldId id="334"/>
            <p14:sldId id="33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notesMaster" Target="notesMasters/notesMaster1.xml"/><Relationship Id="rId83" Type="http://schemas.openxmlformats.org/officeDocument/2006/relationships/presProps" Target="presProps.xml"/><Relationship Id="rId84" Type="http://schemas.openxmlformats.org/officeDocument/2006/relationships/viewProps" Target="viewProps.xml"/><Relationship Id="rId85" Type="http://schemas.openxmlformats.org/officeDocument/2006/relationships/theme" Target="theme/theme1.xml"/><Relationship Id="rId8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01168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383280"/>
            <a:ext cx="105156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Introduction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image" Target="../media/image-5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image" Target="../media/image-6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image" Target="../media/image-6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image" Target="../media/image-6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01168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CRM - System Guide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38328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Google Sheets Lead CRM works, point by point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2.0.0   |   12 October 2026</a:t>
            </a:r>
            <a:endParaRPr lang="en-US" sz="1800" dirty="0"/>
          </a:p>
        </p:txBody>
      </p:sp>
      <p:pic>
        <p:nvPicPr>
          <p:cNvPr id="4" name="titl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05840"/>
            <a:ext cx="777240" cy="7772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overview: who uses what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Introduction</a:t>
            </a:r>
            <a:endParaRPr lang="en-US" sz="1000" dirty="0"/>
          </a:p>
        </p:txBody>
      </p:sp>
      <p:sp>
        <p:nvSpPr>
          <p:cNvPr id="4" name="ov-box-1"/>
          <p:cNvSpPr/>
          <p:nvPr/>
        </p:nvSpPr>
        <p:spPr>
          <a:xfrm>
            <a:off x="548640" y="1965960"/>
            <a:ext cx="2194560" cy="233172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ov-ic-bg-2"/>
          <p:cNvSpPr/>
          <p:nvPr/>
        </p:nvSpPr>
        <p:spPr>
          <a:xfrm>
            <a:off x="1371600" y="2103120"/>
            <a:ext cx="548640" cy="54864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pic>
        <p:nvPicPr>
          <p:cNvPr id="6" name="ov-ic-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9616" y="2231136"/>
            <a:ext cx="292608" cy="292608"/>
          </a:xfrm>
          <a:prstGeom prst="rect">
            <a:avLst/>
          </a:prstGeom>
        </p:spPr>
      </p:pic>
      <p:sp>
        <p:nvSpPr>
          <p:cNvPr id="7" name="ov-t-4"/>
          <p:cNvSpPr txBox="1"/>
          <p:nvPr/>
        </p:nvSpPr>
        <p:spPr>
          <a:xfrm>
            <a:off x="640080" y="2697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Google Sheet</a:t>
            </a:r>
            <a:endParaRPr lang="en-US" sz="1500" dirty="0"/>
          </a:p>
        </p:txBody>
      </p:sp>
      <p:sp>
        <p:nvSpPr>
          <p:cNvPr id="8" name="ov-l-5"/>
          <p:cNvSpPr txBox="1"/>
          <p:nvPr/>
        </p:nvSpPr>
        <p:spPr>
          <a:xfrm>
            <a:off x="685800" y="3154680"/>
            <a:ext cx="1920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11 sheets; 4 visible to counsellors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Counsellors and admins are Editors</a:t>
            </a:r>
            <a:endParaRPr lang="en-US" sz="1300" dirty="0"/>
          </a:p>
        </p:txBody>
      </p:sp>
      <p:sp>
        <p:nvSpPr>
          <p:cNvPr id="9" name="ov-box-6"/>
          <p:cNvSpPr/>
          <p:nvPr/>
        </p:nvSpPr>
        <p:spPr>
          <a:xfrm>
            <a:off x="3520440" y="1965960"/>
            <a:ext cx="2194560" cy="233172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9050">
            <a:solidFill>
              <a:srgbClr val="117A65"/>
            </a:solidFill>
            <a:prstDash val="solid"/>
          </a:ln>
        </p:spPr>
      </p:sp>
      <p:sp>
        <p:nvSpPr>
          <p:cNvPr id="10" name="ov-ic-bg-7"/>
          <p:cNvSpPr/>
          <p:nvPr/>
        </p:nvSpPr>
        <p:spPr>
          <a:xfrm>
            <a:off x="4343400" y="2103120"/>
            <a:ext cx="548640" cy="548640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pic>
        <p:nvPicPr>
          <p:cNvPr id="11" name="ov-ic-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2231136"/>
            <a:ext cx="292608" cy="292608"/>
          </a:xfrm>
          <a:prstGeom prst="rect">
            <a:avLst/>
          </a:prstGeom>
        </p:spPr>
      </p:pic>
      <p:sp>
        <p:nvSpPr>
          <p:cNvPr id="12" name="ov-t-9"/>
          <p:cNvSpPr txBox="1"/>
          <p:nvPr/>
        </p:nvSpPr>
        <p:spPr>
          <a:xfrm>
            <a:off x="3611880" y="2697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Apps Script (CRM code)</a:t>
            </a:r>
            <a:endParaRPr lang="en-US" sz="1500" dirty="0"/>
          </a:p>
        </p:txBody>
      </p:sp>
      <p:sp>
        <p:nvSpPr>
          <p:cNvPr id="13" name="ov-l-10"/>
          <p:cNvSpPr txBox="1"/>
          <p:nvPr/>
        </p:nvSpPr>
        <p:spPr>
          <a:xfrm>
            <a:off x="3657600" y="3154680"/>
            <a:ext cx="1920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Menu, follow-up form, triggers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Checks every edit and undoes mistakes</a:t>
            </a:r>
            <a:endParaRPr lang="en-US" sz="1300" dirty="0"/>
          </a:p>
        </p:txBody>
      </p:sp>
      <p:sp>
        <p:nvSpPr>
          <p:cNvPr id="14" name="ov-box-11"/>
          <p:cNvSpPr/>
          <p:nvPr/>
        </p:nvSpPr>
        <p:spPr>
          <a:xfrm>
            <a:off x="6492240" y="1965960"/>
            <a:ext cx="2194560" cy="233172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9050">
            <a:solidFill>
              <a:srgbClr val="5B2C6F"/>
            </a:solidFill>
            <a:prstDash val="solid"/>
          </a:ln>
        </p:spPr>
      </p:sp>
      <p:sp>
        <p:nvSpPr>
          <p:cNvPr id="15" name="ov-ic-bg-12"/>
          <p:cNvSpPr/>
          <p:nvPr/>
        </p:nvSpPr>
        <p:spPr>
          <a:xfrm>
            <a:off x="7315200" y="2103120"/>
            <a:ext cx="548640" cy="548640"/>
          </a:xfrm>
          <a:prstGeom prst="ellipse">
            <a:avLst/>
          </a:prstGeom>
          <a:solidFill>
            <a:srgbClr val="5B2C6F"/>
          </a:solidFill>
          <a:ln w="12700">
            <a:solidFill>
              <a:srgbClr val="5B2C6F"/>
            </a:solidFill>
            <a:prstDash val="solid"/>
          </a:ln>
        </p:spPr>
      </p:sp>
      <p:pic>
        <p:nvPicPr>
          <p:cNvPr id="16" name="ov-ic-1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3216" y="2231136"/>
            <a:ext cx="292608" cy="292608"/>
          </a:xfrm>
          <a:prstGeom prst="rect">
            <a:avLst/>
          </a:prstGeom>
        </p:spPr>
      </p:pic>
      <p:sp>
        <p:nvSpPr>
          <p:cNvPr id="17" name="ov-t-14"/>
          <p:cNvSpPr txBox="1"/>
          <p:nvPr/>
        </p:nvSpPr>
        <p:spPr>
          <a:xfrm>
            <a:off x="6583680" y="2697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Web app (optional)</a:t>
            </a:r>
            <a:endParaRPr lang="en-US" sz="1500" dirty="0"/>
          </a:p>
        </p:txBody>
      </p:sp>
      <p:sp>
        <p:nvSpPr>
          <p:cNvPr id="18" name="ov-l-15"/>
          <p:cNvSpPr txBox="1"/>
          <p:nvPr/>
        </p:nvSpPr>
        <p:spPr>
          <a:xfrm>
            <a:off x="6629400" y="3154680"/>
            <a:ext cx="1920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Runs as the owner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Own leads only, without the file</a:t>
            </a:r>
            <a:endParaRPr lang="en-US" sz="1300" dirty="0"/>
          </a:p>
        </p:txBody>
      </p:sp>
      <p:sp>
        <p:nvSpPr>
          <p:cNvPr id="19" name="ov-box-16"/>
          <p:cNvSpPr/>
          <p:nvPr/>
        </p:nvSpPr>
        <p:spPr>
          <a:xfrm>
            <a:off x="9464040" y="1965960"/>
            <a:ext cx="2194560" cy="233172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9050">
            <a:solidFill>
              <a:srgbClr val="E67E22"/>
            </a:solidFill>
            <a:prstDash val="solid"/>
          </a:ln>
        </p:spPr>
      </p:sp>
      <p:sp>
        <p:nvSpPr>
          <p:cNvPr id="20" name="ov-ic-bg-17"/>
          <p:cNvSpPr/>
          <p:nvPr/>
        </p:nvSpPr>
        <p:spPr>
          <a:xfrm>
            <a:off x="10287000" y="2103120"/>
            <a:ext cx="548640" cy="54864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pic>
        <p:nvPicPr>
          <p:cNvPr id="21" name="ov-ic-1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5016" y="2231136"/>
            <a:ext cx="292608" cy="292608"/>
          </a:xfrm>
          <a:prstGeom prst="rect">
            <a:avLst/>
          </a:prstGeom>
        </p:spPr>
      </p:pic>
      <p:sp>
        <p:nvSpPr>
          <p:cNvPr id="22" name="ov-t-19"/>
          <p:cNvSpPr txBox="1"/>
          <p:nvPr/>
        </p:nvSpPr>
        <p:spPr>
          <a:xfrm>
            <a:off x="9555480" y="2697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Sign-in app</a:t>
            </a:r>
            <a:endParaRPr lang="en-US" sz="1500" dirty="0"/>
          </a:p>
        </p:txBody>
      </p:sp>
      <p:sp>
        <p:nvSpPr>
          <p:cNvPr id="23" name="ov-l-20"/>
          <p:cNvSpPr txBox="1"/>
          <p:nvPr/>
        </p:nvSpPr>
        <p:spPr>
          <a:xfrm>
            <a:off x="9601200" y="3154680"/>
            <a:ext cx="1920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Only for the web app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Reads only the visitor's email</a:t>
            </a:r>
            <a:endParaRPr lang="en-US" sz="1300" dirty="0"/>
          </a:p>
        </p:txBody>
      </p:sp>
      <p:sp>
        <p:nvSpPr>
          <p:cNvPr id="24" name="ov-arrow-21"/>
          <p:cNvSpPr/>
          <p:nvPr/>
        </p:nvSpPr>
        <p:spPr>
          <a:xfrm>
            <a:off x="2761488" y="3127248"/>
            <a:ext cx="740664" cy="0"/>
          </a:xfrm>
          <a:prstGeom prst="line">
            <a:avLst/>
          </a:prstGeom>
          <a:noFill/>
          <a:ln w="25400">
            <a:solidFill>
              <a:srgbClr val="7F8C8D"/>
            </a:solidFill>
            <a:prstDash val="solid"/>
            <a:headEnd type="triangle"/>
            <a:tailEnd type="triangle"/>
          </a:ln>
        </p:spPr>
      </p:sp>
      <p:sp>
        <p:nvSpPr>
          <p:cNvPr id="25" name="ov-arrow-lbl-22"/>
          <p:cNvSpPr txBox="1"/>
          <p:nvPr/>
        </p:nvSpPr>
        <p:spPr>
          <a:xfrm>
            <a:off x="2514600" y="43891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66573"/>
                </a:solidFill>
              </a:rPr>
              <a:t>triggers run as owner</a:t>
            </a:r>
            <a:endParaRPr lang="en-US" sz="1050" dirty="0"/>
          </a:p>
        </p:txBody>
      </p:sp>
      <p:sp>
        <p:nvSpPr>
          <p:cNvPr id="26" name="ov-arrow-23"/>
          <p:cNvSpPr/>
          <p:nvPr/>
        </p:nvSpPr>
        <p:spPr>
          <a:xfrm>
            <a:off x="5733288" y="3127248"/>
            <a:ext cx="740664" cy="0"/>
          </a:xfrm>
          <a:prstGeom prst="line">
            <a:avLst/>
          </a:prstGeom>
          <a:noFill/>
          <a:ln w="25400">
            <a:solidFill>
              <a:srgbClr val="7F8C8D"/>
            </a:solidFill>
            <a:prstDash val="solid"/>
            <a:headEnd type="triangle"/>
            <a:tailEnd type="triangle"/>
          </a:ln>
        </p:spPr>
      </p:sp>
      <p:sp>
        <p:nvSpPr>
          <p:cNvPr id="27" name="ov-arrow-lbl-24"/>
          <p:cNvSpPr txBox="1"/>
          <p:nvPr/>
        </p:nvSpPr>
        <p:spPr>
          <a:xfrm>
            <a:off x="5486400" y="43891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66573"/>
                </a:solidFill>
              </a:rPr>
              <a:t>same rules, as owner</a:t>
            </a:r>
            <a:endParaRPr lang="en-US" sz="1050" dirty="0"/>
          </a:p>
        </p:txBody>
      </p:sp>
      <p:sp>
        <p:nvSpPr>
          <p:cNvPr id="28" name="ov-arrow-25"/>
          <p:cNvSpPr/>
          <p:nvPr/>
        </p:nvSpPr>
        <p:spPr>
          <a:xfrm>
            <a:off x="8705088" y="3127248"/>
            <a:ext cx="740664" cy="0"/>
          </a:xfrm>
          <a:prstGeom prst="line">
            <a:avLst/>
          </a:prstGeom>
          <a:noFill/>
          <a:ln w="25400">
            <a:solidFill>
              <a:srgbClr val="7F8C8D"/>
            </a:solidFill>
            <a:prstDash val="solid"/>
            <a:headEnd type="triangle"/>
            <a:tailEnd type="triangle"/>
          </a:ln>
        </p:spPr>
      </p:sp>
      <p:sp>
        <p:nvSpPr>
          <p:cNvPr id="29" name="ov-arrow-lbl-26"/>
          <p:cNvSpPr txBox="1"/>
          <p:nvPr/>
        </p:nvSpPr>
        <p:spPr>
          <a:xfrm>
            <a:off x="8458200" y="43891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66573"/>
                </a:solidFill>
              </a:rPr>
              <a:t>signed 5-min token</a:t>
            </a:r>
            <a:endParaRPr lang="en-US" sz="1050" dirty="0"/>
          </a:p>
        </p:txBody>
      </p:sp>
      <p:pic>
        <p:nvPicPr>
          <p:cNvPr id="30" name="ov-person-2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234440"/>
            <a:ext cx="411480" cy="411480"/>
          </a:xfrm>
          <a:prstGeom prst="rect">
            <a:avLst/>
          </a:prstGeom>
        </p:spPr>
      </p:pic>
      <p:sp>
        <p:nvSpPr>
          <p:cNvPr id="31" name="ov-person-t-28"/>
          <p:cNvSpPr txBox="1"/>
          <p:nvPr/>
        </p:nvSpPr>
        <p:spPr>
          <a:xfrm>
            <a:off x="1051560" y="11887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864"/>
                </a:solidFill>
              </a:rPr>
              <a:t>Admins: </a:t>
            </a:r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Add leads (Lead Entry), assign, master data, dashboard</a:t>
            </a:r>
            <a:endParaRPr lang="en-US" sz="1350" dirty="0"/>
          </a:p>
        </p:txBody>
      </p:sp>
      <p:pic>
        <p:nvPicPr>
          <p:cNvPr id="32" name="ov-person-2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1234440"/>
            <a:ext cx="411480" cy="411480"/>
          </a:xfrm>
          <a:prstGeom prst="rect">
            <a:avLst/>
          </a:prstGeom>
        </p:spPr>
      </p:pic>
      <p:sp>
        <p:nvSpPr>
          <p:cNvPr id="33" name="ov-person-t-30"/>
          <p:cNvSpPr txBox="1"/>
          <p:nvPr/>
        </p:nvSpPr>
        <p:spPr>
          <a:xfrm>
            <a:off x="6995160" y="11887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2C6F"/>
                </a:solidFill>
              </a:rPr>
              <a:t>Counsellors: </a:t>
            </a:r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Work in Lead Management: own leads, white cells, follow-up form</a:t>
            </a:r>
            <a:endParaRPr lang="en-US" sz="1350" dirty="0"/>
          </a:p>
        </p:txBody>
      </p:sp>
      <p:sp>
        <p:nvSpPr>
          <p:cNvPr id="34" name="bullets-31"/>
          <p:cNvSpPr txBox="1"/>
          <p:nvPr/>
        </p:nvSpPr>
        <p:spPr>
          <a:xfrm>
            <a:off x="548640" y="5074920"/>
            <a:ext cx="11094415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Every edit runs two triggers: a quick one (new substage list) and the edit guard running as the owner (checks, undo, audit)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Counsellors cannot break anything: wrong values are refused or put back automatically, with a short message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Roles: owner, admin, counsellor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Introduction</a:t>
            </a:r>
            <a:endParaRPr lang="en-US" sz="1000" dirty="0"/>
          </a:p>
        </p:txBody>
      </p:sp>
      <p:sp>
        <p:nvSpPr>
          <p:cNvPr id="4" name="card-32"/>
          <p:cNvSpPr/>
          <p:nvPr/>
        </p:nvSpPr>
        <p:spPr>
          <a:xfrm>
            <a:off x="548640" y="1234440"/>
            <a:ext cx="3566160" cy="429768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5" name="icon-bg-33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pic>
        <p:nvPicPr>
          <p:cNvPr id="6" name="icon-3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536192"/>
            <a:ext cx="265176" cy="265176"/>
          </a:xfrm>
          <a:prstGeom prst="rect">
            <a:avLst/>
          </a:prstGeom>
        </p:spPr>
      </p:pic>
      <p:sp>
        <p:nvSpPr>
          <p:cNvPr id="7" name="card-title-35"/>
          <p:cNvSpPr txBox="1"/>
          <p:nvPr/>
        </p:nvSpPr>
        <p:spPr>
          <a:xfrm>
            <a:off x="1353312" y="1417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Owner</a:t>
            </a:r>
            <a:endParaRPr lang="en-US" sz="1800" dirty="0"/>
          </a:p>
        </p:txBody>
      </p:sp>
      <p:sp>
        <p:nvSpPr>
          <p:cNvPr id="8" name="bullets-36"/>
          <p:cNvSpPr txBox="1"/>
          <p:nvPr/>
        </p:nvSpPr>
        <p:spPr>
          <a:xfrm>
            <a:off x="777240" y="2103120"/>
            <a:ext cx="3154680" cy="3337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The Google account that owns the sheet (a personal Gmail is fine)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Runs setup; all triggers run as this account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Always an admin; automatic columns are guarded even against the owner</a:t>
            </a:r>
            <a:endParaRPr lang="en-US" sz="1550" dirty="0"/>
          </a:p>
        </p:txBody>
      </p:sp>
      <p:sp>
        <p:nvSpPr>
          <p:cNvPr id="9" name="card-37"/>
          <p:cNvSpPr/>
          <p:nvPr/>
        </p:nvSpPr>
        <p:spPr>
          <a:xfrm>
            <a:off x="4315968" y="1234440"/>
            <a:ext cx="3566160" cy="429768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0" name="icon-bg-38"/>
          <p:cNvSpPr/>
          <p:nvPr/>
        </p:nvSpPr>
        <p:spPr>
          <a:xfrm>
            <a:off x="4498848" y="1417320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pic>
        <p:nvPicPr>
          <p:cNvPr id="11" name="icon-3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536192"/>
            <a:ext cx="265176" cy="265176"/>
          </a:xfrm>
          <a:prstGeom prst="rect">
            <a:avLst/>
          </a:prstGeom>
        </p:spPr>
      </p:pic>
      <p:sp>
        <p:nvSpPr>
          <p:cNvPr id="12" name="card-title-40"/>
          <p:cNvSpPr txBox="1"/>
          <p:nvPr/>
        </p:nvSpPr>
        <p:spPr>
          <a:xfrm>
            <a:off x="5120640" y="1417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Admin</a:t>
            </a:r>
            <a:endParaRPr lang="en-US" sz="1800" dirty="0"/>
          </a:p>
        </p:txBody>
      </p:sp>
      <p:sp>
        <p:nvSpPr>
          <p:cNvPr id="13" name="bullets-41"/>
          <p:cNvSpPr txBox="1"/>
          <p:nvPr/>
        </p:nvSpPr>
        <p:spPr>
          <a:xfrm>
            <a:off x="4544568" y="2103120"/>
            <a:ext cx="3154680" cy="3337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Email in Lists &amp; Settings &gt; Admin Emails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Adds leads (Lead Entry), assigns, edits contact fields (audited)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Admin menu: delete / restore, settings, repairs</a:t>
            </a:r>
            <a:endParaRPr lang="en-US" sz="1550" dirty="0"/>
          </a:p>
        </p:txBody>
      </p:sp>
      <p:sp>
        <p:nvSpPr>
          <p:cNvPr id="14" name="card-42"/>
          <p:cNvSpPr/>
          <p:nvPr/>
        </p:nvSpPr>
        <p:spPr>
          <a:xfrm>
            <a:off x="8083296" y="1234440"/>
            <a:ext cx="3566160" cy="429768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5" name="icon-bg-43"/>
          <p:cNvSpPr/>
          <p:nvPr/>
        </p:nvSpPr>
        <p:spPr>
          <a:xfrm>
            <a:off x="8266176" y="1417320"/>
            <a:ext cx="502920" cy="502920"/>
          </a:xfrm>
          <a:prstGeom prst="ellipse">
            <a:avLst/>
          </a:prstGeom>
          <a:solidFill>
            <a:srgbClr val="5B2C6F"/>
          </a:solidFill>
          <a:ln w="12700">
            <a:solidFill>
              <a:srgbClr val="5B2C6F"/>
            </a:solidFill>
            <a:prstDash val="solid"/>
          </a:ln>
        </p:spPr>
      </p:sp>
      <p:pic>
        <p:nvPicPr>
          <p:cNvPr id="16" name="icon-4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5048" y="1536192"/>
            <a:ext cx="265176" cy="265176"/>
          </a:xfrm>
          <a:prstGeom prst="rect">
            <a:avLst/>
          </a:prstGeom>
        </p:spPr>
      </p:pic>
      <p:sp>
        <p:nvSpPr>
          <p:cNvPr id="17" name="card-title-45"/>
          <p:cNvSpPr txBox="1"/>
          <p:nvPr/>
        </p:nvSpPr>
        <p:spPr>
          <a:xfrm>
            <a:off x="8887968" y="1417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Counsellor</a:t>
            </a:r>
            <a:endParaRPr lang="en-US" sz="1800" dirty="0"/>
          </a:p>
        </p:txBody>
      </p:sp>
      <p:sp>
        <p:nvSpPr>
          <p:cNvPr id="18" name="bullets-46"/>
          <p:cNvSpPr txBox="1"/>
          <p:nvPr/>
        </p:nvSpPr>
        <p:spPr>
          <a:xfrm>
            <a:off x="8311896" y="2103120"/>
            <a:ext cx="3154680" cy="3337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Active row in Counsellor Master with their Google email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Editor of the spreadsheet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Changes only the white cells of their own leads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Uses the follow-up form</a:t>
            </a:r>
            <a:endParaRPr lang="en-US" sz="1550" dirty="0"/>
          </a:p>
        </p:txBody>
      </p:sp>
      <p:sp>
        <p:nvSpPr>
          <p:cNvPr id="19" name="note-47"/>
          <p:cNvSpPr txBox="1"/>
          <p:nvPr/>
        </p:nvSpPr>
        <p:spPr>
          <a:xfrm>
            <a:off x="548640" y="56692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573"/>
                </a:solidFill>
              </a:rPr>
              <a:t>Team Leader is only a text column in Counsellor Master; there is no separate team-leader role.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11 sheets at a glance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Introduction</a:t>
            </a:r>
            <a:endParaRPr lang="en-US" sz="1000" dirty="0"/>
          </a:p>
        </p:txBody>
      </p:sp>
      <p:graphicFrame>
        <p:nvGraphicFramePr>
          <p:cNvPr id="5" name="table-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206240"/>
                <a:gridCol w="1280160"/>
                <a:gridCol w="26791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changes it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Here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screen: what each sheet is for, the daily steps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Management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working sheet, one row per lead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Counsellors: white cells of own leads; admins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KPIs, reports A-G, charts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Filter cells; numbers by the script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Guide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column explained (read-only)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Entry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only way to add new leads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 Log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Permanent history and audit trail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script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Master / Counsellor Master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Stages and substages / counsellors and emails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Lists &amp; Settings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Lists, settings, custom fields, Counsellor-Editable Fields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 Log / Deleted Leads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opened / viewed / changed / deleted leads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script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note-49"/>
          <p:cNvSpPr txBox="1"/>
          <p:nvPr/>
        </p:nvSpPr>
        <p:spPr>
          <a:xfrm>
            <a:off x="548640" y="58064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573"/>
                </a:solidFill>
              </a:rPr>
              <a:t>Hidden sheets are hidden for everyone; admins use Admin &gt; Show admin sheets. Hidden is not secret: any Editor can unhide and copy.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Here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 1 of 11 - the first tab: one screen for everybody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Here: purpose and content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Start Here</a:t>
            </a:r>
            <a:endParaRPr lang="en-US" sz="1000" dirty="0"/>
          </a:p>
        </p:txBody>
      </p:sp>
      <p:sp>
        <p:nvSpPr>
          <p:cNvPr id="4" name="bullets-50"/>
          <p:cNvSpPr txBox="1"/>
          <p:nvPr/>
        </p:nvSpPr>
        <p:spPr>
          <a:xfrm>
            <a:off x="548640" y="1280160"/>
            <a:ext cx="11094415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First tab of the file; at most 10 lines; admins only can change it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Says what each sheet is for: white cells = you may change, grey = automatic or admin only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Counsellor, every day: 1. My overdue follow-ups  2. Log follow-up after each call  3. Fix red Lead IDs (column AH says what)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Admin, every day: add leads in Lead Entry, assign in column O, check overdue and incomplete on the Dashboard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Ends with: "Mistakes are undone automatically - nothing else to remember"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Management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 2 of 11 - the daily working sheet, one row per lead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Management: purpose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Lead Management</a:t>
            </a:r>
            <a:endParaRPr lang="en-US" sz="1000" dirty="0"/>
          </a:p>
        </p:txBody>
      </p:sp>
      <p:sp>
        <p:nvSpPr>
          <p:cNvPr id="4" name="bullets-51"/>
          <p:cNvSpPr txBox="1"/>
          <p:nvPr/>
        </p:nvSpPr>
        <p:spPr>
          <a:xfrm>
            <a:off x="548640" y="1280160"/>
            <a:ext cx="6766560" cy="4572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One row per lead; 10,000 rows (grows by 5,000 when full)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Counsellors change ONLY the white cells of leads assigned to them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Grey admin-only: name, mobile, email, counsellor, source, last contact (audited)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Grey automatic: nobody may change them, not even the owner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Rows without a Lead ID: nothing can be typed (new leads come from Lead Entry)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Never insert, delete or move columns; there are no columns after AI</a:t>
            </a:r>
            <a:endParaRPr lang="en-US" sz="1600" dirty="0"/>
          </a:p>
        </p:txBody>
      </p:sp>
      <p:sp>
        <p:nvSpPr>
          <p:cNvPr id="5" name="hdr-legend-t"/>
          <p:cNvSpPr txBox="1"/>
          <p:nvPr/>
        </p:nvSpPr>
        <p:spPr>
          <a:xfrm>
            <a:off x="7772400" y="12801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Cell colours</a:t>
            </a:r>
            <a:endParaRPr lang="en-US" sz="1500" dirty="0"/>
          </a:p>
        </p:txBody>
      </p:sp>
      <p:sp>
        <p:nvSpPr>
          <p:cNvPr id="6" name="swatch-52"/>
          <p:cNvSpPr/>
          <p:nvPr/>
        </p:nvSpPr>
        <p:spPr>
          <a:xfrm>
            <a:off x="7772400" y="1783080"/>
            <a:ext cx="38404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BFC5CE"/>
            </a:solidFill>
            <a:prstDash val="solid"/>
          </a:ln>
        </p:spPr>
      </p:sp>
      <p:sp>
        <p:nvSpPr>
          <p:cNvPr id="7" name="swatch-text-53"/>
          <p:cNvSpPr txBox="1"/>
          <p:nvPr/>
        </p:nvSpPr>
        <p:spPr>
          <a:xfrm>
            <a:off x="7772400" y="17830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124"/>
                </a:solidFill>
              </a:rPr>
              <a:t>White: you may change (own leads)</a:t>
            </a:r>
            <a:endParaRPr lang="en-US" sz="1200" dirty="0"/>
          </a:p>
        </p:txBody>
      </p:sp>
      <p:sp>
        <p:nvSpPr>
          <p:cNvPr id="8" name="swatch-54"/>
          <p:cNvSpPr/>
          <p:nvPr/>
        </p:nvSpPr>
        <p:spPr>
          <a:xfrm>
            <a:off x="7772400" y="2468880"/>
            <a:ext cx="3840480" cy="548640"/>
          </a:xfrm>
          <a:prstGeom prst="rect">
            <a:avLst/>
          </a:prstGeom>
          <a:solidFill>
            <a:srgbClr val="F2F3F4"/>
          </a:solidFill>
          <a:ln w="9525">
            <a:solidFill>
              <a:srgbClr val="BFC5CE"/>
            </a:solidFill>
            <a:prstDash val="solid"/>
          </a:ln>
        </p:spPr>
      </p:sp>
      <p:sp>
        <p:nvSpPr>
          <p:cNvPr id="9" name="swatch-text-55"/>
          <p:cNvSpPr txBox="1"/>
          <p:nvPr/>
        </p:nvSpPr>
        <p:spPr>
          <a:xfrm>
            <a:off x="7772400" y="24688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66573"/>
                </a:solidFill>
              </a:rPr>
              <a:t>Grey: automatic or admin only</a:t>
            </a:r>
            <a:endParaRPr lang="en-US" sz="1200" dirty="0"/>
          </a:p>
        </p:txBody>
      </p:sp>
      <p:sp>
        <p:nvSpPr>
          <p:cNvPr id="10" name="swatch-56"/>
          <p:cNvSpPr/>
          <p:nvPr/>
        </p:nvSpPr>
        <p:spPr>
          <a:xfrm>
            <a:off x="7772400" y="3154680"/>
            <a:ext cx="3840480" cy="548640"/>
          </a:xfrm>
          <a:prstGeom prst="rect">
            <a:avLst/>
          </a:prstGeom>
          <a:solidFill>
            <a:srgbClr val="E74C3C"/>
          </a:solidFill>
          <a:ln w="9525">
            <a:solidFill>
              <a:srgbClr val="BFC5CE"/>
            </a:solidFill>
            <a:prstDash val="solid"/>
          </a:ln>
        </p:spPr>
      </p:sp>
      <p:sp>
        <p:nvSpPr>
          <p:cNvPr id="11" name="swatch-text-57"/>
          <p:cNvSpPr txBox="1"/>
          <p:nvPr/>
        </p:nvSpPr>
        <p:spPr>
          <a:xfrm>
            <a:off x="7772400" y="31546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Red Lead ID: Incomplete</a:t>
            </a:r>
            <a:endParaRPr lang="en-US" sz="1200" dirty="0"/>
          </a:p>
        </p:txBody>
      </p:sp>
      <p:sp>
        <p:nvSpPr>
          <p:cNvPr id="12" name="swatch-58"/>
          <p:cNvSpPr/>
          <p:nvPr/>
        </p:nvSpPr>
        <p:spPr>
          <a:xfrm>
            <a:off x="7772400" y="3840480"/>
            <a:ext cx="3840480" cy="548640"/>
          </a:xfrm>
          <a:prstGeom prst="rect">
            <a:avLst/>
          </a:prstGeom>
          <a:solidFill>
            <a:srgbClr val="1F3864"/>
          </a:solidFill>
          <a:ln w="9525">
            <a:solidFill>
              <a:srgbClr val="BFC5CE"/>
            </a:solidFill>
            <a:prstDash val="solid"/>
          </a:ln>
        </p:spPr>
      </p:sp>
      <p:sp>
        <p:nvSpPr>
          <p:cNvPr id="13" name="swatch-text-59"/>
          <p:cNvSpPr txBox="1"/>
          <p:nvPr/>
        </p:nvSpPr>
        <p:spPr>
          <a:xfrm>
            <a:off x="7772400" y="38404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Header note: Editable / Locked / Auto</a:t>
            </a:r>
            <a:endParaRPr lang="en-US" sz="1200" dirty="0"/>
          </a:p>
        </p:txBody>
      </p:sp>
      <p:sp>
        <p:nvSpPr>
          <p:cNvPr id="14" name="hdr-legend-n"/>
          <p:cNvSpPr txBox="1"/>
          <p:nvPr/>
        </p:nvSpPr>
        <p:spPr>
          <a:xfrm>
            <a:off x="7772400" y="45720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66573"/>
                </a:solidFill>
              </a:rPr>
              <a:t>Every header note says "Editable (your own leads)", "Locked - admin only" or "Auto - do not edit", then the meaning.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Management columns (1/5): A-O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Lead Management</a:t>
            </a:r>
            <a:endParaRPr lang="en-US" sz="1000" dirty="0"/>
          </a:p>
        </p:txBody>
      </p:sp>
      <p:graphicFrame>
        <p:nvGraphicFramePr>
          <p:cNvPr id="10" name="table-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508760"/>
                <a:gridCol w="3429000"/>
                <a:gridCol w="1417320"/>
                <a:gridCol w="1051560"/>
                <a:gridCol w="685800"/>
                <a:gridCol w="24963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 values / example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Unique, permanent number of the lead.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Script-filled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LD-000123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of the person.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Text, required, up to 100 characters (Ravi Kumar)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Number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phone number.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Numbers only, must match Mobile Number Pattern (default 10 digits: 9876543210). Spaces and dashes are removed.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address.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Optional, a valid email (ravi@example.com)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Field 1-10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 extra field (for example "Course Interested"). Only active fields are shown.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Manual, or Dropdown when Allowed Values are 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7A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(own)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value from Allowed Values, or text up to 100 characters (MBA)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Assigned Counsellor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 responsible for the lead.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Dropdown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active counsellor name (Priya Sharma), or empty = unassigned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note-61"/>
          <p:cNvSpPr txBox="1"/>
          <p:nvPr/>
        </p:nvSpPr>
        <p:spPr>
          <a:xfrm>
            <a:off x="548640" y="58978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573"/>
                </a:solidFill>
              </a:rPr>
              <a:t>E-N: ten optional custom-field slots, hidden until an admin adds a field. Counsellor / Admin = may they change it (default list).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Management columns (2/5): P-T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Lead Management</a:t>
            </a:r>
            <a:endParaRPr lang="en-US" sz="1000" dirty="0"/>
          </a:p>
        </p:txBody>
      </p:sp>
      <p:graphicFrame>
        <p:nvGraphicFramePr>
          <p:cNvPr id="11" name="table-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508760"/>
                <a:gridCol w="3429000"/>
                <a:gridCol w="1417320"/>
                <a:gridCol w="1051560"/>
                <a:gridCol w="685800"/>
                <a:gridCol w="24963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 values / example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Stage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the lead is in the sales process.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Dropdown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7A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(own)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active stage (Interested)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Substage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 of the stage (for Lost: the lost reason).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Dropdown (depends on Lead Stage)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7A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(own)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substage of the current stage (Highly Interested)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Priority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urgent the lead is.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Dropdown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7A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(own)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Critical, Hot, Warm, Cold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Contact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 of the latest real contact (call, message, meeting).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Script-filled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date, not in the future (12-Oct-2026)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Follow-Up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the lead must be contacted next.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 (calendar: double-click the cell)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7A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(own)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today up to Max Next Follow-Up Days ahead (default 365) for open leads (20-Oct-2026)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Management columns (3/5): U-Y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Lead Management</a:t>
            </a:r>
            <a:endParaRPr lang="en-US" sz="1000" dirty="0"/>
          </a:p>
        </p:txBody>
      </p:sp>
      <p:graphicFrame>
        <p:nvGraphicFramePr>
          <p:cNvPr id="12" name="table-6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508760"/>
                <a:gridCol w="3429000"/>
                <a:gridCol w="1417320"/>
                <a:gridCol w="1051560"/>
                <a:gridCol w="685800"/>
                <a:gridCol w="24963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 values / example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Follow-Up Outcome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 of the latest contact.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Dropdown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7A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(own)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Connected, Not Connected, Interested, ... (Call Back)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 Count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 of follow-ups (Contact entries) in Follow-Up Log for this lead.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number (3)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Updated By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made the latest change (counsellor name, or email).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Script-filled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Priya Sharma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Activity Timestamp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 and time of the latest change or follow-up.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Script-filled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12-Oct-2026 14:05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Remarks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 note about the latest contact. The only free-text cell for counsellors.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7A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(own)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up to Max Remarks Length (default 500 characters)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Management columns (4/5): Z-AD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Lead Management</a:t>
            </a:r>
            <a:endParaRPr lang="en-US" sz="1000" dirty="0"/>
          </a:p>
        </p:txBody>
      </p:sp>
      <p:graphicFrame>
        <p:nvGraphicFramePr>
          <p:cNvPr id="13" name="table-6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508760"/>
                <a:gridCol w="3429000"/>
                <a:gridCol w="1417320"/>
                <a:gridCol w="1051560"/>
                <a:gridCol w="685800"/>
                <a:gridCol w="24963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 values / example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Source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the lead came from.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Dropdown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Website, Walk-In, Referral, ...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Created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the lead was added.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Script-filled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12-Oct-2026 09:30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Status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Overall state: Open, On Hold, Converted, Lost, Duplicate.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Dropdown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7A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(own)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Open, On Hold, Converted, Lost, Duplicate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Follow-Up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 of the latest follow-up (any activity type).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Script-filled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12-Oct-2026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Stage Change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the stage or substage last changed.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Script-filled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12-Oct-2026 14:05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Management columns (5/5): AE-AI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Lead Management</a:t>
            </a:r>
            <a:endParaRPr lang="en-US" sz="1000" dirty="0"/>
          </a:p>
        </p:txBody>
      </p:sp>
      <p:graphicFrame>
        <p:nvGraphicFramePr>
          <p:cNvPr id="14" name="table-6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508760"/>
                <a:gridCol w="3429000"/>
                <a:gridCol w="1417320"/>
                <a:gridCol w="1051560"/>
                <a:gridCol w="685800"/>
                <a:gridCol w="24963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 values / example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Assigned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the lead was last (re)assigned.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Script-filled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12-Oct-2026 09:30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Previous Counsellor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 before the latest reassignment.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Script-filled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Amit Verma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Activities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 of follow-ups and record updates in Follow-Up Log (automatic System entries not counted).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number (7)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Quality Flags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Problems with the lead. Starts with "Incomplete: ..." when a required field is missing (the Lead ID turns red).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Script-filled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Incomplete: Next Follow-Up Date; Duplicate mobile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Snapshot (system)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 copy of the last accepted values, used to undo wrong changes and to write the audit trail.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 system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note-66"/>
          <p:cNvSpPr txBox="1"/>
          <p:nvPr/>
        </p:nvSpPr>
        <p:spPr>
          <a:xfrm>
            <a:off x="548640" y="58978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573"/>
                </a:solidFill>
              </a:rPr>
              <a:t>Validation, who / when, source and dashboard use for every column: Field Guide sheet and docs/COLUMN_DICTIONARY.md.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Quality Flags (column AH)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Lead Management</a:t>
            </a:r>
            <a:endParaRPr lang="en-US" sz="1000" dirty="0"/>
          </a:p>
        </p:txBody>
      </p:sp>
      <p:graphicFrame>
        <p:nvGraphicFramePr>
          <p:cNvPr id="15" name="table-6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2511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Shown when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Incomplete: Next Follow-Up Date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or outcome changed on an open lead without a new follow-up date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Incomplete: Lead Substage (lost reason)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stage has substages but none is chosen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mobile / Invalid mobile format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Empty, or does not match the Mobile Number Pattern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 mobile / Duplicate email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Another lead has the same number (last 10 digits) / email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 email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is not in name@domain form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-6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77640"/>
          <a:ext cx="110916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2511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Shown when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Unassigned / Inactive/unknown counsellor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Assigned Counsellor / not an active counsellor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Inactive/unknown stage / Substage not valid for stage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no longer active / substage not of that stage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next follow-up date / Overdue follow-up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lead without a date / date before today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 last contact / follow-up date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cell is not a date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6" name="note-69"/>
          <p:cNvSpPr txBox="1"/>
          <p:nvPr/>
        </p:nvSpPr>
        <p:spPr>
          <a:xfrm>
            <a:off x="548640" y="58978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573"/>
                </a:solidFill>
              </a:rPr>
              <a:t>"Incomplete: ..." always comes first and turns the Lead ID and name red. Flags update after every change and hourly.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Entry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 3 of 11 - the only way to add new leads (admins)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Entry: purpose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Lead Entry</a:t>
            </a:r>
            <a:endParaRPr lang="en-US" sz="1000" dirty="0"/>
          </a:p>
        </p:txBody>
      </p:sp>
      <p:sp>
        <p:nvSpPr>
          <p:cNvPr id="4" name="bullets-70"/>
          <p:cNvSpPr txBox="1"/>
          <p:nvPr/>
        </p:nvSpPr>
        <p:spPr>
          <a:xfrm>
            <a:off x="548640" y="1280160"/>
            <a:ext cx="11094415" cy="4572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Hidden, admins only; type or paste one new lead per row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Lead CRM &gt; Add leads from Lead Entry checks every row with the same rules as Lead Management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Valid rows: created in Lead Management (ID, created date, defaults, log) and cleared; Result = Created + Lead ID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Invalid rows: stay at the top in red; Result = Error; Message says why in plain English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Duplicates per setting: Block = refused, Warn = created with a note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Thousands of rows per run; Lead Management grows when full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Entry columns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Lead Entry</a:t>
            </a:r>
            <a:endParaRPr lang="en-US" sz="1000" dirty="0"/>
          </a:p>
        </p:txBody>
      </p:sp>
      <p:graphicFrame>
        <p:nvGraphicFramePr>
          <p:cNvPr id="18" name="table-7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920240"/>
                <a:gridCol w="4663440"/>
                <a:gridCol w="1463040"/>
                <a:gridCol w="23591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 (example)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of the new lead. Required.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up to 100 characters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Number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Required. Numbers only; must match Mobile Number Pattern.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9876543210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Optional. Must be a valid email.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ravi@example.com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D-M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Field 1-10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names and visibility as the Custom Fields table. Optional.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/ Dropdown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 Values, or text up to 100 characters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Assigned Counsellor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Optional. Empty = unassigned.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Dropdown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counsellor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Source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Dropdown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Lists &amp; Settings: Lead Source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Priority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Dropdown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Lists &amp; Settings: Lead Priority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Remarks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Optional. Copied to Lead Remarks.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Max Remarks Length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 or Error. Filled by the CRM.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Script-filled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 / Error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the row was refused, or which lead was created. Filled by the CRM.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Script-filled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number must be 10 digits.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new Lead ID. Filled by the CRM.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Script-filled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LD-000124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Follow-Up Log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 4 of 11 - the permanent history of every activity and audited change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Follow-Up Log: purpose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Follow-Up Log</a:t>
            </a:r>
            <a:endParaRPr lang="en-US" sz="1000" dirty="0"/>
          </a:p>
        </p:txBody>
      </p:sp>
      <p:sp>
        <p:nvSpPr>
          <p:cNvPr id="4" name="card-72"/>
          <p:cNvSpPr/>
          <p:nvPr/>
        </p:nvSpPr>
        <p:spPr>
          <a:xfrm>
            <a:off x="548640" y="1234440"/>
            <a:ext cx="5486400" cy="448056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5" name="icon-bg-73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pic>
        <p:nvPicPr>
          <p:cNvPr id="6" name="icon-7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536192"/>
            <a:ext cx="265176" cy="265176"/>
          </a:xfrm>
          <a:prstGeom prst="rect">
            <a:avLst/>
          </a:prstGeom>
        </p:spPr>
      </p:pic>
      <p:sp>
        <p:nvSpPr>
          <p:cNvPr id="7" name="card-title-75"/>
          <p:cNvSpPr txBox="1"/>
          <p:nvPr/>
        </p:nvSpPr>
        <p:spPr>
          <a:xfrm>
            <a:off x="1353312" y="14173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What it is</a:t>
            </a:r>
            <a:endParaRPr lang="en-US" sz="1800" dirty="0"/>
          </a:p>
        </p:txBody>
      </p:sp>
      <p:sp>
        <p:nvSpPr>
          <p:cNvPr id="8" name="bullets-76"/>
          <p:cNvSpPr txBox="1"/>
          <p:nvPr/>
        </p:nvSpPr>
        <p:spPr>
          <a:xfrm>
            <a:off x="777240" y="2103120"/>
            <a:ext cx="507492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One row per follow-up, audited change, refused edit and admin action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Written only by the script; nothing is overwritten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Counts in Lead Management come from here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Entries of deleted leads stay, struck through</a:t>
            </a:r>
            <a:endParaRPr lang="en-US" sz="1550" dirty="0"/>
          </a:p>
        </p:txBody>
      </p:sp>
      <p:sp>
        <p:nvSpPr>
          <p:cNvPr id="9" name="card-77"/>
          <p:cNvSpPr/>
          <p:nvPr/>
        </p:nvSpPr>
        <p:spPr>
          <a:xfrm>
            <a:off x="6172200" y="1234440"/>
            <a:ext cx="5486400" cy="448056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0" name="icon-bg-78"/>
          <p:cNvSpPr/>
          <p:nvPr/>
        </p:nvSpPr>
        <p:spPr>
          <a:xfrm>
            <a:off x="6355080" y="1417320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pic>
        <p:nvPicPr>
          <p:cNvPr id="11" name="icon-7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3952" y="1536192"/>
            <a:ext cx="265176" cy="265176"/>
          </a:xfrm>
          <a:prstGeom prst="rect">
            <a:avLst/>
          </a:prstGeom>
        </p:spPr>
      </p:pic>
      <p:sp>
        <p:nvSpPr>
          <p:cNvPr id="12" name="card-title-80"/>
          <p:cNvSpPr txBox="1"/>
          <p:nvPr/>
        </p:nvSpPr>
        <p:spPr>
          <a:xfrm>
            <a:off x="6976872" y="14173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Protection</a:t>
            </a:r>
            <a:endParaRPr lang="en-US" sz="1800" dirty="0"/>
          </a:p>
        </p:txBody>
      </p:sp>
      <p:sp>
        <p:nvSpPr>
          <p:cNvPr id="13" name="bullets-81"/>
          <p:cNvSpPr txBox="1"/>
          <p:nvPr/>
        </p:nvSpPr>
        <p:spPr>
          <a:xfrm>
            <a:off x="6400800" y="2103120"/>
            <a:ext cx="507492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Hidden and strictly protected (admins only)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An admin's manual edit is itself logged as "Log Edited"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Grey text = System rows; blue = Record Update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Submission ID (hidden) blocks double saves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Follow-Up Log columns (1/2): 1-9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Follow-Up Log</a:t>
            </a:r>
            <a:endParaRPr lang="en-US" sz="1000" dirty="0"/>
          </a:p>
        </p:txBody>
      </p:sp>
      <p:graphicFrame>
        <p:nvGraphicFramePr>
          <p:cNvPr id="21" name="table-8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502920"/>
                <a:gridCol w="2194560"/>
                <a:gridCol w="5486400"/>
                <a:gridCol w="24963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 ID given when the row is written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ACT-000123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the entry belongs 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LD-000001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name at the 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Ravi Kumar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 credited, the person who made the change, or "System"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Counsellor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Date and 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it happened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12-Oct-2026 10:15:03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Type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Kind of activity or audited change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Outbound Call, Edit Reverted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 Outcome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 of the call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Interested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Stage at Time of Activity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after the change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Interested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Substage at Time of Activity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Substage after the change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Highly Interested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Follow-Up Log columns (2/2): 10-18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Follow-Up Log</a:t>
            </a:r>
            <a:endParaRPr lang="en-US" sz="1000" dirty="0"/>
          </a:p>
        </p:txBody>
      </p:sp>
      <p:graphicFrame>
        <p:nvGraphicFramePr>
          <p:cNvPr id="22" name="table-8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502920"/>
                <a:gridCol w="2194560"/>
                <a:gridCol w="5486400"/>
                <a:gridCol w="24963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Follow-Up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date entered with the follow-up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13-Oct-2026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Remarks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Remarks, or the reason for an audit / refused entry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Asked for fees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Updated By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of the account that made the change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name@gmail.com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Category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Contact, Record Update or System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Changed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field the entry is about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Stage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Value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before (or the value kept, for a refused edit)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Lead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Value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after (or the value attempted)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Interested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Owner at 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Assigned counsellor when written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Counsellor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Submission 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Hidden; blocks a double save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S7k2...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Master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 5 of 11 - stages and substages that drive the dropdowns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Master: purpose and columns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Stage Master</a:t>
            </a:r>
            <a:endParaRPr lang="en-US" sz="1000" dirty="0"/>
          </a:p>
        </p:txBody>
      </p:sp>
      <p:sp>
        <p:nvSpPr>
          <p:cNvPr id="4" name="bullets-84"/>
          <p:cNvSpPr txBox="1"/>
          <p:nvPr/>
        </p:nvSpPr>
        <p:spPr>
          <a:xfrm>
            <a:off x="548640" y="1234440"/>
            <a:ext cx="11094415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One row per stage + substage pair; hidden, admins only</a:t>
            </a:r>
            <a:endParaRPr lang="en-US" sz="14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Edits rebuild every substage dropdown automatically</a:t>
            </a:r>
            <a:endParaRPr lang="en-US" sz="14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Give the Lost stage substages: they are the lost reasons (required)</a:t>
            </a:r>
            <a:endParaRPr lang="en-US" sz="1450" dirty="0"/>
          </a:p>
        </p:txBody>
      </p:sp>
      <p:graphicFrame>
        <p:nvGraphicFramePr>
          <p:cNvPr id="24" name="table-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828800"/>
                <a:gridCol w="4663440"/>
                <a:gridCol w="1554480"/>
                <a:gridCol w="24963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Filled in automatically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STG-017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Stage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name shown in the dropdown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Interested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Substage name; blank for a stage without substages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Details Shared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Description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text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Brochure sent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Order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Sorts stages (same number on every row of a stage)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(decimals allowed)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Status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Inactive = not offered for new choices; existing leads keep 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Dropdown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/ Inactive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Remarks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 for admins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- replace...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Counsellor Master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 6 of 11 - counsellors, their Google emails and status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Counsellor Master: purpose and columns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Counsellor Master</a:t>
            </a:r>
            <a:endParaRPr lang="en-US" sz="1000" dirty="0"/>
          </a:p>
        </p:txBody>
      </p:sp>
      <p:sp>
        <p:nvSpPr>
          <p:cNvPr id="4" name="bullets-86"/>
          <p:cNvSpPr txBox="1"/>
          <p:nvPr/>
        </p:nvSpPr>
        <p:spPr>
          <a:xfrm>
            <a:off x="548640" y="1234440"/>
            <a:ext cx="11094415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Feeds the Assigned Counsellor dropdown and decides who is a counsellor</a:t>
            </a:r>
            <a:endParaRPr lang="en-US" sz="14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Hidden, admins only; do not rename a counsellor with history</a:t>
            </a:r>
            <a:endParaRPr lang="en-US" sz="14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Inactive counsellors: their edits are undone, the web app refuses them</a:t>
            </a:r>
            <a:endParaRPr lang="en-US" sz="1450" dirty="0"/>
          </a:p>
        </p:txBody>
      </p:sp>
      <p:graphicFrame>
        <p:nvGraphicFramePr>
          <p:cNvPr id="26" name="table-8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828800"/>
                <a:gridCol w="4663440"/>
                <a:gridCol w="1554480"/>
                <a:gridCol w="24963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 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Filled in automatically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CNS-004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 Name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in dropdowns and reports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Counsellor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of their Google account (any provider)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name@gmail.com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Leader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only (no extra rights)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Team Leader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Name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/ Inactive Status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Inactive = no assignments, no edits, no web app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Dropdown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/ Inactive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 Added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Today's date when left blank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12-Oct-2026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sheet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 7 of 11 - management reporting (details in Dashboard reporting)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Dashboard: purpose and cell map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Dashboard sheet</a:t>
            </a:r>
            <a:endParaRPr lang="en-US" sz="1000" dirty="0"/>
          </a:p>
        </p:txBody>
      </p:sp>
      <p:sp>
        <p:nvSpPr>
          <p:cNvPr id="4" name="bullets-88"/>
          <p:cNvSpPr txBox="1"/>
          <p:nvPr/>
        </p:nvSpPr>
        <p:spPr>
          <a:xfrm>
            <a:off x="548640" y="1234440"/>
            <a:ext cx="11094415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Numbers calculated by the script and written as values</a:t>
            </a:r>
            <a:endParaRPr lang="en-US" sz="14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Refresh: a filter change, every hour, Lead CRM &gt; Refresh dashboard (counsellors: within a minute)</a:t>
            </a:r>
            <a:endParaRPr lang="en-US" sz="14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Protected; only the four yellow filter cells are open</a:t>
            </a:r>
            <a:endParaRPr lang="en-US" sz="1450" dirty="0"/>
          </a:p>
        </p:txBody>
      </p:sp>
      <p:graphicFrame>
        <p:nvGraphicFramePr>
          <p:cNvPr id="28" name="table-8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5120640"/>
                <a:gridCol w="2011680"/>
                <a:gridCol w="17647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 / area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edits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Reporting Period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Dropdown (7 periods)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Anyone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F4 / I4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From / Custom To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Anyone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 filter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Dropdown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Anyone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C5 / F5 / I5 / K5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Applied From / To, Last Refreshed, warning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7-17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 KPI cards (including Incomplete Leads)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 20 down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Reports A, B, C, F, G, D, E; 6 charts from column 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Guide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 8 of 11 - every column explained, inside the file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Guide: purpose and columns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Field Guide</a:t>
            </a:r>
            <a:endParaRPr lang="en-US" sz="1000" dirty="0"/>
          </a:p>
        </p:txBody>
      </p:sp>
      <p:sp>
        <p:nvSpPr>
          <p:cNvPr id="4" name="bullets-90"/>
          <p:cNvSpPr txBox="1"/>
          <p:nvPr/>
        </p:nvSpPr>
        <p:spPr>
          <a:xfrm>
            <a:off x="548640" y="1234440"/>
            <a:ext cx="11094415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Read-only (admins only can change); visible to counsellors</a:t>
            </a:r>
            <a:endParaRPr lang="en-US" sz="14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One row per Lead Management column, then the Lead Entry columns</a:t>
            </a:r>
            <a:endParaRPr lang="en-US" sz="14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Generated from the same text as docs/COLUMN_DICTIONARY.md, so they never disagree</a:t>
            </a:r>
            <a:endParaRPr lang="en-US" sz="1450" dirty="0"/>
          </a:p>
        </p:txBody>
      </p:sp>
      <p:graphicFrame>
        <p:nvGraphicFramePr>
          <p:cNvPr id="30" name="table-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14600"/>
          <a:ext cx="11091672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71597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Guide column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 / Field / 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Letter, name, plain-English meaning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Manual, Dropdown, Script-filled, Formula, Hidden system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Updated by / When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Admin, Counsellor, Script or Formula, and on what event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comes from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 Master, Stage Master, Lists &amp; Settings, Follow-Up Log, form, Lead Entry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 values / format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an example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 for counsellors? / Admins can edit?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Counsellor-Editable Fields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/ Used in the Dashboard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 rule; KPIs and reports that use it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Lists &amp; Settings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 9 of 11 - lists, settings, custom fields and Counsellor-Editable Fields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Lists &amp; Settings columns (1/3): lists, buckets, settings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Lists &amp; Settings</a:t>
            </a:r>
            <a:endParaRPr lang="en-US" sz="1000" dirty="0"/>
          </a:p>
        </p:txBody>
      </p:sp>
      <p:graphicFrame>
        <p:nvGraphicFramePr>
          <p:cNvPr id="32" name="table-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011680"/>
                <a:gridCol w="4572000"/>
                <a:gridCol w="1463040"/>
                <a:gridCol w="24963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/ field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/ example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A-D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Priority, Outcome, Source, Status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Dropdown values (keep Open, On Hold, Converted, Lost, Duplicate spelt exactly)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lists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Critical, Hot ...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Type, Category, Show in 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 of log entries; Contact counts as a follow-up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/ Dropdown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Outbound Call / Contact / 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Status Values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list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Active, Inactive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J-L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Ageing Bucket, Min, Max Days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ranges for Dashboard report F (up to 10)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0-3 Days, 0,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N-P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Setting, Value, Description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only the Value column; settings are found by name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/ Dropdown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ID Prefix = LD-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note-93"/>
          <p:cNvSpPr txBox="1"/>
          <p:nvPr/>
        </p:nvSpPr>
        <p:spPr>
          <a:xfrm>
            <a:off x="548640" y="51206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573"/>
                </a:solidFill>
              </a:rPr>
              <a:t>The whole sheet is hidden and admins only. Changing a setting value re-applies the Lead Management rules at once.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Lists &amp; Settings columns (2/3): helper columns R-X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Lists &amp; Settings</a:t>
            </a:r>
            <a:endParaRPr lang="en-US" sz="1000" dirty="0"/>
          </a:p>
        </p:txBody>
      </p:sp>
      <p:graphicFrame>
        <p:nvGraphicFramePr>
          <p:cNvPr id="33" name="table-9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011680"/>
                <a:gridCol w="4572000"/>
                <a:gridCol w="1463040"/>
                <a:gridCol w="24963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/ field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/ example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Stages (auto)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Lead Stage dropdown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Lead, Contacted ...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Stages (auto)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stages, in order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Counsellors (auto)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Assigned Counsellor dropdown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 Filter (auto)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Dashboard counsellor filter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Counsellors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Reporting Periods (auto)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7 Dashboard periods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Today ...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W-X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/ Substage (auto)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stage/substage pair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Lists &amp; Settings columns (3/3): custom fields and editable fields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Lists &amp; Settings</a:t>
            </a:r>
            <a:endParaRPr lang="en-US" sz="1000" dirty="0"/>
          </a:p>
        </p:txBody>
      </p:sp>
      <p:graphicFrame>
        <p:nvGraphicFramePr>
          <p:cNvPr id="34" name="table-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011680"/>
                <a:gridCol w="4572000"/>
                <a:gridCol w="1463040"/>
                <a:gridCol w="24963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/ field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/ example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Field Slot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1-10 = Lead Management E-N (Lead Entry D-M)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Name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Header of that slot in Lead Management and Lead Entry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 Interested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(Yes/No)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= shown; No = hidden, data kept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Dropdown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(all 10 at setup)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 Values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Comma-separated: the column becomes a dropdown; blank = free text (100 chars)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MBA, BBA, BCom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Counsellor-Editable Fields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ONLY columns counsellors may change (own leads)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list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Stage, Substage, Priority, Next FU, Outcome, Remarks, Status, All Custom Fields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note-96"/>
          <p:cNvSpPr txBox="1"/>
          <p:nvPr/>
        </p:nvSpPr>
        <p:spPr>
          <a:xfrm>
            <a:off x="548640" y="49377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573"/>
                </a:solidFill>
              </a:rPr>
              <a:t>Contact, assignment and automatic columns can never be made editable. Changes apply at once (colours, protection, web app).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Log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 10 of 11 - who opened, viewed or changed what, and when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Log: purpose and columns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Access Log</a:t>
            </a:r>
            <a:endParaRPr lang="en-US" sz="1000" dirty="0"/>
          </a:p>
        </p:txBody>
      </p:sp>
      <p:sp>
        <p:nvSpPr>
          <p:cNvPr id="4" name="bullets-97"/>
          <p:cNvSpPr txBox="1"/>
          <p:nvPr/>
        </p:nvSpPr>
        <p:spPr>
          <a:xfrm>
            <a:off x="548640" y="1234440"/>
            <a:ext cx="11094415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Written by the script; hidden, admins only</a:t>
            </a:r>
            <a:endParaRPr lang="en-US" sz="14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Spreadsheet opens, web-app views and edits, correction windows</a:t>
            </a:r>
            <a:endParaRPr lang="en-US" sz="14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Grows with use: archive yearly</a:t>
            </a:r>
            <a:endParaRPr lang="en-US" sz="1450" dirty="0"/>
          </a:p>
        </p:txBody>
      </p:sp>
      <p:graphicFrame>
        <p:nvGraphicFramePr>
          <p:cNvPr id="36" name="table-9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011680"/>
                <a:gridCol w="5120640"/>
                <a:gridCol w="34107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Timestamp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it happened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12-Oct-2026 10:15:03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Email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Identified email (or "(unknown)")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name@gmail.com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 name for that email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Counsellor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Viewed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involved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LD-000001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IDs listed, old -&gt; new values, reason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Priority: "Warm" -&gt; "Hot"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app or Spreadsheet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app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Deleted Leads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 11 of 11 - leads removed by an admin, ready to restore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Deleted Leads: purpose and columns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Deleted Leads</a:t>
            </a:r>
            <a:endParaRPr lang="en-US" sz="1000" dirty="0"/>
          </a:p>
        </p:txBody>
      </p:sp>
      <p:sp>
        <p:nvSpPr>
          <p:cNvPr id="4" name="bullets-99"/>
          <p:cNvSpPr txBox="1"/>
          <p:nvPr/>
        </p:nvSpPr>
        <p:spPr>
          <a:xfrm>
            <a:off x="548640" y="1234440"/>
            <a:ext cx="11094415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Hidden, admins only; written only by Admin &gt; Delete lead(s)</a:t>
            </a:r>
            <a:endParaRPr lang="en-US" sz="14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Restore brings a lead back with its original Lead ID</a:t>
            </a:r>
            <a:endParaRPr lang="en-US" sz="14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Purge removes it for good after two confirmations</a:t>
            </a:r>
            <a:endParaRPr lang="en-US" sz="1450" dirty="0"/>
          </a:p>
        </p:txBody>
      </p:sp>
      <p:graphicFrame>
        <p:nvGraphicFramePr>
          <p:cNvPr id="38" name="table-10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11091672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743200"/>
                <a:gridCol w="5120640"/>
                <a:gridCol w="24963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Deleted At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 and time of the deletion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12-Oct-2026 16:40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Deleted By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email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admin@gmail.com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reason typed by the admin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 entry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D-AL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35 Lead Management columns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lead exactly as it was (Lead ID in D), including its snapshot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LD-000003, Asha ...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Colours and dropdowns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colours on Lead Management mean, and every default list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Management colour legend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Colours and dropdowns</a:t>
            </a:r>
            <a:endParaRPr lang="en-US" sz="1000" dirty="0"/>
          </a:p>
        </p:txBody>
      </p:sp>
      <p:sp>
        <p:nvSpPr>
          <p:cNvPr id="4" name="swatch-101"/>
          <p:cNvSpPr/>
          <p:nvPr/>
        </p:nvSpPr>
        <p:spPr>
          <a:xfrm>
            <a:off x="548640" y="1325880"/>
            <a:ext cx="17373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BFC5CE"/>
            </a:solidFill>
            <a:prstDash val="solid"/>
          </a:ln>
        </p:spPr>
      </p:sp>
      <p:sp>
        <p:nvSpPr>
          <p:cNvPr id="5" name="swatch-text-102"/>
          <p:cNvSpPr txBox="1"/>
          <p:nvPr/>
        </p:nvSpPr>
        <p:spPr>
          <a:xfrm>
            <a:off x="548640" y="13258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124"/>
                </a:solidFill>
              </a:rPr>
              <a:t>White cell</a:t>
            </a:r>
            <a:endParaRPr lang="en-US" sz="1200" dirty="0"/>
          </a:p>
        </p:txBody>
      </p:sp>
      <p:sp>
        <p:nvSpPr>
          <p:cNvPr id="6" name="sw-desc-103"/>
          <p:cNvSpPr txBox="1"/>
          <p:nvPr/>
        </p:nvSpPr>
        <p:spPr>
          <a:xfrm>
            <a:off x="2423160" y="13258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You may change it (your own leads)</a:t>
            </a:r>
            <a:endParaRPr lang="en-US" sz="1350" dirty="0"/>
          </a:p>
        </p:txBody>
      </p:sp>
      <p:sp>
        <p:nvSpPr>
          <p:cNvPr id="7" name="swatch-104"/>
          <p:cNvSpPr/>
          <p:nvPr/>
        </p:nvSpPr>
        <p:spPr>
          <a:xfrm>
            <a:off x="548640" y="2194560"/>
            <a:ext cx="1737360" cy="640080"/>
          </a:xfrm>
          <a:prstGeom prst="rect">
            <a:avLst/>
          </a:prstGeom>
          <a:solidFill>
            <a:srgbClr val="F2F3F4"/>
          </a:solidFill>
          <a:ln w="9525">
            <a:solidFill>
              <a:srgbClr val="BFC5CE"/>
            </a:solidFill>
            <a:prstDash val="solid"/>
          </a:ln>
        </p:spPr>
      </p:sp>
      <p:sp>
        <p:nvSpPr>
          <p:cNvPr id="8" name="swatch-text-105"/>
          <p:cNvSpPr txBox="1"/>
          <p:nvPr/>
        </p:nvSpPr>
        <p:spPr>
          <a:xfrm>
            <a:off x="548640" y="21945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66573"/>
                </a:solidFill>
              </a:rPr>
              <a:t>Grey cell</a:t>
            </a:r>
            <a:endParaRPr lang="en-US" sz="1200" dirty="0"/>
          </a:p>
        </p:txBody>
      </p:sp>
      <p:sp>
        <p:nvSpPr>
          <p:cNvPr id="9" name="sw-desc-106"/>
          <p:cNvSpPr txBox="1"/>
          <p:nvPr/>
        </p:nvSpPr>
        <p:spPr>
          <a:xfrm>
            <a:off x="2423160" y="21945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Automatic or admin only</a:t>
            </a:r>
            <a:endParaRPr lang="en-US" sz="1350" dirty="0"/>
          </a:p>
        </p:txBody>
      </p:sp>
      <p:sp>
        <p:nvSpPr>
          <p:cNvPr id="10" name="swatch-107"/>
          <p:cNvSpPr/>
          <p:nvPr/>
        </p:nvSpPr>
        <p:spPr>
          <a:xfrm>
            <a:off x="548640" y="3063240"/>
            <a:ext cx="1737360" cy="640080"/>
          </a:xfrm>
          <a:prstGeom prst="rect">
            <a:avLst/>
          </a:prstGeom>
          <a:solidFill>
            <a:srgbClr val="E74C3C"/>
          </a:solidFill>
          <a:ln w="9525">
            <a:solidFill>
              <a:srgbClr val="BFC5CE"/>
            </a:solidFill>
            <a:prstDash val="solid"/>
          </a:ln>
        </p:spPr>
      </p:sp>
      <p:sp>
        <p:nvSpPr>
          <p:cNvPr id="11" name="swatch-text-108"/>
          <p:cNvSpPr txBox="1"/>
          <p:nvPr/>
        </p:nvSpPr>
        <p:spPr>
          <a:xfrm>
            <a:off x="548640" y="30632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Incomplete</a:t>
            </a:r>
            <a:endParaRPr lang="en-US" sz="1200" dirty="0"/>
          </a:p>
        </p:txBody>
      </p:sp>
      <p:sp>
        <p:nvSpPr>
          <p:cNvPr id="12" name="sw-desc-109"/>
          <p:cNvSpPr txBox="1"/>
          <p:nvPr/>
        </p:nvSpPr>
        <p:spPr>
          <a:xfrm>
            <a:off x="2423160" y="30632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Lead ID + name + AH: a required field is missing</a:t>
            </a:r>
            <a:endParaRPr lang="en-US" sz="1350" dirty="0"/>
          </a:p>
        </p:txBody>
      </p:sp>
      <p:sp>
        <p:nvSpPr>
          <p:cNvPr id="13" name="swatch-110"/>
          <p:cNvSpPr/>
          <p:nvPr/>
        </p:nvSpPr>
        <p:spPr>
          <a:xfrm>
            <a:off x="548640" y="3931920"/>
            <a:ext cx="1737360" cy="640080"/>
          </a:xfrm>
          <a:prstGeom prst="rect">
            <a:avLst/>
          </a:prstGeom>
          <a:solidFill>
            <a:srgbClr val="F5B7B1"/>
          </a:solidFill>
          <a:ln w="9525">
            <a:solidFill>
              <a:srgbClr val="BFC5CE"/>
            </a:solidFill>
            <a:prstDash val="solid"/>
          </a:ln>
        </p:spPr>
      </p:sp>
      <p:sp>
        <p:nvSpPr>
          <p:cNvPr id="14" name="swatch-text-111"/>
          <p:cNvSpPr txBox="1"/>
          <p:nvPr/>
        </p:nvSpPr>
        <p:spPr>
          <a:xfrm>
            <a:off x="548640" y="39319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22B21"/>
                </a:solidFill>
              </a:rPr>
              <a:t>Overdue</a:t>
            </a:r>
            <a:endParaRPr lang="en-US" sz="1200" dirty="0"/>
          </a:p>
        </p:txBody>
      </p:sp>
      <p:sp>
        <p:nvSpPr>
          <p:cNvPr id="15" name="sw-desc-112"/>
          <p:cNvSpPr txBox="1"/>
          <p:nvPr/>
        </p:nvSpPr>
        <p:spPr>
          <a:xfrm>
            <a:off x="2423160" y="39319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Next Follow-Up Date before today (open lead)</a:t>
            </a:r>
            <a:endParaRPr lang="en-US" sz="1350" dirty="0"/>
          </a:p>
        </p:txBody>
      </p:sp>
      <p:sp>
        <p:nvSpPr>
          <p:cNvPr id="16" name="swatch-113"/>
          <p:cNvSpPr/>
          <p:nvPr/>
        </p:nvSpPr>
        <p:spPr>
          <a:xfrm>
            <a:off x="548640" y="4800600"/>
            <a:ext cx="1737360" cy="640080"/>
          </a:xfrm>
          <a:prstGeom prst="rect">
            <a:avLst/>
          </a:prstGeom>
          <a:solidFill>
            <a:srgbClr val="FCF3CF"/>
          </a:solidFill>
          <a:ln w="9525">
            <a:solidFill>
              <a:srgbClr val="BFC5CE"/>
            </a:solidFill>
            <a:prstDash val="solid"/>
          </a:ln>
        </p:spPr>
      </p:sp>
      <p:sp>
        <p:nvSpPr>
          <p:cNvPr id="17" name="swatch-text-114"/>
          <p:cNvSpPr txBox="1"/>
          <p:nvPr/>
        </p:nvSpPr>
        <p:spPr>
          <a:xfrm>
            <a:off x="548640" y="48006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D6608"/>
                </a:solidFill>
              </a:rPr>
              <a:t>Due today</a:t>
            </a:r>
            <a:endParaRPr lang="en-US" sz="1200" dirty="0"/>
          </a:p>
        </p:txBody>
      </p:sp>
      <p:sp>
        <p:nvSpPr>
          <p:cNvPr id="18" name="sw-desc-115"/>
          <p:cNvSpPr txBox="1"/>
          <p:nvPr/>
        </p:nvSpPr>
        <p:spPr>
          <a:xfrm>
            <a:off x="2423160" y="48006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Next Follow-Up Date is today</a:t>
            </a:r>
            <a:endParaRPr lang="en-US" sz="1350" dirty="0"/>
          </a:p>
        </p:txBody>
      </p:sp>
      <p:sp>
        <p:nvSpPr>
          <p:cNvPr id="19" name="swatch-116"/>
          <p:cNvSpPr/>
          <p:nvPr/>
        </p:nvSpPr>
        <p:spPr>
          <a:xfrm>
            <a:off x="6172200" y="1325880"/>
            <a:ext cx="1737360" cy="640080"/>
          </a:xfrm>
          <a:prstGeom prst="rect">
            <a:avLst/>
          </a:prstGeom>
          <a:solidFill>
            <a:srgbClr val="D6EAF8"/>
          </a:solidFill>
          <a:ln w="9525">
            <a:solidFill>
              <a:srgbClr val="BFC5CE"/>
            </a:solidFill>
            <a:prstDash val="solid"/>
          </a:ln>
        </p:spPr>
      </p:sp>
      <p:sp>
        <p:nvSpPr>
          <p:cNvPr id="20" name="swatch-text-117"/>
          <p:cNvSpPr txBox="1"/>
          <p:nvPr/>
        </p:nvSpPr>
        <p:spPr>
          <a:xfrm>
            <a:off x="6172200" y="13258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4F72"/>
                </a:solidFill>
              </a:rPr>
              <a:t>Upcoming</a:t>
            </a:r>
            <a:endParaRPr lang="en-US" sz="1200" dirty="0"/>
          </a:p>
        </p:txBody>
      </p:sp>
      <p:sp>
        <p:nvSpPr>
          <p:cNvPr id="21" name="sw-desc-118"/>
          <p:cNvSpPr txBox="1"/>
          <p:nvPr/>
        </p:nvSpPr>
        <p:spPr>
          <a:xfrm>
            <a:off x="8046720" y="13258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Within the Upcoming window (3 days)</a:t>
            </a:r>
            <a:endParaRPr lang="en-US" sz="1350" dirty="0"/>
          </a:p>
        </p:txBody>
      </p:sp>
      <p:sp>
        <p:nvSpPr>
          <p:cNvPr id="22" name="swatch-119"/>
          <p:cNvSpPr/>
          <p:nvPr/>
        </p:nvSpPr>
        <p:spPr>
          <a:xfrm>
            <a:off x="6172200" y="2194560"/>
            <a:ext cx="1737360" cy="640080"/>
          </a:xfrm>
          <a:prstGeom prst="rect">
            <a:avLst/>
          </a:prstGeom>
          <a:solidFill>
            <a:srgbClr val="D5F5E3"/>
          </a:solidFill>
          <a:ln w="9525">
            <a:solidFill>
              <a:srgbClr val="BFC5CE"/>
            </a:solidFill>
            <a:prstDash val="solid"/>
          </a:ln>
        </p:spPr>
      </p:sp>
      <p:sp>
        <p:nvSpPr>
          <p:cNvPr id="23" name="swatch-text-120"/>
          <p:cNvSpPr txBox="1"/>
          <p:nvPr/>
        </p:nvSpPr>
        <p:spPr>
          <a:xfrm>
            <a:off x="6172200" y="21945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5A32"/>
                </a:solidFill>
              </a:rPr>
              <a:t>Converted</a:t>
            </a:r>
            <a:endParaRPr lang="en-US" sz="1200" dirty="0"/>
          </a:p>
        </p:txBody>
      </p:sp>
      <p:sp>
        <p:nvSpPr>
          <p:cNvPr id="24" name="sw-desc-121"/>
          <p:cNvSpPr txBox="1"/>
          <p:nvPr/>
        </p:nvSpPr>
        <p:spPr>
          <a:xfrm>
            <a:off x="8046720" y="21945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Lead Status cell</a:t>
            </a:r>
            <a:endParaRPr lang="en-US" sz="1350" dirty="0"/>
          </a:p>
        </p:txBody>
      </p:sp>
      <p:sp>
        <p:nvSpPr>
          <p:cNvPr id="25" name="swatch-122"/>
          <p:cNvSpPr/>
          <p:nvPr/>
        </p:nvSpPr>
        <p:spPr>
          <a:xfrm>
            <a:off x="6172200" y="3063240"/>
            <a:ext cx="1737360" cy="640080"/>
          </a:xfrm>
          <a:prstGeom prst="rect">
            <a:avLst/>
          </a:prstGeom>
          <a:solidFill>
            <a:srgbClr val="E5E7E9"/>
          </a:solidFill>
          <a:ln w="9525">
            <a:solidFill>
              <a:srgbClr val="BFC5CE"/>
            </a:solidFill>
            <a:prstDash val="solid"/>
          </a:ln>
        </p:spPr>
      </p:sp>
      <p:sp>
        <p:nvSpPr>
          <p:cNvPr id="26" name="swatch-text-123"/>
          <p:cNvSpPr txBox="1"/>
          <p:nvPr/>
        </p:nvSpPr>
        <p:spPr>
          <a:xfrm>
            <a:off x="6172200" y="30632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B7D7D"/>
                </a:solidFill>
              </a:rPr>
              <a:t>Lost / Duplicate</a:t>
            </a:r>
            <a:endParaRPr lang="en-US" sz="1200" dirty="0"/>
          </a:p>
        </p:txBody>
      </p:sp>
      <p:sp>
        <p:nvSpPr>
          <p:cNvPr id="27" name="sw-desc-124"/>
          <p:cNvSpPr txBox="1"/>
          <p:nvPr/>
        </p:nvSpPr>
        <p:spPr>
          <a:xfrm>
            <a:off x="8046720" y="30632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Lead Status cell, italic</a:t>
            </a:r>
            <a:endParaRPr lang="en-US" sz="1350" dirty="0"/>
          </a:p>
        </p:txBody>
      </p:sp>
      <p:sp>
        <p:nvSpPr>
          <p:cNvPr id="28" name="swatch-125"/>
          <p:cNvSpPr/>
          <p:nvPr/>
        </p:nvSpPr>
        <p:spPr>
          <a:xfrm>
            <a:off x="6172200" y="3931920"/>
            <a:ext cx="1737360" cy="640080"/>
          </a:xfrm>
          <a:prstGeom prst="rect">
            <a:avLst/>
          </a:prstGeom>
          <a:solidFill>
            <a:srgbClr val="922B21"/>
          </a:solidFill>
          <a:ln w="9525">
            <a:solidFill>
              <a:srgbClr val="BFC5CE"/>
            </a:solidFill>
            <a:prstDash val="solid"/>
          </a:ln>
        </p:spPr>
      </p:sp>
      <p:sp>
        <p:nvSpPr>
          <p:cNvPr id="29" name="swatch-text-126"/>
          <p:cNvSpPr txBox="1"/>
          <p:nvPr/>
        </p:nvSpPr>
        <p:spPr>
          <a:xfrm>
            <a:off x="6172200" y="39319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Critical / Hot</a:t>
            </a:r>
            <a:endParaRPr lang="en-US" sz="1200" dirty="0"/>
          </a:p>
        </p:txBody>
      </p:sp>
      <p:sp>
        <p:nvSpPr>
          <p:cNvPr id="30" name="sw-desc-127"/>
          <p:cNvSpPr txBox="1"/>
          <p:nvPr/>
        </p:nvSpPr>
        <p:spPr>
          <a:xfrm>
            <a:off x="8046720" y="39319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Priority (Hot = orange)</a:t>
            </a:r>
            <a:endParaRPr lang="en-US" sz="1350" dirty="0"/>
          </a:p>
        </p:txBody>
      </p:sp>
      <p:sp>
        <p:nvSpPr>
          <p:cNvPr id="31" name="swatch-128"/>
          <p:cNvSpPr/>
          <p:nvPr/>
        </p:nvSpPr>
        <p:spPr>
          <a:xfrm>
            <a:off x="6172200" y="4800600"/>
            <a:ext cx="1737360" cy="640080"/>
          </a:xfrm>
          <a:prstGeom prst="rect">
            <a:avLst/>
          </a:prstGeom>
          <a:solidFill>
            <a:srgbClr val="FAD7A0"/>
          </a:solidFill>
          <a:ln w="9525">
            <a:solidFill>
              <a:srgbClr val="BFC5CE"/>
            </a:solidFill>
            <a:prstDash val="solid"/>
          </a:ln>
        </p:spPr>
      </p:sp>
      <p:sp>
        <p:nvSpPr>
          <p:cNvPr id="32" name="swatch-text-129"/>
          <p:cNvSpPr txBox="1"/>
          <p:nvPr/>
        </p:nvSpPr>
        <p:spPr>
          <a:xfrm>
            <a:off x="6172200" y="48006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84212"/>
                </a:solidFill>
              </a:rPr>
              <a:t>Duplicate</a:t>
            </a:r>
            <a:endParaRPr lang="en-US" sz="1200" dirty="0"/>
          </a:p>
        </p:txBody>
      </p:sp>
      <p:sp>
        <p:nvSpPr>
          <p:cNvPr id="33" name="sw-desc-130"/>
          <p:cNvSpPr txBox="1"/>
          <p:nvPr/>
        </p:nvSpPr>
        <p:spPr>
          <a:xfrm>
            <a:off x="8046720" y="48006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Mobile or Email used by another lead</a:t>
            </a:r>
            <a:endParaRPr lang="en-US" sz="1350" dirty="0"/>
          </a:p>
        </p:txBody>
      </p:sp>
      <p:sp>
        <p:nvSpPr>
          <p:cNvPr id="34" name="note-13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573"/>
                </a:solidFill>
              </a:rPr>
              <a:t>Header colours: navy = editable, purple = editable custom field, blue-grey = admin only, light grey = automatic.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Dropdown values (1/2): priority, outcome, source, status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Colours and dropdowns</a:t>
            </a:r>
            <a:endParaRPr lang="en-US" sz="1000" dirty="0"/>
          </a:p>
        </p:txBody>
      </p:sp>
      <p:sp>
        <p:nvSpPr>
          <p:cNvPr id="4" name="list-card-132"/>
          <p:cNvSpPr/>
          <p:nvPr/>
        </p:nvSpPr>
        <p:spPr>
          <a:xfrm>
            <a:off x="548640" y="1280160"/>
            <a:ext cx="2651760" cy="45720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5" name="list-t-133"/>
          <p:cNvSpPr txBox="1"/>
          <p:nvPr/>
        </p:nvSpPr>
        <p:spPr>
          <a:xfrm>
            <a:off x="731520" y="1371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Lead Priority</a:t>
            </a:r>
            <a:endParaRPr lang="en-US" sz="1600" dirty="0"/>
          </a:p>
        </p:txBody>
      </p:sp>
      <p:sp>
        <p:nvSpPr>
          <p:cNvPr id="6" name="list-v-134"/>
          <p:cNvSpPr txBox="1"/>
          <p:nvPr/>
        </p:nvSpPr>
        <p:spPr>
          <a:xfrm>
            <a:off x="731520" y="1874520"/>
            <a:ext cx="233172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Critical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Hot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Warm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Cold</a:t>
            </a:r>
            <a:endParaRPr lang="en-US" sz="1300" dirty="0"/>
          </a:p>
        </p:txBody>
      </p:sp>
      <p:sp>
        <p:nvSpPr>
          <p:cNvPr id="7" name="list-card-135"/>
          <p:cNvSpPr/>
          <p:nvPr/>
        </p:nvSpPr>
        <p:spPr>
          <a:xfrm>
            <a:off x="3355848" y="1280160"/>
            <a:ext cx="2651760" cy="45720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8" name="list-t-136"/>
          <p:cNvSpPr txBox="1"/>
          <p:nvPr/>
        </p:nvSpPr>
        <p:spPr>
          <a:xfrm>
            <a:off x="3538728" y="1371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Contact Outcome</a:t>
            </a:r>
            <a:endParaRPr lang="en-US" sz="1600" dirty="0"/>
          </a:p>
        </p:txBody>
      </p:sp>
      <p:sp>
        <p:nvSpPr>
          <p:cNvPr id="9" name="list-v-137"/>
          <p:cNvSpPr txBox="1"/>
          <p:nvPr/>
        </p:nvSpPr>
        <p:spPr>
          <a:xfrm>
            <a:off x="3538728" y="1874520"/>
            <a:ext cx="233172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Connected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Not Connected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Interested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Not Interested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Call Back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Busy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Switched Off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Wrong Number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Answer / Voicemail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Details Shared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Converted</a:t>
            </a:r>
            <a:endParaRPr lang="en-US" sz="1300" dirty="0"/>
          </a:p>
        </p:txBody>
      </p:sp>
      <p:sp>
        <p:nvSpPr>
          <p:cNvPr id="10" name="list-card-138"/>
          <p:cNvSpPr/>
          <p:nvPr/>
        </p:nvSpPr>
        <p:spPr>
          <a:xfrm>
            <a:off x="6163056" y="1280160"/>
            <a:ext cx="2651760" cy="45720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1" name="list-t-139"/>
          <p:cNvSpPr txBox="1"/>
          <p:nvPr/>
        </p:nvSpPr>
        <p:spPr>
          <a:xfrm>
            <a:off x="6345936" y="1371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Lead Source</a:t>
            </a:r>
            <a:endParaRPr lang="en-US" sz="1600" dirty="0"/>
          </a:p>
        </p:txBody>
      </p:sp>
      <p:sp>
        <p:nvSpPr>
          <p:cNvPr id="12" name="list-v-140"/>
          <p:cNvSpPr txBox="1"/>
          <p:nvPr/>
        </p:nvSpPr>
        <p:spPr>
          <a:xfrm>
            <a:off x="6345936" y="1874520"/>
            <a:ext cx="233172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Website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Walk-In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Referral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Social Media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Google Ads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Facebook / Instagram Ads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Event / Seminar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Inbound Call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Other</a:t>
            </a:r>
            <a:endParaRPr lang="en-US" sz="1300" dirty="0"/>
          </a:p>
        </p:txBody>
      </p:sp>
      <p:sp>
        <p:nvSpPr>
          <p:cNvPr id="13" name="list-card-141"/>
          <p:cNvSpPr/>
          <p:nvPr/>
        </p:nvSpPr>
        <p:spPr>
          <a:xfrm>
            <a:off x="8970264" y="1280160"/>
            <a:ext cx="2651760" cy="45720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4" name="list-t-142"/>
          <p:cNvSpPr txBox="1"/>
          <p:nvPr/>
        </p:nvSpPr>
        <p:spPr>
          <a:xfrm>
            <a:off x="9153144" y="1371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Lead Status</a:t>
            </a:r>
            <a:endParaRPr lang="en-US" sz="1600" dirty="0"/>
          </a:p>
        </p:txBody>
      </p:sp>
      <p:sp>
        <p:nvSpPr>
          <p:cNvPr id="15" name="list-v-143"/>
          <p:cNvSpPr txBox="1"/>
          <p:nvPr/>
        </p:nvSpPr>
        <p:spPr>
          <a:xfrm>
            <a:off x="9153144" y="1874520"/>
            <a:ext cx="233172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Open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 Hold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Converted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Lost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Duplicate</a:t>
            </a:r>
            <a:endParaRPr lang="en-US" sz="1300" dirty="0"/>
          </a:p>
        </p:txBody>
      </p:sp>
      <p:sp>
        <p:nvSpPr>
          <p:cNvPr id="16" name="note-144"/>
          <p:cNvSpPr txBox="1"/>
          <p:nvPr/>
        </p:nvSpPr>
        <p:spPr>
          <a:xfrm>
            <a:off x="548640" y="59436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573"/>
                </a:solidFill>
              </a:rPr>
              <a:t>Every dropdown REJECTS values not in its list. Converted / Lost status only with the matching stage.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Dropdown values (2/2): stages and activity types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Colours and dropdowns</a:t>
            </a:r>
            <a:endParaRPr lang="en-US" sz="1000" dirty="0"/>
          </a:p>
        </p:txBody>
      </p:sp>
      <p:graphicFrame>
        <p:nvGraphicFramePr>
          <p:cNvPr id="42" name="table-1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2179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554480"/>
                <a:gridCol w="3931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stage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Substages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Lead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Contacted, First Attempt Pending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Connected, Not Connected, Call Back Requested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Interested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Highly Interested, Details Shared, Follow-Up Required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 Started, Application Submitted, Documents Pending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Pending, Partial Payment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Successfully Converted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Interested, Not Eligible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3" name="table-1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234440"/>
          <a:ext cx="46634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00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types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Outbound / Inbound Call, WhatsApp, Email, SMS, Meeting / Walk-In, Sheet Update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 Update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 Scheduled, Other, Stage Updated, Lead Assigned, Status Updated, Field Updated, System Field Corrected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Created, Substage Cleared, Log Edited, Edit Reverted, Correction Window Opened, Lead Deleted / Restored / Purged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Settings reference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setting in Lists &amp; Settings (columns N-P)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Settings (1/3): IDs, defaults, stage rules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Settings reference</a:t>
            </a:r>
            <a:endParaRPr lang="en-US" sz="1000" dirty="0"/>
          </a:p>
        </p:txBody>
      </p:sp>
      <p:graphicFrame>
        <p:nvGraphicFramePr>
          <p:cNvPr id="44" name="table-1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737360"/>
                <a:gridCol w="6062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changing it does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ID Prefix / Digits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LD- / 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 of new Lead IDs (LD-000001); existing IDs never change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ID Prefix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ACT-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 of new Activity IDs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Lead Status / Stage / Substage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/ New Lead / Not Contacted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Given to every new lead from Lead Entry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Converted Stage / Lost Stage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Converted / Lost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Converted / Lost only allowed in these stages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Auto-Set Status From Stage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Moving into those stages sets the status; moving out sets it back to Open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Settings (2/3): contact checks and required fields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Settings reference</a:t>
            </a:r>
            <a:endParaRPr lang="en-US" sz="1000" dirty="0"/>
          </a:p>
        </p:txBody>
      </p:sp>
      <p:graphicFrame>
        <p:nvGraphicFramePr>
          <p:cNvPr id="45" name="table-1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737360"/>
                <a:gridCol w="6062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changing it does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 Mobile / Email Check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Off; Warn = allow and flag; Block = refuse (Lead Entry and admin edits)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Number Pattern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^[0-9]{10}$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 the mobile must match after spaces / dashes are removed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Number Message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number must be 10 digits.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 shown when it does not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 Next Follow-Up For Open Leads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stage / outcome change needs a new follow-up date, else Incomplete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 Substage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stage with substages needs one (Lost: the reason)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 Remarks On Follow-Up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form needs remarks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Settings (3/3): limits, identity, reminders, admins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Settings reference</a:t>
            </a:r>
            <a:endParaRPr lang="en-US" sz="1000" dirty="0"/>
          </a:p>
        </p:txBody>
      </p:sp>
      <p:graphicFrame>
        <p:nvGraphicFramePr>
          <p:cNvPr id="46" name="table-1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737360"/>
                <a:gridCol w="6062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changing it does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Next Follow-Up Days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Latest allowed next follow-up date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Remarks Length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Characters allowed in Lead Remarks and form remarks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 Form Activity 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Outbound Call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Type logged by the form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Upcoming Follow-Up Window (Days)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 "upcoming" highlight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Edits From Unknown Users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Undo edits when the editor cannot be identified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Reminders Enabled / Reminder Hour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/ 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list of incomplete + due leads (Admin menu)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Emails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runner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Administrators; then Admin &gt; Reapply protections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Protection and validation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CRM stops careless mistakes without anyone reading anything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layers of protection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Protection and validation</a:t>
            </a:r>
            <a:endParaRPr lang="en-US" sz="1000" dirty="0"/>
          </a:p>
        </p:txBody>
      </p:sp>
      <p:sp>
        <p:nvSpPr>
          <p:cNvPr id="4" name="card-150"/>
          <p:cNvSpPr/>
          <p:nvPr/>
        </p:nvSpPr>
        <p:spPr>
          <a:xfrm>
            <a:off x="548640" y="1234440"/>
            <a:ext cx="2697480" cy="448056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5" name="icon-bg-151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pic>
        <p:nvPicPr>
          <p:cNvPr id="6" name="icon-15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536192"/>
            <a:ext cx="265176" cy="265176"/>
          </a:xfrm>
          <a:prstGeom prst="rect">
            <a:avLst/>
          </a:prstGeom>
        </p:spPr>
      </p:pic>
      <p:sp>
        <p:nvSpPr>
          <p:cNvPr id="7" name="card-title-153"/>
          <p:cNvSpPr txBox="1"/>
          <p:nvPr/>
        </p:nvSpPr>
        <p:spPr>
          <a:xfrm>
            <a:off x="1353312" y="141732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Sheet protection</a:t>
            </a:r>
            <a:endParaRPr lang="en-US" sz="1800" dirty="0"/>
          </a:p>
        </p:txBody>
      </p:sp>
      <p:sp>
        <p:nvSpPr>
          <p:cNvPr id="8" name="bullets-154"/>
          <p:cNvSpPr txBox="1"/>
          <p:nvPr/>
        </p:nvSpPr>
        <p:spPr>
          <a:xfrm>
            <a:off x="777240" y="2103120"/>
            <a:ext cx="228600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Whole sheet locked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Open: white columns of rows that hold a lead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sorting, row deleting or column changes for counsellors</a:t>
            </a:r>
            <a:endParaRPr lang="en-US" sz="1400" dirty="0"/>
          </a:p>
        </p:txBody>
      </p:sp>
      <p:sp>
        <p:nvSpPr>
          <p:cNvPr id="9" name="card-155"/>
          <p:cNvSpPr/>
          <p:nvPr/>
        </p:nvSpPr>
        <p:spPr>
          <a:xfrm>
            <a:off x="3364992" y="1234440"/>
            <a:ext cx="2697480" cy="448056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0" name="icon-bg-156"/>
          <p:cNvSpPr/>
          <p:nvPr/>
        </p:nvSpPr>
        <p:spPr>
          <a:xfrm>
            <a:off x="3547872" y="1417320"/>
            <a:ext cx="502920" cy="502920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pic>
        <p:nvPicPr>
          <p:cNvPr id="11" name="icon-15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1536192"/>
            <a:ext cx="265176" cy="265176"/>
          </a:xfrm>
          <a:prstGeom prst="rect">
            <a:avLst/>
          </a:prstGeom>
        </p:spPr>
      </p:pic>
      <p:sp>
        <p:nvSpPr>
          <p:cNvPr id="12" name="card-title-158"/>
          <p:cNvSpPr txBox="1"/>
          <p:nvPr/>
        </p:nvSpPr>
        <p:spPr>
          <a:xfrm>
            <a:off x="4169664" y="141732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Strict validation</a:t>
            </a:r>
            <a:endParaRPr lang="en-US" sz="1800" dirty="0"/>
          </a:p>
        </p:txBody>
      </p:sp>
      <p:sp>
        <p:nvSpPr>
          <p:cNvPr id="13" name="bullets-159"/>
          <p:cNvSpPr txBox="1"/>
          <p:nvPr/>
        </p:nvSpPr>
        <p:spPr>
          <a:xfrm>
            <a:off x="3593592" y="2103120"/>
            <a:ext cx="228600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Dropdowns and calendar dates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Wrong values rejected, never just flagged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Remarks: the only free text</a:t>
            </a:r>
            <a:endParaRPr lang="en-US" sz="1400" dirty="0"/>
          </a:p>
        </p:txBody>
      </p:sp>
      <p:sp>
        <p:nvSpPr>
          <p:cNvPr id="14" name="card-160"/>
          <p:cNvSpPr/>
          <p:nvPr/>
        </p:nvSpPr>
        <p:spPr>
          <a:xfrm>
            <a:off x="6181344" y="1234440"/>
            <a:ext cx="2697480" cy="448056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5" name="icon-bg-161"/>
          <p:cNvSpPr/>
          <p:nvPr/>
        </p:nvSpPr>
        <p:spPr>
          <a:xfrm>
            <a:off x="6364224" y="1417320"/>
            <a:ext cx="502920" cy="50292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pic>
        <p:nvPicPr>
          <p:cNvPr id="16" name="icon-16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36192"/>
            <a:ext cx="265176" cy="265176"/>
          </a:xfrm>
          <a:prstGeom prst="rect">
            <a:avLst/>
          </a:prstGeom>
        </p:spPr>
      </p:pic>
      <p:sp>
        <p:nvSpPr>
          <p:cNvPr id="17" name="card-title-163"/>
          <p:cNvSpPr txBox="1"/>
          <p:nvPr/>
        </p:nvSpPr>
        <p:spPr>
          <a:xfrm>
            <a:off x="6986016" y="141732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Edit guard</a:t>
            </a:r>
            <a:endParaRPr lang="en-US" sz="1800" dirty="0"/>
          </a:p>
        </p:txBody>
      </p:sp>
      <p:sp>
        <p:nvSpPr>
          <p:cNvPr id="18" name="bullets-164"/>
          <p:cNvSpPr txBox="1"/>
          <p:nvPr/>
        </p:nvSpPr>
        <p:spPr>
          <a:xfrm>
            <a:off x="6409944" y="2103120"/>
            <a:ext cx="228600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Checks every edit as the owner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Puts back what is not allowed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Logs each attempt</a:t>
            </a:r>
            <a:endParaRPr lang="en-US" sz="1400" dirty="0"/>
          </a:p>
        </p:txBody>
      </p:sp>
      <p:sp>
        <p:nvSpPr>
          <p:cNvPr id="19" name="card-165"/>
          <p:cNvSpPr/>
          <p:nvPr/>
        </p:nvSpPr>
        <p:spPr>
          <a:xfrm>
            <a:off x="8997696" y="1234440"/>
            <a:ext cx="2642616" cy="4480560"/>
          </a:xfrm>
          <a:prstGeom prst="roundRect">
            <a:avLst>
              <a:gd name="adj" fmla="val 2768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20" name="icon-bg-166"/>
          <p:cNvSpPr/>
          <p:nvPr/>
        </p:nvSpPr>
        <p:spPr>
          <a:xfrm>
            <a:off x="9180576" y="1417320"/>
            <a:ext cx="502920" cy="50292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pic>
        <p:nvPicPr>
          <p:cNvPr id="21" name="icon-16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9448" y="1536192"/>
            <a:ext cx="265176" cy="265176"/>
          </a:xfrm>
          <a:prstGeom prst="rect">
            <a:avLst/>
          </a:prstGeom>
        </p:spPr>
      </p:pic>
      <p:sp>
        <p:nvSpPr>
          <p:cNvPr id="22" name="card-title-168"/>
          <p:cNvSpPr txBox="1"/>
          <p:nvPr/>
        </p:nvSpPr>
        <p:spPr>
          <a:xfrm>
            <a:off x="9802368" y="1417320"/>
            <a:ext cx="1728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Required fields</a:t>
            </a:r>
            <a:endParaRPr lang="en-US" sz="1800" dirty="0"/>
          </a:p>
        </p:txBody>
      </p:sp>
      <p:sp>
        <p:nvSpPr>
          <p:cNvPr id="23" name="bullets-169"/>
          <p:cNvSpPr txBox="1"/>
          <p:nvPr/>
        </p:nvSpPr>
        <p:spPr>
          <a:xfrm>
            <a:off x="9226296" y="2103120"/>
            <a:ext cx="2231136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Missing data = Incomplete (red)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Counted per counsellor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form will not save incomplete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edit guard puts back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Protection and validation</a:t>
            </a:r>
            <a:endParaRPr lang="en-US" sz="1000" dirty="0"/>
          </a:p>
        </p:txBody>
      </p:sp>
      <p:graphicFrame>
        <p:nvGraphicFramePr>
          <p:cNvPr id="49" name="table-17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377440"/>
                <a:gridCol w="39593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Attempt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an automatic column (ID, dates, Last Updated By...)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Anyone, also owner / admins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Undone: "... is filled automatically"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name, mobile, email, counsellor, source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 by protection / undone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a lead assigned to someone else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Undone: "You can only change your own leads"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in a row without a Lead 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Anyone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Removed: "add leads in Lead Entry"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 value, junk paste, formula, emptied dropdown /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Anyone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Undone with the reason; dropdowns put back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Converted / Lost without the matching stage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Anyone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Undone: "change the stage first"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edit by an unidentified person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 users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Undone: "use the Lead CRM menu once"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 / move / delete a column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 column removed; otherwise CRM paused until Undo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rules (reject, never warn)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Protection and validation</a:t>
            </a:r>
            <a:endParaRPr lang="en-US" sz="1000" dirty="0"/>
          </a:p>
        </p:txBody>
      </p:sp>
      <p:graphicFrame>
        <p:nvGraphicFramePr>
          <p:cNvPr id="50" name="table-17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5196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Stage, Priority, Outcome, Status, Source, Counsellor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values from the list; once filled they cannot be emptied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Substage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substages of the chosen stage; emptied when the stage changes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Follow-Up Date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date from the calendar; today up to 365 days ahead (open leads)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Contact Date (admins)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date, not in the future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Remarks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up to 500 characters; no formulas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(Lead Entry, admins)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Required; numbers only; must match the pattern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(Lead Entry, admins)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 email if entered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fields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 Values list, or text up to 100 characters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Required fields and "Incomplete"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Protection and validation</a:t>
            </a:r>
            <a:endParaRPr lang="en-US" sz="1000" dirty="0"/>
          </a:p>
        </p:txBody>
      </p:sp>
      <p:sp>
        <p:nvSpPr>
          <p:cNvPr id="4" name="step-172"/>
          <p:cNvSpPr/>
          <p:nvPr/>
        </p:nvSpPr>
        <p:spPr>
          <a:xfrm>
            <a:off x="548640" y="128016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5" name="step-num-bg-173"/>
          <p:cNvSpPr/>
          <p:nvPr/>
        </p:nvSpPr>
        <p:spPr>
          <a:xfrm>
            <a:off x="685800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6" name="step-num-174"/>
          <p:cNvSpPr txBox="1"/>
          <p:nvPr/>
        </p:nvSpPr>
        <p:spPr>
          <a:xfrm>
            <a:off x="68580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-title-175"/>
          <p:cNvSpPr txBox="1"/>
          <p:nvPr/>
        </p:nvSpPr>
        <p:spPr>
          <a:xfrm>
            <a:off x="1143000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change</a:t>
            </a:r>
            <a:endParaRPr lang="en-US" sz="1500" dirty="0"/>
          </a:p>
        </p:txBody>
      </p:sp>
      <p:sp>
        <p:nvSpPr>
          <p:cNvPr id="8" name="step-text-176"/>
          <p:cNvSpPr txBox="1"/>
          <p:nvPr/>
        </p:nvSpPr>
        <p:spPr>
          <a:xfrm>
            <a:off x="685800" y="19202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Counsellor changes the outcome or stage in the sheet.</a:t>
            </a:r>
            <a:endParaRPr lang="en-US" sz="1350" dirty="0"/>
          </a:p>
        </p:txBody>
      </p:sp>
      <p:sp>
        <p:nvSpPr>
          <p:cNvPr id="9" name="arrow-177"/>
          <p:cNvSpPr/>
          <p:nvPr/>
        </p:nvSpPr>
        <p:spPr>
          <a:xfrm>
            <a:off x="3063240" y="221742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10" name="step-178"/>
          <p:cNvSpPr/>
          <p:nvPr/>
        </p:nvSpPr>
        <p:spPr>
          <a:xfrm>
            <a:off x="3423818" y="128016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11" name="step-num-bg-179"/>
          <p:cNvSpPr/>
          <p:nvPr/>
        </p:nvSpPr>
        <p:spPr>
          <a:xfrm>
            <a:off x="3560978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2" name="step-num-180"/>
          <p:cNvSpPr txBox="1"/>
          <p:nvPr/>
        </p:nvSpPr>
        <p:spPr>
          <a:xfrm>
            <a:off x="3560978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step-title-181"/>
          <p:cNvSpPr txBox="1"/>
          <p:nvPr/>
        </p:nvSpPr>
        <p:spPr>
          <a:xfrm>
            <a:off x="4018178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Check</a:t>
            </a:r>
            <a:endParaRPr lang="en-US" sz="1500" dirty="0"/>
          </a:p>
        </p:txBody>
      </p:sp>
      <p:sp>
        <p:nvSpPr>
          <p:cNvPr id="14" name="step-text-182"/>
          <p:cNvSpPr txBox="1"/>
          <p:nvPr/>
        </p:nvSpPr>
        <p:spPr>
          <a:xfrm>
            <a:off x="3560978" y="19202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Open lead and no new follow-up date? Stage has substages but none chosen?</a:t>
            </a:r>
            <a:endParaRPr lang="en-US" sz="1350" dirty="0"/>
          </a:p>
        </p:txBody>
      </p:sp>
      <p:sp>
        <p:nvSpPr>
          <p:cNvPr id="15" name="arrow-183"/>
          <p:cNvSpPr/>
          <p:nvPr/>
        </p:nvSpPr>
        <p:spPr>
          <a:xfrm>
            <a:off x="5938418" y="221742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16" name="step-184"/>
          <p:cNvSpPr/>
          <p:nvPr/>
        </p:nvSpPr>
        <p:spPr>
          <a:xfrm>
            <a:off x="6298997" y="128016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17" name="step-num-bg-185"/>
          <p:cNvSpPr/>
          <p:nvPr/>
        </p:nvSpPr>
        <p:spPr>
          <a:xfrm>
            <a:off x="6436157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8" name="step-num-186"/>
          <p:cNvSpPr txBox="1"/>
          <p:nvPr/>
        </p:nvSpPr>
        <p:spPr>
          <a:xfrm>
            <a:off x="6436157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step-title-187"/>
          <p:cNvSpPr txBox="1"/>
          <p:nvPr/>
        </p:nvSpPr>
        <p:spPr>
          <a:xfrm>
            <a:off x="6893357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Incomplete</a:t>
            </a:r>
            <a:endParaRPr lang="en-US" sz="1500" dirty="0"/>
          </a:p>
        </p:txBody>
      </p:sp>
      <p:sp>
        <p:nvSpPr>
          <p:cNvPr id="20" name="step-text-188"/>
          <p:cNvSpPr txBox="1"/>
          <p:nvPr/>
        </p:nvSpPr>
        <p:spPr>
          <a:xfrm>
            <a:off x="6436157" y="19202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Lead ID and name turn red; AH says "Incomplete: ..."; listed first in My overdue follow-ups.</a:t>
            </a:r>
            <a:endParaRPr lang="en-US" sz="1350" dirty="0"/>
          </a:p>
        </p:txBody>
      </p:sp>
      <p:sp>
        <p:nvSpPr>
          <p:cNvPr id="21" name="arrow-189"/>
          <p:cNvSpPr/>
          <p:nvPr/>
        </p:nvSpPr>
        <p:spPr>
          <a:xfrm>
            <a:off x="8813597" y="221742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22" name="step-190"/>
          <p:cNvSpPr/>
          <p:nvPr/>
        </p:nvSpPr>
        <p:spPr>
          <a:xfrm>
            <a:off x="9174175" y="1280160"/>
            <a:ext cx="2468880" cy="1874520"/>
          </a:xfrm>
          <a:prstGeom prst="roundRect">
            <a:avLst>
              <a:gd name="adj" fmla="val 3902"/>
            </a:avLst>
          </a:prstGeom>
          <a:solidFill>
            <a:srgbClr val="FDEBD0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3" name="step-num-bg-191"/>
          <p:cNvSpPr/>
          <p:nvPr/>
        </p:nvSpPr>
        <p:spPr>
          <a:xfrm>
            <a:off x="9311335" y="1417320"/>
            <a:ext cx="384048" cy="384048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4" name="step-num-192"/>
          <p:cNvSpPr txBox="1"/>
          <p:nvPr/>
        </p:nvSpPr>
        <p:spPr>
          <a:xfrm>
            <a:off x="9311335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step-title-193"/>
          <p:cNvSpPr txBox="1"/>
          <p:nvPr/>
        </p:nvSpPr>
        <p:spPr>
          <a:xfrm>
            <a:off x="9768535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Not counted</a:t>
            </a:r>
            <a:endParaRPr lang="en-US" sz="1500" dirty="0"/>
          </a:p>
        </p:txBody>
      </p:sp>
      <p:sp>
        <p:nvSpPr>
          <p:cNvPr id="26" name="step-text-194"/>
          <p:cNvSpPr txBox="1"/>
          <p:nvPr/>
        </p:nvSpPr>
        <p:spPr>
          <a:xfrm>
            <a:off x="9311335" y="19202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The update is not counted as worked or as a follow-up yet.</a:t>
            </a:r>
            <a:endParaRPr lang="en-US" sz="1350" dirty="0"/>
          </a:p>
        </p:txBody>
      </p:sp>
      <p:sp>
        <p:nvSpPr>
          <p:cNvPr id="27" name="arrow-195"/>
          <p:cNvSpPr/>
          <p:nvPr/>
        </p:nvSpPr>
        <p:spPr>
          <a:xfrm>
            <a:off x="10408615" y="3154680"/>
            <a:ext cx="0" cy="25146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</a:ln>
        </p:spPr>
      </p:sp>
      <p:sp>
        <p:nvSpPr>
          <p:cNvPr id="28" name="arrow-196"/>
          <p:cNvSpPr/>
          <p:nvPr/>
        </p:nvSpPr>
        <p:spPr>
          <a:xfrm>
            <a:off x="1783080" y="3406140"/>
            <a:ext cx="8625535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</a:ln>
        </p:spPr>
      </p:sp>
      <p:sp>
        <p:nvSpPr>
          <p:cNvPr id="29" name="arrow-197"/>
          <p:cNvSpPr/>
          <p:nvPr/>
        </p:nvSpPr>
        <p:spPr>
          <a:xfrm>
            <a:off x="1783080" y="3406140"/>
            <a:ext cx="0" cy="25146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30" name="step-198"/>
          <p:cNvSpPr/>
          <p:nvPr/>
        </p:nvSpPr>
        <p:spPr>
          <a:xfrm>
            <a:off x="548640" y="365760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31" name="step-num-bg-199"/>
          <p:cNvSpPr/>
          <p:nvPr/>
        </p:nvSpPr>
        <p:spPr>
          <a:xfrm>
            <a:off x="685800" y="379476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2" name="step-num-200"/>
          <p:cNvSpPr txBox="1"/>
          <p:nvPr/>
        </p:nvSpPr>
        <p:spPr>
          <a:xfrm>
            <a:off x="68580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3" name="step-title-201"/>
          <p:cNvSpPr txBox="1"/>
          <p:nvPr/>
        </p:nvSpPr>
        <p:spPr>
          <a:xfrm>
            <a:off x="1143000" y="374904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Fixed</a:t>
            </a:r>
            <a:endParaRPr lang="en-US" sz="1500" dirty="0"/>
          </a:p>
        </p:txBody>
      </p:sp>
      <p:sp>
        <p:nvSpPr>
          <p:cNvPr id="34" name="step-text-202"/>
          <p:cNvSpPr txBox="1"/>
          <p:nvPr/>
        </p:nvSpPr>
        <p:spPr>
          <a:xfrm>
            <a:off x="685800" y="4297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Counsellor chooses the missing value (or saves the follow-up form).</a:t>
            </a:r>
            <a:endParaRPr lang="en-US" sz="1350" dirty="0"/>
          </a:p>
        </p:txBody>
      </p:sp>
      <p:sp>
        <p:nvSpPr>
          <p:cNvPr id="35" name="arrow-203"/>
          <p:cNvSpPr/>
          <p:nvPr/>
        </p:nvSpPr>
        <p:spPr>
          <a:xfrm>
            <a:off x="3063240" y="459486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36" name="step-204"/>
          <p:cNvSpPr/>
          <p:nvPr/>
        </p:nvSpPr>
        <p:spPr>
          <a:xfrm>
            <a:off x="3423818" y="365760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37" name="step-num-bg-205"/>
          <p:cNvSpPr/>
          <p:nvPr/>
        </p:nvSpPr>
        <p:spPr>
          <a:xfrm>
            <a:off x="3560978" y="379476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8" name="step-num-206"/>
          <p:cNvSpPr txBox="1"/>
          <p:nvPr/>
        </p:nvSpPr>
        <p:spPr>
          <a:xfrm>
            <a:off x="3560978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9" name="step-title-207"/>
          <p:cNvSpPr txBox="1"/>
          <p:nvPr/>
        </p:nvSpPr>
        <p:spPr>
          <a:xfrm>
            <a:off x="4018178" y="374904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Counted</a:t>
            </a:r>
            <a:endParaRPr lang="en-US" sz="1500" dirty="0"/>
          </a:p>
        </p:txBody>
      </p:sp>
      <p:sp>
        <p:nvSpPr>
          <p:cNvPr id="40" name="step-text-208"/>
          <p:cNvSpPr txBox="1"/>
          <p:nvPr/>
        </p:nvSpPr>
        <p:spPr>
          <a:xfrm>
            <a:off x="3560978" y="4297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Red disappears; the outcome change is logged as a follow-up ("Sheet Update").</a:t>
            </a:r>
            <a:endParaRPr lang="en-US" sz="1350" dirty="0"/>
          </a:p>
        </p:txBody>
      </p:sp>
      <p:sp>
        <p:nvSpPr>
          <p:cNvPr id="41" name="arrow-209"/>
          <p:cNvSpPr/>
          <p:nvPr/>
        </p:nvSpPr>
        <p:spPr>
          <a:xfrm>
            <a:off x="5938418" y="459486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42" name="step-210"/>
          <p:cNvSpPr/>
          <p:nvPr/>
        </p:nvSpPr>
        <p:spPr>
          <a:xfrm>
            <a:off x="6298997" y="365760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43" name="step-num-bg-211"/>
          <p:cNvSpPr/>
          <p:nvPr/>
        </p:nvSpPr>
        <p:spPr>
          <a:xfrm>
            <a:off x="6436157" y="379476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44" name="step-num-212"/>
          <p:cNvSpPr txBox="1"/>
          <p:nvPr/>
        </p:nvSpPr>
        <p:spPr>
          <a:xfrm>
            <a:off x="6436157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7</a:t>
            </a:r>
            <a:endParaRPr lang="en-US" sz="1400" dirty="0"/>
          </a:p>
        </p:txBody>
      </p:sp>
      <p:sp>
        <p:nvSpPr>
          <p:cNvPr id="45" name="step-title-213"/>
          <p:cNvSpPr txBox="1"/>
          <p:nvPr/>
        </p:nvSpPr>
        <p:spPr>
          <a:xfrm>
            <a:off x="6893357" y="374904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Dashboard</a:t>
            </a:r>
            <a:endParaRPr lang="en-US" sz="1500" dirty="0"/>
          </a:p>
        </p:txBody>
      </p:sp>
      <p:sp>
        <p:nvSpPr>
          <p:cNvPr id="46" name="step-text-214"/>
          <p:cNvSpPr txBox="1"/>
          <p:nvPr/>
        </p:nvSpPr>
        <p:spPr>
          <a:xfrm>
            <a:off x="6436157" y="4297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Incomplete Leads KPI and the per-counsellor column show who skips data.</a:t>
            </a:r>
            <a:endParaRPr lang="en-US" sz="1350" dirty="0"/>
          </a:p>
        </p:txBody>
      </p:sp>
      <p:sp>
        <p:nvSpPr>
          <p:cNvPr id="47" name="arrow-215"/>
          <p:cNvSpPr/>
          <p:nvPr/>
        </p:nvSpPr>
        <p:spPr>
          <a:xfrm>
            <a:off x="8813597" y="459486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48" name="step-216"/>
          <p:cNvSpPr/>
          <p:nvPr/>
        </p:nvSpPr>
        <p:spPr>
          <a:xfrm>
            <a:off x="9174175" y="365760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49" name="step-num-bg-217"/>
          <p:cNvSpPr/>
          <p:nvPr/>
        </p:nvSpPr>
        <p:spPr>
          <a:xfrm>
            <a:off x="9311335" y="379476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50" name="step-num-218"/>
          <p:cNvSpPr txBox="1"/>
          <p:nvPr/>
        </p:nvSpPr>
        <p:spPr>
          <a:xfrm>
            <a:off x="9311335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8</a:t>
            </a:r>
            <a:endParaRPr lang="en-US" sz="1400" dirty="0"/>
          </a:p>
        </p:txBody>
      </p:sp>
      <p:sp>
        <p:nvSpPr>
          <p:cNvPr id="51" name="step-title-219"/>
          <p:cNvSpPr txBox="1"/>
          <p:nvPr/>
        </p:nvSpPr>
        <p:spPr>
          <a:xfrm>
            <a:off x="9768535" y="374904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Reminder</a:t>
            </a:r>
            <a:endParaRPr lang="en-US" sz="1500" dirty="0"/>
          </a:p>
        </p:txBody>
      </p:sp>
      <p:sp>
        <p:nvSpPr>
          <p:cNvPr id="52" name="step-text-220"/>
          <p:cNvSpPr txBox="1"/>
          <p:nvPr/>
        </p:nvSpPr>
        <p:spPr>
          <a:xfrm>
            <a:off x="9311335" y="4297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Optional daily email lists incomplete and overdue leads.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workflows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by step: what people do and what the CRM does automatically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leads (admin, Lead Entry)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Key workflows</a:t>
            </a:r>
            <a:endParaRPr lang="en-US" sz="1000" dirty="0"/>
          </a:p>
        </p:txBody>
      </p:sp>
      <p:sp>
        <p:nvSpPr>
          <p:cNvPr id="4" name="step-221"/>
          <p:cNvSpPr/>
          <p:nvPr/>
        </p:nvSpPr>
        <p:spPr>
          <a:xfrm>
            <a:off x="548640" y="128016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5" name="step-num-bg-222"/>
          <p:cNvSpPr/>
          <p:nvPr/>
        </p:nvSpPr>
        <p:spPr>
          <a:xfrm>
            <a:off x="685800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6" name="step-num-223"/>
          <p:cNvSpPr txBox="1"/>
          <p:nvPr/>
        </p:nvSpPr>
        <p:spPr>
          <a:xfrm>
            <a:off x="68580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-title-224"/>
          <p:cNvSpPr txBox="1"/>
          <p:nvPr/>
        </p:nvSpPr>
        <p:spPr>
          <a:xfrm>
            <a:off x="1143000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Paste</a:t>
            </a:r>
            <a:endParaRPr lang="en-US" sz="1500" dirty="0"/>
          </a:p>
        </p:txBody>
      </p:sp>
      <p:sp>
        <p:nvSpPr>
          <p:cNvPr id="8" name="step-text-225"/>
          <p:cNvSpPr txBox="1"/>
          <p:nvPr/>
        </p:nvSpPr>
        <p:spPr>
          <a:xfrm>
            <a:off x="685800" y="19202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Admin &gt; Show admin sheets; type or paste rows in Lead Entry.</a:t>
            </a:r>
            <a:endParaRPr lang="en-US" sz="1350" dirty="0"/>
          </a:p>
        </p:txBody>
      </p:sp>
      <p:sp>
        <p:nvSpPr>
          <p:cNvPr id="9" name="arrow-226"/>
          <p:cNvSpPr/>
          <p:nvPr/>
        </p:nvSpPr>
        <p:spPr>
          <a:xfrm>
            <a:off x="3063240" y="221742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10" name="step-227"/>
          <p:cNvSpPr/>
          <p:nvPr/>
        </p:nvSpPr>
        <p:spPr>
          <a:xfrm>
            <a:off x="3423818" y="128016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11" name="step-num-bg-228"/>
          <p:cNvSpPr/>
          <p:nvPr/>
        </p:nvSpPr>
        <p:spPr>
          <a:xfrm>
            <a:off x="3560978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2" name="step-num-229"/>
          <p:cNvSpPr txBox="1"/>
          <p:nvPr/>
        </p:nvSpPr>
        <p:spPr>
          <a:xfrm>
            <a:off x="3560978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step-title-230"/>
          <p:cNvSpPr txBox="1"/>
          <p:nvPr/>
        </p:nvSpPr>
        <p:spPr>
          <a:xfrm>
            <a:off x="4018178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Run</a:t>
            </a:r>
            <a:endParaRPr lang="en-US" sz="1500" dirty="0"/>
          </a:p>
        </p:txBody>
      </p:sp>
      <p:sp>
        <p:nvSpPr>
          <p:cNvPr id="14" name="step-text-231"/>
          <p:cNvSpPr txBox="1"/>
          <p:nvPr/>
        </p:nvSpPr>
        <p:spPr>
          <a:xfrm>
            <a:off x="3560978" y="19202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Lead CRM &gt; Add leads from Lead Entry.</a:t>
            </a:r>
            <a:endParaRPr lang="en-US" sz="1350" dirty="0"/>
          </a:p>
        </p:txBody>
      </p:sp>
      <p:sp>
        <p:nvSpPr>
          <p:cNvPr id="15" name="arrow-232"/>
          <p:cNvSpPr/>
          <p:nvPr/>
        </p:nvSpPr>
        <p:spPr>
          <a:xfrm>
            <a:off x="5938418" y="221742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16" name="step-233"/>
          <p:cNvSpPr/>
          <p:nvPr/>
        </p:nvSpPr>
        <p:spPr>
          <a:xfrm>
            <a:off x="6298997" y="128016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17" name="step-num-bg-234"/>
          <p:cNvSpPr/>
          <p:nvPr/>
        </p:nvSpPr>
        <p:spPr>
          <a:xfrm>
            <a:off x="6436157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8" name="step-num-235"/>
          <p:cNvSpPr txBox="1"/>
          <p:nvPr/>
        </p:nvSpPr>
        <p:spPr>
          <a:xfrm>
            <a:off x="6436157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step-title-236"/>
          <p:cNvSpPr txBox="1"/>
          <p:nvPr/>
        </p:nvSpPr>
        <p:spPr>
          <a:xfrm>
            <a:off x="6893357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Checked</a:t>
            </a:r>
            <a:endParaRPr lang="en-US" sz="1500" dirty="0"/>
          </a:p>
        </p:txBody>
      </p:sp>
      <p:sp>
        <p:nvSpPr>
          <p:cNvPr id="20" name="step-text-237"/>
          <p:cNvSpPr txBox="1"/>
          <p:nvPr/>
        </p:nvSpPr>
        <p:spPr>
          <a:xfrm>
            <a:off x="6436157" y="19202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Name, mobile, email, counsellor, source, priority, custom values; duplicates per setting.</a:t>
            </a:r>
            <a:endParaRPr lang="en-US" sz="1350" dirty="0"/>
          </a:p>
        </p:txBody>
      </p:sp>
      <p:sp>
        <p:nvSpPr>
          <p:cNvPr id="21" name="arrow-238"/>
          <p:cNvSpPr/>
          <p:nvPr/>
        </p:nvSpPr>
        <p:spPr>
          <a:xfrm>
            <a:off x="8813597" y="221742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22" name="step-239"/>
          <p:cNvSpPr/>
          <p:nvPr/>
        </p:nvSpPr>
        <p:spPr>
          <a:xfrm>
            <a:off x="9174175" y="1280160"/>
            <a:ext cx="2468880" cy="1874520"/>
          </a:xfrm>
          <a:prstGeom prst="roundRect">
            <a:avLst>
              <a:gd name="adj" fmla="val 3902"/>
            </a:avLst>
          </a:prstGeom>
          <a:solidFill>
            <a:srgbClr val="FDEBD0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3" name="step-num-bg-240"/>
          <p:cNvSpPr/>
          <p:nvPr/>
        </p:nvSpPr>
        <p:spPr>
          <a:xfrm>
            <a:off x="9311335" y="1417320"/>
            <a:ext cx="384048" cy="384048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4" name="step-num-241"/>
          <p:cNvSpPr txBox="1"/>
          <p:nvPr/>
        </p:nvSpPr>
        <p:spPr>
          <a:xfrm>
            <a:off x="9311335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step-title-242"/>
          <p:cNvSpPr txBox="1"/>
          <p:nvPr/>
        </p:nvSpPr>
        <p:spPr>
          <a:xfrm>
            <a:off x="9768535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Errors stay</a:t>
            </a:r>
            <a:endParaRPr lang="en-US" sz="1500" dirty="0"/>
          </a:p>
        </p:txBody>
      </p:sp>
      <p:sp>
        <p:nvSpPr>
          <p:cNvPr id="26" name="step-text-243"/>
          <p:cNvSpPr txBox="1"/>
          <p:nvPr/>
        </p:nvSpPr>
        <p:spPr>
          <a:xfrm>
            <a:off x="9311335" y="19202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Bad rows stay red with a plain message ("Mobile number must be 10 digits.").</a:t>
            </a:r>
            <a:endParaRPr lang="en-US" sz="1350" dirty="0"/>
          </a:p>
        </p:txBody>
      </p:sp>
      <p:sp>
        <p:nvSpPr>
          <p:cNvPr id="27" name="arrow-244"/>
          <p:cNvSpPr/>
          <p:nvPr/>
        </p:nvSpPr>
        <p:spPr>
          <a:xfrm>
            <a:off x="10408615" y="3154680"/>
            <a:ext cx="0" cy="25146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</a:ln>
        </p:spPr>
      </p:sp>
      <p:sp>
        <p:nvSpPr>
          <p:cNvPr id="28" name="arrow-245"/>
          <p:cNvSpPr/>
          <p:nvPr/>
        </p:nvSpPr>
        <p:spPr>
          <a:xfrm>
            <a:off x="1783080" y="3406140"/>
            <a:ext cx="8625535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</a:ln>
        </p:spPr>
      </p:sp>
      <p:sp>
        <p:nvSpPr>
          <p:cNvPr id="29" name="arrow-246"/>
          <p:cNvSpPr/>
          <p:nvPr/>
        </p:nvSpPr>
        <p:spPr>
          <a:xfrm>
            <a:off x="1783080" y="3406140"/>
            <a:ext cx="0" cy="25146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30" name="step-247"/>
          <p:cNvSpPr/>
          <p:nvPr/>
        </p:nvSpPr>
        <p:spPr>
          <a:xfrm>
            <a:off x="548640" y="365760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31" name="step-num-bg-248"/>
          <p:cNvSpPr/>
          <p:nvPr/>
        </p:nvSpPr>
        <p:spPr>
          <a:xfrm>
            <a:off x="685800" y="379476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2" name="step-num-249"/>
          <p:cNvSpPr txBox="1"/>
          <p:nvPr/>
        </p:nvSpPr>
        <p:spPr>
          <a:xfrm>
            <a:off x="68580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3" name="step-title-250"/>
          <p:cNvSpPr txBox="1"/>
          <p:nvPr/>
        </p:nvSpPr>
        <p:spPr>
          <a:xfrm>
            <a:off x="1143000" y="374904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Created</a:t>
            </a:r>
            <a:endParaRPr lang="en-US" sz="1500" dirty="0"/>
          </a:p>
        </p:txBody>
      </p:sp>
      <p:sp>
        <p:nvSpPr>
          <p:cNvPr id="34" name="step-text-251"/>
          <p:cNvSpPr txBox="1"/>
          <p:nvPr/>
        </p:nvSpPr>
        <p:spPr>
          <a:xfrm>
            <a:off x="685800" y="4297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Good rows go to Lead Management: Lead ID, created date, default stage / status.</a:t>
            </a:r>
            <a:endParaRPr lang="en-US" sz="1350" dirty="0"/>
          </a:p>
        </p:txBody>
      </p:sp>
      <p:sp>
        <p:nvSpPr>
          <p:cNvPr id="35" name="arrow-252"/>
          <p:cNvSpPr/>
          <p:nvPr/>
        </p:nvSpPr>
        <p:spPr>
          <a:xfrm>
            <a:off x="3063240" y="459486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36" name="step-253"/>
          <p:cNvSpPr/>
          <p:nvPr/>
        </p:nvSpPr>
        <p:spPr>
          <a:xfrm>
            <a:off x="3423818" y="365760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37" name="step-num-bg-254"/>
          <p:cNvSpPr/>
          <p:nvPr/>
        </p:nvSpPr>
        <p:spPr>
          <a:xfrm>
            <a:off x="3560978" y="379476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8" name="step-num-255"/>
          <p:cNvSpPr txBox="1"/>
          <p:nvPr/>
        </p:nvSpPr>
        <p:spPr>
          <a:xfrm>
            <a:off x="3560978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9" name="step-title-256"/>
          <p:cNvSpPr txBox="1"/>
          <p:nvPr/>
        </p:nvSpPr>
        <p:spPr>
          <a:xfrm>
            <a:off x="4018178" y="374904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Assigned</a:t>
            </a:r>
            <a:endParaRPr lang="en-US" sz="1500" dirty="0"/>
          </a:p>
        </p:txBody>
      </p:sp>
      <p:sp>
        <p:nvSpPr>
          <p:cNvPr id="40" name="step-text-257"/>
          <p:cNvSpPr txBox="1"/>
          <p:nvPr/>
        </p:nvSpPr>
        <p:spPr>
          <a:xfrm>
            <a:off x="3560978" y="4297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With a counsellor: Lead Assigned Date; protection opened for the new rows.</a:t>
            </a:r>
            <a:endParaRPr lang="en-US" sz="1350" dirty="0"/>
          </a:p>
        </p:txBody>
      </p:sp>
      <p:sp>
        <p:nvSpPr>
          <p:cNvPr id="41" name="arrow-258"/>
          <p:cNvSpPr/>
          <p:nvPr/>
        </p:nvSpPr>
        <p:spPr>
          <a:xfrm>
            <a:off x="5938418" y="459486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42" name="step-259"/>
          <p:cNvSpPr/>
          <p:nvPr/>
        </p:nvSpPr>
        <p:spPr>
          <a:xfrm>
            <a:off x="6298997" y="365760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43" name="step-num-bg-260"/>
          <p:cNvSpPr/>
          <p:nvPr/>
        </p:nvSpPr>
        <p:spPr>
          <a:xfrm>
            <a:off x="6436157" y="379476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44" name="step-num-261"/>
          <p:cNvSpPr txBox="1"/>
          <p:nvPr/>
        </p:nvSpPr>
        <p:spPr>
          <a:xfrm>
            <a:off x="6436157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7</a:t>
            </a:r>
            <a:endParaRPr lang="en-US" sz="1400" dirty="0"/>
          </a:p>
        </p:txBody>
      </p:sp>
      <p:sp>
        <p:nvSpPr>
          <p:cNvPr id="45" name="step-title-262"/>
          <p:cNvSpPr txBox="1"/>
          <p:nvPr/>
        </p:nvSpPr>
        <p:spPr>
          <a:xfrm>
            <a:off x="6893357" y="374904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Logged</a:t>
            </a:r>
            <a:endParaRPr lang="en-US" sz="1500" dirty="0"/>
          </a:p>
        </p:txBody>
      </p:sp>
      <p:sp>
        <p:nvSpPr>
          <p:cNvPr id="46" name="step-text-263"/>
          <p:cNvSpPr txBox="1"/>
          <p:nvPr/>
        </p:nvSpPr>
        <p:spPr>
          <a:xfrm>
            <a:off x="6436157" y="4297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Follow-Up Log: one "Lead Created" row per lead.</a:t>
            </a:r>
            <a:endParaRPr lang="en-US" sz="1350" dirty="0"/>
          </a:p>
        </p:txBody>
      </p:sp>
      <p:sp>
        <p:nvSpPr>
          <p:cNvPr id="47" name="arrow-264"/>
          <p:cNvSpPr/>
          <p:nvPr/>
        </p:nvSpPr>
        <p:spPr>
          <a:xfrm>
            <a:off x="8813597" y="459486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48" name="step-265"/>
          <p:cNvSpPr/>
          <p:nvPr/>
        </p:nvSpPr>
        <p:spPr>
          <a:xfrm>
            <a:off x="9174175" y="365760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49" name="step-num-bg-266"/>
          <p:cNvSpPr/>
          <p:nvPr/>
        </p:nvSpPr>
        <p:spPr>
          <a:xfrm>
            <a:off x="9311335" y="379476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50" name="step-num-267"/>
          <p:cNvSpPr txBox="1"/>
          <p:nvPr/>
        </p:nvSpPr>
        <p:spPr>
          <a:xfrm>
            <a:off x="9311335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8</a:t>
            </a:r>
            <a:endParaRPr lang="en-US" sz="1400" dirty="0"/>
          </a:p>
        </p:txBody>
      </p:sp>
      <p:sp>
        <p:nvSpPr>
          <p:cNvPr id="51" name="step-title-268"/>
          <p:cNvSpPr txBox="1"/>
          <p:nvPr/>
        </p:nvSpPr>
        <p:spPr>
          <a:xfrm>
            <a:off x="9768535" y="374904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Cleared</a:t>
            </a:r>
            <a:endParaRPr lang="en-US" sz="1500" dirty="0"/>
          </a:p>
        </p:txBody>
      </p:sp>
      <p:sp>
        <p:nvSpPr>
          <p:cNvPr id="52" name="step-text-269"/>
          <p:cNvSpPr txBox="1"/>
          <p:nvPr/>
        </p:nvSpPr>
        <p:spPr>
          <a:xfrm>
            <a:off x="9311335" y="4297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Lead Entry keeps only errors and "Created" confirmations with the new IDs.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Counsellor day: logging a follow-up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Key workflows</a:t>
            </a:r>
            <a:endParaRPr lang="en-US" sz="1000" dirty="0"/>
          </a:p>
        </p:txBody>
      </p:sp>
      <p:sp>
        <p:nvSpPr>
          <p:cNvPr id="4" name="step-270"/>
          <p:cNvSpPr/>
          <p:nvPr/>
        </p:nvSpPr>
        <p:spPr>
          <a:xfrm>
            <a:off x="548640" y="128016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5" name="step-num-bg-271"/>
          <p:cNvSpPr/>
          <p:nvPr/>
        </p:nvSpPr>
        <p:spPr>
          <a:xfrm>
            <a:off x="685800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6" name="step-num-272"/>
          <p:cNvSpPr txBox="1"/>
          <p:nvPr/>
        </p:nvSpPr>
        <p:spPr>
          <a:xfrm>
            <a:off x="68580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-title-273"/>
          <p:cNvSpPr txBox="1"/>
          <p:nvPr/>
        </p:nvSpPr>
        <p:spPr>
          <a:xfrm>
            <a:off x="1143000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My list</a:t>
            </a:r>
            <a:endParaRPr lang="en-US" sz="1500" dirty="0"/>
          </a:p>
        </p:txBody>
      </p:sp>
      <p:sp>
        <p:nvSpPr>
          <p:cNvPr id="8" name="step-text-274"/>
          <p:cNvSpPr txBox="1"/>
          <p:nvPr/>
        </p:nvSpPr>
        <p:spPr>
          <a:xfrm>
            <a:off x="685800" y="19202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Lead CRM &gt; My overdue follow-ups: incomplete first, then due and overdue.</a:t>
            </a:r>
            <a:endParaRPr lang="en-US" sz="1350" dirty="0"/>
          </a:p>
        </p:txBody>
      </p:sp>
      <p:sp>
        <p:nvSpPr>
          <p:cNvPr id="9" name="arrow-275"/>
          <p:cNvSpPr/>
          <p:nvPr/>
        </p:nvSpPr>
        <p:spPr>
          <a:xfrm>
            <a:off x="3063240" y="221742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10" name="step-276"/>
          <p:cNvSpPr/>
          <p:nvPr/>
        </p:nvSpPr>
        <p:spPr>
          <a:xfrm>
            <a:off x="3423818" y="128016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11" name="step-num-bg-277"/>
          <p:cNvSpPr/>
          <p:nvPr/>
        </p:nvSpPr>
        <p:spPr>
          <a:xfrm>
            <a:off x="3560978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2" name="step-num-278"/>
          <p:cNvSpPr txBox="1"/>
          <p:nvPr/>
        </p:nvSpPr>
        <p:spPr>
          <a:xfrm>
            <a:off x="3560978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step-title-279"/>
          <p:cNvSpPr txBox="1"/>
          <p:nvPr/>
        </p:nvSpPr>
        <p:spPr>
          <a:xfrm>
            <a:off x="4018178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Open lead</a:t>
            </a:r>
            <a:endParaRPr lang="en-US" sz="1500" dirty="0"/>
          </a:p>
        </p:txBody>
      </p:sp>
      <p:sp>
        <p:nvSpPr>
          <p:cNvPr id="14" name="step-text-280"/>
          <p:cNvSpPr txBox="1"/>
          <p:nvPr/>
        </p:nvSpPr>
        <p:spPr>
          <a:xfrm>
            <a:off x="3560978" y="19202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Click a lead: its row is selected and the form opens.</a:t>
            </a:r>
            <a:endParaRPr lang="en-US" sz="1350" dirty="0"/>
          </a:p>
        </p:txBody>
      </p:sp>
      <p:sp>
        <p:nvSpPr>
          <p:cNvPr id="15" name="arrow-281"/>
          <p:cNvSpPr/>
          <p:nvPr/>
        </p:nvSpPr>
        <p:spPr>
          <a:xfrm>
            <a:off x="5938418" y="221742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16" name="step-282"/>
          <p:cNvSpPr/>
          <p:nvPr/>
        </p:nvSpPr>
        <p:spPr>
          <a:xfrm>
            <a:off x="6298997" y="128016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17" name="step-num-bg-283"/>
          <p:cNvSpPr/>
          <p:nvPr/>
        </p:nvSpPr>
        <p:spPr>
          <a:xfrm>
            <a:off x="6436157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8" name="step-num-284"/>
          <p:cNvSpPr txBox="1"/>
          <p:nvPr/>
        </p:nvSpPr>
        <p:spPr>
          <a:xfrm>
            <a:off x="6436157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step-title-285"/>
          <p:cNvSpPr txBox="1"/>
          <p:nvPr/>
        </p:nvSpPr>
        <p:spPr>
          <a:xfrm>
            <a:off x="6893357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Call</a:t>
            </a:r>
            <a:endParaRPr lang="en-US" sz="1500" dirty="0"/>
          </a:p>
        </p:txBody>
      </p:sp>
      <p:sp>
        <p:nvSpPr>
          <p:cNvPr id="20" name="step-text-286"/>
          <p:cNvSpPr txBox="1"/>
          <p:nvPr/>
        </p:nvSpPr>
        <p:spPr>
          <a:xfrm>
            <a:off x="6436157" y="19202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Call the lead (mobile shown on the card).</a:t>
            </a:r>
            <a:endParaRPr lang="en-US" sz="1350" dirty="0"/>
          </a:p>
        </p:txBody>
      </p:sp>
      <p:sp>
        <p:nvSpPr>
          <p:cNvPr id="21" name="arrow-287"/>
          <p:cNvSpPr/>
          <p:nvPr/>
        </p:nvSpPr>
        <p:spPr>
          <a:xfrm>
            <a:off x="8813597" y="221742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22" name="step-288"/>
          <p:cNvSpPr/>
          <p:nvPr/>
        </p:nvSpPr>
        <p:spPr>
          <a:xfrm>
            <a:off x="9174175" y="128016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23" name="step-num-bg-289"/>
          <p:cNvSpPr/>
          <p:nvPr/>
        </p:nvSpPr>
        <p:spPr>
          <a:xfrm>
            <a:off x="9311335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24" name="step-num-290"/>
          <p:cNvSpPr txBox="1"/>
          <p:nvPr/>
        </p:nvSpPr>
        <p:spPr>
          <a:xfrm>
            <a:off x="9311335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step-title-291"/>
          <p:cNvSpPr txBox="1"/>
          <p:nvPr/>
        </p:nvSpPr>
        <p:spPr>
          <a:xfrm>
            <a:off x="9768535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Fill the form</a:t>
            </a:r>
            <a:endParaRPr lang="en-US" sz="1500" dirty="0"/>
          </a:p>
        </p:txBody>
      </p:sp>
      <p:sp>
        <p:nvSpPr>
          <p:cNvPr id="26" name="step-text-292"/>
          <p:cNvSpPr txBox="1"/>
          <p:nvPr/>
        </p:nvSpPr>
        <p:spPr>
          <a:xfrm>
            <a:off x="9311335" y="19202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Outcome, Stage, Substage, Next Follow-Up Date, Remarks.</a:t>
            </a:r>
            <a:endParaRPr lang="en-US" sz="1350" dirty="0"/>
          </a:p>
        </p:txBody>
      </p:sp>
      <p:sp>
        <p:nvSpPr>
          <p:cNvPr id="27" name="arrow-293"/>
          <p:cNvSpPr/>
          <p:nvPr/>
        </p:nvSpPr>
        <p:spPr>
          <a:xfrm>
            <a:off x="10408615" y="3154680"/>
            <a:ext cx="0" cy="25146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</a:ln>
        </p:spPr>
      </p:sp>
      <p:sp>
        <p:nvSpPr>
          <p:cNvPr id="28" name="arrow-294"/>
          <p:cNvSpPr/>
          <p:nvPr/>
        </p:nvSpPr>
        <p:spPr>
          <a:xfrm>
            <a:off x="1783080" y="3406140"/>
            <a:ext cx="8625535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</a:ln>
        </p:spPr>
      </p:sp>
      <p:sp>
        <p:nvSpPr>
          <p:cNvPr id="29" name="arrow-295"/>
          <p:cNvSpPr/>
          <p:nvPr/>
        </p:nvSpPr>
        <p:spPr>
          <a:xfrm>
            <a:off x="1783080" y="3406140"/>
            <a:ext cx="0" cy="25146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30" name="step-296"/>
          <p:cNvSpPr/>
          <p:nvPr/>
        </p:nvSpPr>
        <p:spPr>
          <a:xfrm>
            <a:off x="548640" y="3657600"/>
            <a:ext cx="2468880" cy="1874520"/>
          </a:xfrm>
          <a:prstGeom prst="roundRect">
            <a:avLst>
              <a:gd name="adj" fmla="val 3902"/>
            </a:avLst>
          </a:prstGeom>
          <a:solidFill>
            <a:srgbClr val="FDEBD0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1" name="step-num-bg-297"/>
          <p:cNvSpPr/>
          <p:nvPr/>
        </p:nvSpPr>
        <p:spPr>
          <a:xfrm>
            <a:off x="685800" y="3794760"/>
            <a:ext cx="384048" cy="384048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2" name="step-num-298"/>
          <p:cNvSpPr txBox="1"/>
          <p:nvPr/>
        </p:nvSpPr>
        <p:spPr>
          <a:xfrm>
            <a:off x="68580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3" name="step-title-299"/>
          <p:cNvSpPr txBox="1"/>
          <p:nvPr/>
        </p:nvSpPr>
        <p:spPr>
          <a:xfrm>
            <a:off x="1143000" y="374904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Save refused?</a:t>
            </a:r>
            <a:endParaRPr lang="en-US" sz="1500" dirty="0"/>
          </a:p>
        </p:txBody>
      </p:sp>
      <p:sp>
        <p:nvSpPr>
          <p:cNvPr id="34" name="step-text-300"/>
          <p:cNvSpPr txBox="1"/>
          <p:nvPr/>
        </p:nvSpPr>
        <p:spPr>
          <a:xfrm>
            <a:off x="685800" y="4297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"Not saved yet:" lists exactly what is missing.</a:t>
            </a:r>
            <a:endParaRPr lang="en-US" sz="1350" dirty="0"/>
          </a:p>
        </p:txBody>
      </p:sp>
      <p:sp>
        <p:nvSpPr>
          <p:cNvPr id="35" name="arrow-301"/>
          <p:cNvSpPr/>
          <p:nvPr/>
        </p:nvSpPr>
        <p:spPr>
          <a:xfrm>
            <a:off x="3063240" y="459486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36" name="step-302"/>
          <p:cNvSpPr/>
          <p:nvPr/>
        </p:nvSpPr>
        <p:spPr>
          <a:xfrm>
            <a:off x="3423818" y="365760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37" name="step-num-bg-303"/>
          <p:cNvSpPr/>
          <p:nvPr/>
        </p:nvSpPr>
        <p:spPr>
          <a:xfrm>
            <a:off x="3560978" y="379476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8" name="step-num-304"/>
          <p:cNvSpPr txBox="1"/>
          <p:nvPr/>
        </p:nvSpPr>
        <p:spPr>
          <a:xfrm>
            <a:off x="3560978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9" name="step-title-305"/>
          <p:cNvSpPr txBox="1"/>
          <p:nvPr/>
        </p:nvSpPr>
        <p:spPr>
          <a:xfrm>
            <a:off x="4018178" y="374904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Saved</a:t>
            </a:r>
            <a:endParaRPr lang="en-US" sz="1500" dirty="0"/>
          </a:p>
        </p:txBody>
      </p:sp>
      <p:sp>
        <p:nvSpPr>
          <p:cNvPr id="40" name="step-text-306"/>
          <p:cNvSpPr txBox="1"/>
          <p:nvPr/>
        </p:nvSpPr>
        <p:spPr>
          <a:xfrm>
            <a:off x="3560978" y="4297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White cells change at once; double saves are refused.</a:t>
            </a:r>
            <a:endParaRPr lang="en-US" sz="1350" dirty="0"/>
          </a:p>
        </p:txBody>
      </p:sp>
      <p:sp>
        <p:nvSpPr>
          <p:cNvPr id="41" name="arrow-307"/>
          <p:cNvSpPr/>
          <p:nvPr/>
        </p:nvSpPr>
        <p:spPr>
          <a:xfrm>
            <a:off x="5938418" y="459486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42" name="step-308"/>
          <p:cNvSpPr/>
          <p:nvPr/>
        </p:nvSpPr>
        <p:spPr>
          <a:xfrm>
            <a:off x="6298997" y="365760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43" name="step-num-bg-309"/>
          <p:cNvSpPr/>
          <p:nvPr/>
        </p:nvSpPr>
        <p:spPr>
          <a:xfrm>
            <a:off x="6436157" y="379476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44" name="step-num-310"/>
          <p:cNvSpPr txBox="1"/>
          <p:nvPr/>
        </p:nvSpPr>
        <p:spPr>
          <a:xfrm>
            <a:off x="6436157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7</a:t>
            </a:r>
            <a:endParaRPr lang="en-US" sz="1400" dirty="0"/>
          </a:p>
        </p:txBody>
      </p:sp>
      <p:sp>
        <p:nvSpPr>
          <p:cNvPr id="45" name="step-title-311"/>
          <p:cNvSpPr txBox="1"/>
          <p:nvPr/>
        </p:nvSpPr>
        <p:spPr>
          <a:xfrm>
            <a:off x="6893357" y="374904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Owner trigger</a:t>
            </a:r>
            <a:endParaRPr lang="en-US" sz="1500" dirty="0"/>
          </a:p>
        </p:txBody>
      </p:sp>
      <p:sp>
        <p:nvSpPr>
          <p:cNvPr id="46" name="step-text-312"/>
          <p:cNvSpPr txBox="1"/>
          <p:nvPr/>
        </p:nvSpPr>
        <p:spPr>
          <a:xfrm>
            <a:off x="6436157" y="4297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Within a minute: log entry, Last Contact, Last Updated By, counts.</a:t>
            </a:r>
            <a:endParaRPr lang="en-US" sz="1350" dirty="0"/>
          </a:p>
        </p:txBody>
      </p:sp>
      <p:sp>
        <p:nvSpPr>
          <p:cNvPr id="47" name="arrow-313"/>
          <p:cNvSpPr/>
          <p:nvPr/>
        </p:nvSpPr>
        <p:spPr>
          <a:xfrm>
            <a:off x="8813597" y="459486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48" name="step-314"/>
          <p:cNvSpPr/>
          <p:nvPr/>
        </p:nvSpPr>
        <p:spPr>
          <a:xfrm>
            <a:off x="9174175" y="365760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49" name="step-num-bg-315"/>
          <p:cNvSpPr/>
          <p:nvPr/>
        </p:nvSpPr>
        <p:spPr>
          <a:xfrm>
            <a:off x="9311335" y="379476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50" name="step-num-316"/>
          <p:cNvSpPr txBox="1"/>
          <p:nvPr/>
        </p:nvSpPr>
        <p:spPr>
          <a:xfrm>
            <a:off x="9311335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8</a:t>
            </a:r>
            <a:endParaRPr lang="en-US" sz="1400" dirty="0"/>
          </a:p>
        </p:txBody>
      </p:sp>
      <p:sp>
        <p:nvSpPr>
          <p:cNvPr id="51" name="step-title-317"/>
          <p:cNvSpPr txBox="1"/>
          <p:nvPr/>
        </p:nvSpPr>
        <p:spPr>
          <a:xfrm>
            <a:off x="9768535" y="374904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Next lead</a:t>
            </a:r>
            <a:endParaRPr lang="en-US" sz="1500" dirty="0"/>
          </a:p>
        </p:txBody>
      </p:sp>
      <p:sp>
        <p:nvSpPr>
          <p:cNvPr id="52" name="step-text-318"/>
          <p:cNvSpPr txBox="1"/>
          <p:nvPr/>
        </p:nvSpPr>
        <p:spPr>
          <a:xfrm>
            <a:off x="9311335" y="4297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"Back to my follow-ups" until the list is empty.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-&gt; dependent substage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Key workflows</a:t>
            </a:r>
            <a:endParaRPr lang="en-US" sz="1000" dirty="0"/>
          </a:p>
        </p:txBody>
      </p:sp>
      <p:sp>
        <p:nvSpPr>
          <p:cNvPr id="4" name="step-319"/>
          <p:cNvSpPr/>
          <p:nvPr/>
        </p:nvSpPr>
        <p:spPr>
          <a:xfrm>
            <a:off x="548640" y="1280160"/>
            <a:ext cx="32918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5" name="step-num-bg-320"/>
          <p:cNvSpPr/>
          <p:nvPr/>
        </p:nvSpPr>
        <p:spPr>
          <a:xfrm>
            <a:off x="685800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6" name="step-num-321"/>
          <p:cNvSpPr txBox="1"/>
          <p:nvPr/>
        </p:nvSpPr>
        <p:spPr>
          <a:xfrm>
            <a:off x="68580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-title-322"/>
          <p:cNvSpPr txBox="1"/>
          <p:nvPr/>
        </p:nvSpPr>
        <p:spPr>
          <a:xfrm>
            <a:off x="1143000" y="13716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Pick a stage</a:t>
            </a:r>
            <a:endParaRPr lang="en-US" sz="1500" dirty="0"/>
          </a:p>
        </p:txBody>
      </p:sp>
      <p:sp>
        <p:nvSpPr>
          <p:cNvPr id="8" name="step-text-323"/>
          <p:cNvSpPr txBox="1"/>
          <p:nvPr/>
        </p:nvSpPr>
        <p:spPr>
          <a:xfrm>
            <a:off x="685800" y="19202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In the sheet, the form or the web app.</a:t>
            </a:r>
            <a:endParaRPr lang="en-US" sz="1350" dirty="0"/>
          </a:p>
        </p:txBody>
      </p:sp>
      <p:sp>
        <p:nvSpPr>
          <p:cNvPr id="9" name="arrow-324"/>
          <p:cNvSpPr/>
          <p:nvPr/>
        </p:nvSpPr>
        <p:spPr>
          <a:xfrm>
            <a:off x="3886200" y="2148840"/>
            <a:ext cx="51800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10" name="step-325"/>
          <p:cNvSpPr/>
          <p:nvPr/>
        </p:nvSpPr>
        <p:spPr>
          <a:xfrm>
            <a:off x="4449928" y="1280160"/>
            <a:ext cx="32918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11" name="step-num-bg-326"/>
          <p:cNvSpPr/>
          <p:nvPr/>
        </p:nvSpPr>
        <p:spPr>
          <a:xfrm>
            <a:off x="4587088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2" name="step-num-327"/>
          <p:cNvSpPr txBox="1"/>
          <p:nvPr/>
        </p:nvSpPr>
        <p:spPr>
          <a:xfrm>
            <a:off x="4587088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step-title-328"/>
          <p:cNvSpPr txBox="1"/>
          <p:nvPr/>
        </p:nvSpPr>
        <p:spPr>
          <a:xfrm>
            <a:off x="5044288" y="13716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Instant reset</a:t>
            </a:r>
            <a:endParaRPr lang="en-US" sz="1500" dirty="0"/>
          </a:p>
        </p:txBody>
      </p:sp>
      <p:sp>
        <p:nvSpPr>
          <p:cNvPr id="14" name="step-text-329"/>
          <p:cNvSpPr txBox="1"/>
          <p:nvPr/>
        </p:nvSpPr>
        <p:spPr>
          <a:xfrm>
            <a:off x="4587088" y="19202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The substage is emptied and its dropdown shows only this stage's substages.</a:t>
            </a:r>
            <a:endParaRPr lang="en-US" sz="1350" dirty="0"/>
          </a:p>
        </p:txBody>
      </p:sp>
      <p:sp>
        <p:nvSpPr>
          <p:cNvPr id="15" name="arrow-330"/>
          <p:cNvSpPr/>
          <p:nvPr/>
        </p:nvSpPr>
        <p:spPr>
          <a:xfrm>
            <a:off x="7787488" y="2148840"/>
            <a:ext cx="51800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16" name="step-331"/>
          <p:cNvSpPr/>
          <p:nvPr/>
        </p:nvSpPr>
        <p:spPr>
          <a:xfrm>
            <a:off x="8351215" y="1280160"/>
            <a:ext cx="32918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17" name="step-num-bg-332"/>
          <p:cNvSpPr/>
          <p:nvPr/>
        </p:nvSpPr>
        <p:spPr>
          <a:xfrm>
            <a:off x="8488375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8" name="step-num-333"/>
          <p:cNvSpPr txBox="1"/>
          <p:nvPr/>
        </p:nvSpPr>
        <p:spPr>
          <a:xfrm>
            <a:off x="8488375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step-title-334"/>
          <p:cNvSpPr txBox="1"/>
          <p:nvPr/>
        </p:nvSpPr>
        <p:spPr>
          <a:xfrm>
            <a:off x="8945575" y="13716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Pick substage</a:t>
            </a:r>
            <a:endParaRPr lang="en-US" sz="1500" dirty="0"/>
          </a:p>
        </p:txBody>
      </p:sp>
      <p:sp>
        <p:nvSpPr>
          <p:cNvPr id="20" name="step-text-335"/>
          <p:cNvSpPr txBox="1"/>
          <p:nvPr/>
        </p:nvSpPr>
        <p:spPr>
          <a:xfrm>
            <a:off x="8488375" y="19202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Anything else is refused. Required when the stage has substages.</a:t>
            </a:r>
            <a:endParaRPr lang="en-US" sz="1350" dirty="0"/>
          </a:p>
        </p:txBody>
      </p:sp>
      <p:sp>
        <p:nvSpPr>
          <p:cNvPr id="21" name="arrow-336"/>
          <p:cNvSpPr/>
          <p:nvPr/>
        </p:nvSpPr>
        <p:spPr>
          <a:xfrm>
            <a:off x="9997135" y="3017520"/>
            <a:ext cx="0" cy="25146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</a:ln>
        </p:spPr>
      </p:sp>
      <p:sp>
        <p:nvSpPr>
          <p:cNvPr id="22" name="arrow-337"/>
          <p:cNvSpPr/>
          <p:nvPr/>
        </p:nvSpPr>
        <p:spPr>
          <a:xfrm>
            <a:off x="2194560" y="3268980"/>
            <a:ext cx="7802575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</a:ln>
        </p:spPr>
      </p:sp>
      <p:sp>
        <p:nvSpPr>
          <p:cNvPr id="23" name="arrow-338"/>
          <p:cNvSpPr/>
          <p:nvPr/>
        </p:nvSpPr>
        <p:spPr>
          <a:xfrm>
            <a:off x="2194560" y="3268980"/>
            <a:ext cx="0" cy="25146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24" name="step-339"/>
          <p:cNvSpPr/>
          <p:nvPr/>
        </p:nvSpPr>
        <p:spPr>
          <a:xfrm>
            <a:off x="548640" y="3520440"/>
            <a:ext cx="32918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25" name="step-num-bg-340"/>
          <p:cNvSpPr/>
          <p:nvPr/>
        </p:nvSpPr>
        <p:spPr>
          <a:xfrm>
            <a:off x="685800" y="365760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26" name="step-num-341"/>
          <p:cNvSpPr txBox="1"/>
          <p:nvPr/>
        </p:nvSpPr>
        <p:spPr>
          <a:xfrm>
            <a:off x="685800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7" name="step-title-342"/>
          <p:cNvSpPr txBox="1"/>
          <p:nvPr/>
        </p:nvSpPr>
        <p:spPr>
          <a:xfrm>
            <a:off x="1143000" y="36118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Audit</a:t>
            </a:r>
            <a:endParaRPr lang="en-US" sz="1500" dirty="0"/>
          </a:p>
        </p:txBody>
      </p:sp>
      <p:sp>
        <p:nvSpPr>
          <p:cNvPr id="28" name="step-text-343"/>
          <p:cNvSpPr txBox="1"/>
          <p:nvPr/>
        </p:nvSpPr>
        <p:spPr>
          <a:xfrm>
            <a:off x="685800" y="41605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"Stage Updated" (old -&gt; new) and "Substage Cleared"; Last Stage Change Date stamped.</a:t>
            </a:r>
            <a:endParaRPr lang="en-US" sz="1350" dirty="0"/>
          </a:p>
        </p:txBody>
      </p:sp>
      <p:sp>
        <p:nvSpPr>
          <p:cNvPr id="29" name="arrow-344"/>
          <p:cNvSpPr/>
          <p:nvPr/>
        </p:nvSpPr>
        <p:spPr>
          <a:xfrm>
            <a:off x="3886200" y="4389120"/>
            <a:ext cx="51800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30" name="step-345"/>
          <p:cNvSpPr/>
          <p:nvPr/>
        </p:nvSpPr>
        <p:spPr>
          <a:xfrm>
            <a:off x="4449928" y="3520440"/>
            <a:ext cx="32918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31" name="step-num-bg-346"/>
          <p:cNvSpPr/>
          <p:nvPr/>
        </p:nvSpPr>
        <p:spPr>
          <a:xfrm>
            <a:off x="4587088" y="365760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2" name="step-num-347"/>
          <p:cNvSpPr txBox="1"/>
          <p:nvPr/>
        </p:nvSpPr>
        <p:spPr>
          <a:xfrm>
            <a:off x="4587088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3" name="step-title-348"/>
          <p:cNvSpPr txBox="1"/>
          <p:nvPr/>
        </p:nvSpPr>
        <p:spPr>
          <a:xfrm>
            <a:off x="5044288" y="36118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Status</a:t>
            </a:r>
            <a:endParaRPr lang="en-US" sz="1500" dirty="0"/>
          </a:p>
        </p:txBody>
      </p:sp>
      <p:sp>
        <p:nvSpPr>
          <p:cNvPr id="34" name="step-text-349"/>
          <p:cNvSpPr txBox="1"/>
          <p:nvPr/>
        </p:nvSpPr>
        <p:spPr>
          <a:xfrm>
            <a:off x="4587088" y="41605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Converted / Lost stage sets the status; leaving it sets Open again.</a:t>
            </a:r>
            <a:endParaRPr lang="en-US" sz="1350" dirty="0"/>
          </a:p>
        </p:txBody>
      </p:sp>
      <p:sp>
        <p:nvSpPr>
          <p:cNvPr id="35" name="arrow-350"/>
          <p:cNvSpPr/>
          <p:nvPr/>
        </p:nvSpPr>
        <p:spPr>
          <a:xfrm>
            <a:off x="7787488" y="4389120"/>
            <a:ext cx="51800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36" name="step-351"/>
          <p:cNvSpPr/>
          <p:nvPr/>
        </p:nvSpPr>
        <p:spPr>
          <a:xfrm>
            <a:off x="8351215" y="3520440"/>
            <a:ext cx="3291840" cy="1737360"/>
          </a:xfrm>
          <a:prstGeom prst="roundRect">
            <a:avLst>
              <a:gd name="adj" fmla="val 4211"/>
            </a:avLst>
          </a:prstGeom>
          <a:solidFill>
            <a:srgbClr val="FDEBD0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7" name="step-num-bg-352"/>
          <p:cNvSpPr/>
          <p:nvPr/>
        </p:nvSpPr>
        <p:spPr>
          <a:xfrm>
            <a:off x="8488375" y="3657600"/>
            <a:ext cx="384048" cy="384048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8" name="step-num-353"/>
          <p:cNvSpPr txBox="1"/>
          <p:nvPr/>
        </p:nvSpPr>
        <p:spPr>
          <a:xfrm>
            <a:off x="8488375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9" name="step-title-354"/>
          <p:cNvSpPr txBox="1"/>
          <p:nvPr/>
        </p:nvSpPr>
        <p:spPr>
          <a:xfrm>
            <a:off x="8945575" y="36118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Next date</a:t>
            </a:r>
            <a:endParaRPr lang="en-US" sz="1500" dirty="0"/>
          </a:p>
        </p:txBody>
      </p:sp>
      <p:sp>
        <p:nvSpPr>
          <p:cNvPr id="40" name="step-text-355"/>
          <p:cNvSpPr txBox="1"/>
          <p:nvPr/>
        </p:nvSpPr>
        <p:spPr>
          <a:xfrm>
            <a:off x="8488375" y="41605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 new next follow-up date is needed (else Incomplete).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Reassigning a lead (admin)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Key workflows</a:t>
            </a:r>
            <a:endParaRPr lang="en-US" sz="1000" dirty="0"/>
          </a:p>
        </p:txBody>
      </p:sp>
      <p:sp>
        <p:nvSpPr>
          <p:cNvPr id="4" name="step-356"/>
          <p:cNvSpPr/>
          <p:nvPr/>
        </p:nvSpPr>
        <p:spPr>
          <a:xfrm>
            <a:off x="548640" y="1280160"/>
            <a:ext cx="32918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5" name="step-num-bg-357"/>
          <p:cNvSpPr/>
          <p:nvPr/>
        </p:nvSpPr>
        <p:spPr>
          <a:xfrm>
            <a:off x="685800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6" name="step-num-358"/>
          <p:cNvSpPr txBox="1"/>
          <p:nvPr/>
        </p:nvSpPr>
        <p:spPr>
          <a:xfrm>
            <a:off x="68580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-title-359"/>
          <p:cNvSpPr txBox="1"/>
          <p:nvPr/>
        </p:nvSpPr>
        <p:spPr>
          <a:xfrm>
            <a:off x="1143000" y="13716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Change owner</a:t>
            </a:r>
            <a:endParaRPr lang="en-US" sz="1500" dirty="0"/>
          </a:p>
        </p:txBody>
      </p:sp>
      <p:sp>
        <p:nvSpPr>
          <p:cNvPr id="8" name="step-text-360"/>
          <p:cNvSpPr txBox="1"/>
          <p:nvPr/>
        </p:nvSpPr>
        <p:spPr>
          <a:xfrm>
            <a:off x="685800" y="19202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Admin picks a new Assigned Counsellor (active only), or pastes many.</a:t>
            </a:r>
            <a:endParaRPr lang="en-US" sz="1350" dirty="0"/>
          </a:p>
        </p:txBody>
      </p:sp>
      <p:sp>
        <p:nvSpPr>
          <p:cNvPr id="9" name="arrow-361"/>
          <p:cNvSpPr/>
          <p:nvPr/>
        </p:nvSpPr>
        <p:spPr>
          <a:xfrm>
            <a:off x="3886200" y="2148840"/>
            <a:ext cx="51800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10" name="step-362"/>
          <p:cNvSpPr/>
          <p:nvPr/>
        </p:nvSpPr>
        <p:spPr>
          <a:xfrm>
            <a:off x="4449928" y="1280160"/>
            <a:ext cx="32918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11" name="step-num-bg-363"/>
          <p:cNvSpPr/>
          <p:nvPr/>
        </p:nvSpPr>
        <p:spPr>
          <a:xfrm>
            <a:off x="4587088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2" name="step-num-364"/>
          <p:cNvSpPr txBox="1"/>
          <p:nvPr/>
        </p:nvSpPr>
        <p:spPr>
          <a:xfrm>
            <a:off x="4587088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step-title-365"/>
          <p:cNvSpPr txBox="1"/>
          <p:nvPr/>
        </p:nvSpPr>
        <p:spPr>
          <a:xfrm>
            <a:off x="5044288" y="13716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Previous owner</a:t>
            </a:r>
            <a:endParaRPr lang="en-US" sz="1500" dirty="0"/>
          </a:p>
        </p:txBody>
      </p:sp>
      <p:sp>
        <p:nvSpPr>
          <p:cNvPr id="14" name="step-text-366"/>
          <p:cNvSpPr txBox="1"/>
          <p:nvPr/>
        </p:nvSpPr>
        <p:spPr>
          <a:xfrm>
            <a:off x="4587088" y="19202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Previous Counsellor keeps the old name; Lead Assigned Date stamped.</a:t>
            </a:r>
            <a:endParaRPr lang="en-US" sz="1350" dirty="0"/>
          </a:p>
        </p:txBody>
      </p:sp>
      <p:sp>
        <p:nvSpPr>
          <p:cNvPr id="15" name="arrow-367"/>
          <p:cNvSpPr/>
          <p:nvPr/>
        </p:nvSpPr>
        <p:spPr>
          <a:xfrm>
            <a:off x="7787488" y="2148840"/>
            <a:ext cx="51800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16" name="step-368"/>
          <p:cNvSpPr/>
          <p:nvPr/>
        </p:nvSpPr>
        <p:spPr>
          <a:xfrm>
            <a:off x="8351215" y="1280160"/>
            <a:ext cx="32918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17" name="step-num-bg-369"/>
          <p:cNvSpPr/>
          <p:nvPr/>
        </p:nvSpPr>
        <p:spPr>
          <a:xfrm>
            <a:off x="8488375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8" name="step-num-370"/>
          <p:cNvSpPr txBox="1"/>
          <p:nvPr/>
        </p:nvSpPr>
        <p:spPr>
          <a:xfrm>
            <a:off x="8488375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step-title-371"/>
          <p:cNvSpPr txBox="1"/>
          <p:nvPr/>
        </p:nvSpPr>
        <p:spPr>
          <a:xfrm>
            <a:off x="8945575" y="13716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Audit row</a:t>
            </a:r>
            <a:endParaRPr lang="en-US" sz="1500" dirty="0"/>
          </a:p>
        </p:txBody>
      </p:sp>
      <p:sp>
        <p:nvSpPr>
          <p:cNvPr id="20" name="step-text-372"/>
          <p:cNvSpPr txBox="1"/>
          <p:nvPr/>
        </p:nvSpPr>
        <p:spPr>
          <a:xfrm>
            <a:off x="8488375" y="19202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"Lead Assigned" with old -&gt; new for every row.</a:t>
            </a:r>
            <a:endParaRPr lang="en-US" sz="1350" dirty="0"/>
          </a:p>
        </p:txBody>
      </p:sp>
      <p:sp>
        <p:nvSpPr>
          <p:cNvPr id="21" name="arrow-373"/>
          <p:cNvSpPr/>
          <p:nvPr/>
        </p:nvSpPr>
        <p:spPr>
          <a:xfrm>
            <a:off x="9997135" y="3017520"/>
            <a:ext cx="0" cy="25146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</a:ln>
        </p:spPr>
      </p:sp>
      <p:sp>
        <p:nvSpPr>
          <p:cNvPr id="22" name="arrow-374"/>
          <p:cNvSpPr/>
          <p:nvPr/>
        </p:nvSpPr>
        <p:spPr>
          <a:xfrm>
            <a:off x="2194560" y="3268980"/>
            <a:ext cx="7802575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</a:ln>
        </p:spPr>
      </p:sp>
      <p:sp>
        <p:nvSpPr>
          <p:cNvPr id="23" name="arrow-375"/>
          <p:cNvSpPr/>
          <p:nvPr/>
        </p:nvSpPr>
        <p:spPr>
          <a:xfrm>
            <a:off x="2194560" y="3268980"/>
            <a:ext cx="0" cy="25146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24" name="step-376"/>
          <p:cNvSpPr/>
          <p:nvPr/>
        </p:nvSpPr>
        <p:spPr>
          <a:xfrm>
            <a:off x="548640" y="3520440"/>
            <a:ext cx="32918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25" name="step-num-bg-377"/>
          <p:cNvSpPr/>
          <p:nvPr/>
        </p:nvSpPr>
        <p:spPr>
          <a:xfrm>
            <a:off x="685800" y="365760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26" name="step-num-378"/>
          <p:cNvSpPr txBox="1"/>
          <p:nvPr/>
        </p:nvSpPr>
        <p:spPr>
          <a:xfrm>
            <a:off x="685800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7" name="step-title-379"/>
          <p:cNvSpPr txBox="1"/>
          <p:nvPr/>
        </p:nvSpPr>
        <p:spPr>
          <a:xfrm>
            <a:off x="1143000" y="36118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owner</a:t>
            </a:r>
            <a:endParaRPr lang="en-US" sz="1500" dirty="0"/>
          </a:p>
        </p:txBody>
      </p:sp>
      <p:sp>
        <p:nvSpPr>
          <p:cNvPr id="28" name="step-text-380"/>
          <p:cNvSpPr txBox="1"/>
          <p:nvPr/>
        </p:nvSpPr>
        <p:spPr>
          <a:xfrm>
            <a:off x="685800" y="41605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The new counsellor can now edit it; the old one cannot.</a:t>
            </a:r>
            <a:endParaRPr lang="en-US" sz="1350" dirty="0"/>
          </a:p>
        </p:txBody>
      </p:sp>
      <p:sp>
        <p:nvSpPr>
          <p:cNvPr id="29" name="arrow-381"/>
          <p:cNvSpPr/>
          <p:nvPr/>
        </p:nvSpPr>
        <p:spPr>
          <a:xfrm>
            <a:off x="3886200" y="4389120"/>
            <a:ext cx="51800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30" name="step-382"/>
          <p:cNvSpPr/>
          <p:nvPr/>
        </p:nvSpPr>
        <p:spPr>
          <a:xfrm>
            <a:off x="4449928" y="3520440"/>
            <a:ext cx="3291840" cy="1737360"/>
          </a:xfrm>
          <a:prstGeom prst="roundRect">
            <a:avLst>
              <a:gd name="adj" fmla="val 4211"/>
            </a:avLst>
          </a:prstGeom>
          <a:solidFill>
            <a:srgbClr val="FDEBD0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1" name="step-num-bg-383"/>
          <p:cNvSpPr/>
          <p:nvPr/>
        </p:nvSpPr>
        <p:spPr>
          <a:xfrm>
            <a:off x="4587088" y="3657600"/>
            <a:ext cx="384048" cy="384048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2" name="step-num-384"/>
          <p:cNvSpPr txBox="1"/>
          <p:nvPr/>
        </p:nvSpPr>
        <p:spPr>
          <a:xfrm>
            <a:off x="4587088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3" name="step-title-385"/>
          <p:cNvSpPr txBox="1"/>
          <p:nvPr/>
        </p:nvSpPr>
        <p:spPr>
          <a:xfrm>
            <a:off x="5044288" y="36118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Counsellors</a:t>
            </a:r>
            <a:endParaRPr lang="en-US" sz="1500" dirty="0"/>
          </a:p>
        </p:txBody>
      </p:sp>
      <p:sp>
        <p:nvSpPr>
          <p:cNvPr id="34" name="step-text-386"/>
          <p:cNvSpPr txBox="1"/>
          <p:nvPr/>
        </p:nvSpPr>
        <p:spPr>
          <a:xfrm>
            <a:off x="4587088" y="41605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 counsellor cannot change the owner (locked).</a:t>
            </a:r>
            <a:endParaRPr lang="en-US" sz="1350" dirty="0"/>
          </a:p>
        </p:txBody>
      </p:sp>
      <p:sp>
        <p:nvSpPr>
          <p:cNvPr id="35" name="arrow-387"/>
          <p:cNvSpPr/>
          <p:nvPr/>
        </p:nvSpPr>
        <p:spPr>
          <a:xfrm>
            <a:off x="7787488" y="4389120"/>
            <a:ext cx="51800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36" name="step-388"/>
          <p:cNvSpPr/>
          <p:nvPr/>
        </p:nvSpPr>
        <p:spPr>
          <a:xfrm>
            <a:off x="8351215" y="3520440"/>
            <a:ext cx="32918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37" name="step-num-bg-389"/>
          <p:cNvSpPr/>
          <p:nvPr/>
        </p:nvSpPr>
        <p:spPr>
          <a:xfrm>
            <a:off x="8488375" y="365760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8" name="step-num-390"/>
          <p:cNvSpPr txBox="1"/>
          <p:nvPr/>
        </p:nvSpPr>
        <p:spPr>
          <a:xfrm>
            <a:off x="8488375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9" name="step-title-391"/>
          <p:cNvSpPr txBox="1"/>
          <p:nvPr/>
        </p:nvSpPr>
        <p:spPr>
          <a:xfrm>
            <a:off x="8945575" y="36118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Web app</a:t>
            </a:r>
            <a:endParaRPr lang="en-US" sz="1500" dirty="0"/>
          </a:p>
        </p:txBody>
      </p:sp>
      <p:sp>
        <p:nvSpPr>
          <p:cNvPr id="40" name="step-text-392"/>
          <p:cNvSpPr txBox="1"/>
          <p:nvPr/>
        </p:nvSpPr>
        <p:spPr>
          <a:xfrm>
            <a:off x="8488375" y="41605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The lead moves to the new counsellor's list.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Deleting, restoring and purging (admin)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Key workflows</a:t>
            </a:r>
            <a:endParaRPr lang="en-US" sz="1000" dirty="0"/>
          </a:p>
        </p:txBody>
      </p:sp>
      <p:sp>
        <p:nvSpPr>
          <p:cNvPr id="4" name="step-393"/>
          <p:cNvSpPr/>
          <p:nvPr/>
        </p:nvSpPr>
        <p:spPr>
          <a:xfrm>
            <a:off x="548640" y="1280160"/>
            <a:ext cx="32918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5" name="step-num-bg-394"/>
          <p:cNvSpPr/>
          <p:nvPr/>
        </p:nvSpPr>
        <p:spPr>
          <a:xfrm>
            <a:off x="685800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6" name="step-num-395"/>
          <p:cNvSpPr txBox="1"/>
          <p:nvPr/>
        </p:nvSpPr>
        <p:spPr>
          <a:xfrm>
            <a:off x="68580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-title-396"/>
          <p:cNvSpPr txBox="1"/>
          <p:nvPr/>
        </p:nvSpPr>
        <p:spPr>
          <a:xfrm>
            <a:off x="1143000" y="13716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Delete</a:t>
            </a:r>
            <a:endParaRPr lang="en-US" sz="1500" dirty="0"/>
          </a:p>
        </p:txBody>
      </p:sp>
      <p:sp>
        <p:nvSpPr>
          <p:cNvPr id="8" name="step-text-397"/>
          <p:cNvSpPr txBox="1"/>
          <p:nvPr/>
        </p:nvSpPr>
        <p:spPr>
          <a:xfrm>
            <a:off x="685800" y="19202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Admin &gt; Delete lead(s): one or more Lead IDs.</a:t>
            </a:r>
            <a:endParaRPr lang="en-US" sz="1350" dirty="0"/>
          </a:p>
        </p:txBody>
      </p:sp>
      <p:sp>
        <p:nvSpPr>
          <p:cNvPr id="9" name="arrow-398"/>
          <p:cNvSpPr/>
          <p:nvPr/>
        </p:nvSpPr>
        <p:spPr>
          <a:xfrm>
            <a:off x="3886200" y="2148840"/>
            <a:ext cx="51800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10" name="step-399"/>
          <p:cNvSpPr/>
          <p:nvPr/>
        </p:nvSpPr>
        <p:spPr>
          <a:xfrm>
            <a:off x="4449928" y="1280160"/>
            <a:ext cx="32918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11" name="step-num-bg-400"/>
          <p:cNvSpPr/>
          <p:nvPr/>
        </p:nvSpPr>
        <p:spPr>
          <a:xfrm>
            <a:off x="4587088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2" name="step-num-401"/>
          <p:cNvSpPr txBox="1"/>
          <p:nvPr/>
        </p:nvSpPr>
        <p:spPr>
          <a:xfrm>
            <a:off x="4587088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step-title-402"/>
          <p:cNvSpPr txBox="1"/>
          <p:nvPr/>
        </p:nvSpPr>
        <p:spPr>
          <a:xfrm>
            <a:off x="5044288" y="13716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Confirm</a:t>
            </a:r>
            <a:endParaRPr lang="en-US" sz="1500" dirty="0"/>
          </a:p>
        </p:txBody>
      </p:sp>
      <p:sp>
        <p:nvSpPr>
          <p:cNvPr id="14" name="step-text-403"/>
          <p:cNvSpPr txBox="1"/>
          <p:nvPr/>
        </p:nvSpPr>
        <p:spPr>
          <a:xfrm>
            <a:off x="4587088" y="19202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The leads are shown; a reason is required.</a:t>
            </a:r>
            <a:endParaRPr lang="en-US" sz="1350" dirty="0"/>
          </a:p>
        </p:txBody>
      </p:sp>
      <p:sp>
        <p:nvSpPr>
          <p:cNvPr id="15" name="arrow-404"/>
          <p:cNvSpPr/>
          <p:nvPr/>
        </p:nvSpPr>
        <p:spPr>
          <a:xfrm>
            <a:off x="7787488" y="2148840"/>
            <a:ext cx="51800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16" name="step-405"/>
          <p:cNvSpPr/>
          <p:nvPr/>
        </p:nvSpPr>
        <p:spPr>
          <a:xfrm>
            <a:off x="8351215" y="1280160"/>
            <a:ext cx="32918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17" name="step-num-bg-406"/>
          <p:cNvSpPr/>
          <p:nvPr/>
        </p:nvSpPr>
        <p:spPr>
          <a:xfrm>
            <a:off x="8488375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8" name="step-num-407"/>
          <p:cNvSpPr txBox="1"/>
          <p:nvPr/>
        </p:nvSpPr>
        <p:spPr>
          <a:xfrm>
            <a:off x="8488375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step-title-408"/>
          <p:cNvSpPr txBox="1"/>
          <p:nvPr/>
        </p:nvSpPr>
        <p:spPr>
          <a:xfrm>
            <a:off x="8945575" y="13716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Moved</a:t>
            </a:r>
            <a:endParaRPr lang="en-US" sz="1500" dirty="0"/>
          </a:p>
        </p:txBody>
      </p:sp>
      <p:sp>
        <p:nvSpPr>
          <p:cNvPr id="20" name="step-text-409"/>
          <p:cNvSpPr txBox="1"/>
          <p:nvPr/>
        </p:nvSpPr>
        <p:spPr>
          <a:xfrm>
            <a:off x="8488375" y="19202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To Deleted Leads with Deleted At / By / Reason; "Lead Deleted" logged; row removed.</a:t>
            </a:r>
            <a:endParaRPr lang="en-US" sz="1350" dirty="0"/>
          </a:p>
        </p:txBody>
      </p:sp>
      <p:sp>
        <p:nvSpPr>
          <p:cNvPr id="21" name="arrow-410"/>
          <p:cNvSpPr/>
          <p:nvPr/>
        </p:nvSpPr>
        <p:spPr>
          <a:xfrm>
            <a:off x="9997135" y="3017520"/>
            <a:ext cx="0" cy="25146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</a:ln>
        </p:spPr>
      </p:sp>
      <p:sp>
        <p:nvSpPr>
          <p:cNvPr id="22" name="arrow-411"/>
          <p:cNvSpPr/>
          <p:nvPr/>
        </p:nvSpPr>
        <p:spPr>
          <a:xfrm>
            <a:off x="2194560" y="3268980"/>
            <a:ext cx="7802575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</a:ln>
        </p:spPr>
      </p:sp>
      <p:sp>
        <p:nvSpPr>
          <p:cNvPr id="23" name="arrow-412"/>
          <p:cNvSpPr/>
          <p:nvPr/>
        </p:nvSpPr>
        <p:spPr>
          <a:xfrm>
            <a:off x="2194560" y="3268980"/>
            <a:ext cx="0" cy="25146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24" name="step-413"/>
          <p:cNvSpPr/>
          <p:nvPr/>
        </p:nvSpPr>
        <p:spPr>
          <a:xfrm>
            <a:off x="548640" y="3520440"/>
            <a:ext cx="32918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25" name="step-num-bg-414"/>
          <p:cNvSpPr/>
          <p:nvPr/>
        </p:nvSpPr>
        <p:spPr>
          <a:xfrm>
            <a:off x="685800" y="365760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26" name="step-num-415"/>
          <p:cNvSpPr txBox="1"/>
          <p:nvPr/>
        </p:nvSpPr>
        <p:spPr>
          <a:xfrm>
            <a:off x="685800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7" name="step-title-416"/>
          <p:cNvSpPr txBox="1"/>
          <p:nvPr/>
        </p:nvSpPr>
        <p:spPr>
          <a:xfrm>
            <a:off x="1143000" y="36118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History kept</a:t>
            </a:r>
            <a:endParaRPr lang="en-US" sz="1500" dirty="0"/>
          </a:p>
        </p:txBody>
      </p:sp>
      <p:sp>
        <p:nvSpPr>
          <p:cNvPr id="28" name="step-text-417"/>
          <p:cNvSpPr txBox="1"/>
          <p:nvPr/>
        </p:nvSpPr>
        <p:spPr>
          <a:xfrm>
            <a:off x="685800" y="41605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Log entries stay (struck through); not in dashboard counts.</a:t>
            </a:r>
            <a:endParaRPr lang="en-US" sz="1350" dirty="0"/>
          </a:p>
        </p:txBody>
      </p:sp>
      <p:sp>
        <p:nvSpPr>
          <p:cNvPr id="29" name="arrow-418"/>
          <p:cNvSpPr/>
          <p:nvPr/>
        </p:nvSpPr>
        <p:spPr>
          <a:xfrm>
            <a:off x="3886200" y="4389120"/>
            <a:ext cx="51800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30" name="step-419"/>
          <p:cNvSpPr/>
          <p:nvPr/>
        </p:nvSpPr>
        <p:spPr>
          <a:xfrm>
            <a:off x="4449928" y="3520440"/>
            <a:ext cx="32918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31" name="step-num-bg-420"/>
          <p:cNvSpPr/>
          <p:nvPr/>
        </p:nvSpPr>
        <p:spPr>
          <a:xfrm>
            <a:off x="4587088" y="365760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2" name="step-num-421"/>
          <p:cNvSpPr txBox="1"/>
          <p:nvPr/>
        </p:nvSpPr>
        <p:spPr>
          <a:xfrm>
            <a:off x="4587088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3" name="step-title-422"/>
          <p:cNvSpPr txBox="1"/>
          <p:nvPr/>
        </p:nvSpPr>
        <p:spPr>
          <a:xfrm>
            <a:off x="5044288" y="36118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Restore</a:t>
            </a:r>
            <a:endParaRPr lang="en-US" sz="1500" dirty="0"/>
          </a:p>
        </p:txBody>
      </p:sp>
      <p:sp>
        <p:nvSpPr>
          <p:cNvPr id="34" name="step-text-423"/>
          <p:cNvSpPr txBox="1"/>
          <p:nvPr/>
        </p:nvSpPr>
        <p:spPr>
          <a:xfrm>
            <a:off x="4587088" y="41605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Admin &gt; Restore deleted lead: back with its original Lead ID.</a:t>
            </a:r>
            <a:endParaRPr lang="en-US" sz="1350" dirty="0"/>
          </a:p>
        </p:txBody>
      </p:sp>
      <p:sp>
        <p:nvSpPr>
          <p:cNvPr id="35" name="arrow-424"/>
          <p:cNvSpPr/>
          <p:nvPr/>
        </p:nvSpPr>
        <p:spPr>
          <a:xfrm>
            <a:off x="7787488" y="4389120"/>
            <a:ext cx="51800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36" name="step-425"/>
          <p:cNvSpPr/>
          <p:nvPr/>
        </p:nvSpPr>
        <p:spPr>
          <a:xfrm>
            <a:off x="8351215" y="3520440"/>
            <a:ext cx="3291840" cy="1737360"/>
          </a:xfrm>
          <a:prstGeom prst="roundRect">
            <a:avLst>
              <a:gd name="adj" fmla="val 4211"/>
            </a:avLst>
          </a:prstGeom>
          <a:solidFill>
            <a:srgbClr val="FDEBD0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7" name="step-num-bg-426"/>
          <p:cNvSpPr/>
          <p:nvPr/>
        </p:nvSpPr>
        <p:spPr>
          <a:xfrm>
            <a:off x="8488375" y="3657600"/>
            <a:ext cx="384048" cy="384048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8" name="step-num-427"/>
          <p:cNvSpPr txBox="1"/>
          <p:nvPr/>
        </p:nvSpPr>
        <p:spPr>
          <a:xfrm>
            <a:off x="8488375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9" name="step-title-428"/>
          <p:cNvSpPr txBox="1"/>
          <p:nvPr/>
        </p:nvSpPr>
        <p:spPr>
          <a:xfrm>
            <a:off x="8945575" y="36118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Purge</a:t>
            </a:r>
            <a:endParaRPr lang="en-US" sz="1500" dirty="0"/>
          </a:p>
        </p:txBody>
      </p:sp>
      <p:sp>
        <p:nvSpPr>
          <p:cNvPr id="40" name="step-text-429"/>
          <p:cNvSpPr txBox="1"/>
          <p:nvPr/>
        </p:nvSpPr>
        <p:spPr>
          <a:xfrm>
            <a:off x="8488375" y="41605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Two confirmations (Yes, then type PURGE); "Lead Purged" logged.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Correcting an automatic column (admin)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Key workflows</a:t>
            </a:r>
            <a:endParaRPr lang="en-US" sz="1000" dirty="0"/>
          </a:p>
        </p:txBody>
      </p:sp>
      <p:sp>
        <p:nvSpPr>
          <p:cNvPr id="4" name="step-430"/>
          <p:cNvSpPr/>
          <p:nvPr/>
        </p:nvSpPr>
        <p:spPr>
          <a:xfrm>
            <a:off x="548640" y="1280160"/>
            <a:ext cx="32918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5" name="step-num-bg-431"/>
          <p:cNvSpPr/>
          <p:nvPr/>
        </p:nvSpPr>
        <p:spPr>
          <a:xfrm>
            <a:off x="685800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6" name="step-num-432"/>
          <p:cNvSpPr txBox="1"/>
          <p:nvPr/>
        </p:nvSpPr>
        <p:spPr>
          <a:xfrm>
            <a:off x="68580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-title-433"/>
          <p:cNvSpPr txBox="1"/>
          <p:nvPr/>
        </p:nvSpPr>
        <p:spPr>
          <a:xfrm>
            <a:off x="1143000" y="13716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Normally</a:t>
            </a:r>
            <a:endParaRPr lang="en-US" sz="1500" dirty="0"/>
          </a:p>
        </p:txBody>
      </p:sp>
      <p:sp>
        <p:nvSpPr>
          <p:cNvPr id="8" name="step-text-434"/>
          <p:cNvSpPr txBox="1"/>
          <p:nvPr/>
        </p:nvSpPr>
        <p:spPr>
          <a:xfrm>
            <a:off x="685800" y="19202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Any change to an automatic column is undone, even for the owner.</a:t>
            </a:r>
            <a:endParaRPr lang="en-US" sz="1350" dirty="0"/>
          </a:p>
        </p:txBody>
      </p:sp>
      <p:sp>
        <p:nvSpPr>
          <p:cNvPr id="9" name="arrow-435"/>
          <p:cNvSpPr/>
          <p:nvPr/>
        </p:nvSpPr>
        <p:spPr>
          <a:xfrm>
            <a:off x="3886200" y="2148840"/>
            <a:ext cx="51800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10" name="step-436"/>
          <p:cNvSpPr/>
          <p:nvPr/>
        </p:nvSpPr>
        <p:spPr>
          <a:xfrm>
            <a:off x="4449928" y="1280160"/>
            <a:ext cx="32918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11" name="step-num-bg-437"/>
          <p:cNvSpPr/>
          <p:nvPr/>
        </p:nvSpPr>
        <p:spPr>
          <a:xfrm>
            <a:off x="4587088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2" name="step-num-438"/>
          <p:cNvSpPr txBox="1"/>
          <p:nvPr/>
        </p:nvSpPr>
        <p:spPr>
          <a:xfrm>
            <a:off x="4587088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step-title-439"/>
          <p:cNvSpPr txBox="1"/>
          <p:nvPr/>
        </p:nvSpPr>
        <p:spPr>
          <a:xfrm>
            <a:off x="5044288" y="13716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Open window</a:t>
            </a:r>
            <a:endParaRPr lang="en-US" sz="1500" dirty="0"/>
          </a:p>
        </p:txBody>
      </p:sp>
      <p:sp>
        <p:nvSpPr>
          <p:cNvPr id="14" name="step-text-440"/>
          <p:cNvSpPr txBox="1"/>
          <p:nvPr/>
        </p:nvSpPr>
        <p:spPr>
          <a:xfrm>
            <a:off x="4587088" y="19202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Admin &gt; Allow system-column correction for 10 minutes (logged).</a:t>
            </a:r>
            <a:endParaRPr lang="en-US" sz="1350" dirty="0"/>
          </a:p>
        </p:txBody>
      </p:sp>
      <p:sp>
        <p:nvSpPr>
          <p:cNvPr id="15" name="arrow-441"/>
          <p:cNvSpPr/>
          <p:nvPr/>
        </p:nvSpPr>
        <p:spPr>
          <a:xfrm>
            <a:off x="7787488" y="2148840"/>
            <a:ext cx="51800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16" name="step-442"/>
          <p:cNvSpPr/>
          <p:nvPr/>
        </p:nvSpPr>
        <p:spPr>
          <a:xfrm>
            <a:off x="8351215" y="1280160"/>
            <a:ext cx="32918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17" name="step-num-bg-443"/>
          <p:cNvSpPr/>
          <p:nvPr/>
        </p:nvSpPr>
        <p:spPr>
          <a:xfrm>
            <a:off x="8488375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8" name="step-num-444"/>
          <p:cNvSpPr txBox="1"/>
          <p:nvPr/>
        </p:nvSpPr>
        <p:spPr>
          <a:xfrm>
            <a:off x="8488375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step-title-445"/>
          <p:cNvSpPr txBox="1"/>
          <p:nvPr/>
        </p:nvSpPr>
        <p:spPr>
          <a:xfrm>
            <a:off x="8945575" y="13716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Correct</a:t>
            </a:r>
            <a:endParaRPr lang="en-US" sz="1500" dirty="0"/>
          </a:p>
        </p:txBody>
      </p:sp>
      <p:sp>
        <p:nvSpPr>
          <p:cNvPr id="20" name="step-text-446"/>
          <p:cNvSpPr txBox="1"/>
          <p:nvPr/>
        </p:nvSpPr>
        <p:spPr>
          <a:xfrm>
            <a:off x="8488375" y="19202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Admins may fix dates, Last Updated By, Previous Counsellor.</a:t>
            </a:r>
            <a:endParaRPr lang="en-US" sz="1350" dirty="0"/>
          </a:p>
        </p:txBody>
      </p:sp>
      <p:sp>
        <p:nvSpPr>
          <p:cNvPr id="21" name="arrow-447"/>
          <p:cNvSpPr/>
          <p:nvPr/>
        </p:nvSpPr>
        <p:spPr>
          <a:xfrm>
            <a:off x="9997135" y="3017520"/>
            <a:ext cx="0" cy="25146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</a:ln>
        </p:spPr>
      </p:sp>
      <p:sp>
        <p:nvSpPr>
          <p:cNvPr id="22" name="arrow-448"/>
          <p:cNvSpPr/>
          <p:nvPr/>
        </p:nvSpPr>
        <p:spPr>
          <a:xfrm>
            <a:off x="2194560" y="3268980"/>
            <a:ext cx="7802575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</a:ln>
        </p:spPr>
      </p:sp>
      <p:sp>
        <p:nvSpPr>
          <p:cNvPr id="23" name="arrow-449"/>
          <p:cNvSpPr/>
          <p:nvPr/>
        </p:nvSpPr>
        <p:spPr>
          <a:xfrm>
            <a:off x="2194560" y="3268980"/>
            <a:ext cx="0" cy="25146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24" name="step-450"/>
          <p:cNvSpPr/>
          <p:nvPr/>
        </p:nvSpPr>
        <p:spPr>
          <a:xfrm>
            <a:off x="548640" y="3520440"/>
            <a:ext cx="32918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25" name="step-num-bg-451"/>
          <p:cNvSpPr/>
          <p:nvPr/>
        </p:nvSpPr>
        <p:spPr>
          <a:xfrm>
            <a:off x="685800" y="365760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26" name="step-num-452"/>
          <p:cNvSpPr txBox="1"/>
          <p:nvPr/>
        </p:nvSpPr>
        <p:spPr>
          <a:xfrm>
            <a:off x="685800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7" name="step-title-453"/>
          <p:cNvSpPr txBox="1"/>
          <p:nvPr/>
        </p:nvSpPr>
        <p:spPr>
          <a:xfrm>
            <a:off x="1143000" y="36118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Logged</a:t>
            </a:r>
            <a:endParaRPr lang="en-US" sz="1500" dirty="0"/>
          </a:p>
        </p:txBody>
      </p:sp>
      <p:sp>
        <p:nvSpPr>
          <p:cNvPr id="28" name="step-text-454"/>
          <p:cNvSpPr txBox="1"/>
          <p:nvPr/>
        </p:nvSpPr>
        <p:spPr>
          <a:xfrm>
            <a:off x="685800" y="41605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Each fix: "System Field Corrected" with old -&gt; new.</a:t>
            </a:r>
            <a:endParaRPr lang="en-US" sz="1350" dirty="0"/>
          </a:p>
        </p:txBody>
      </p:sp>
      <p:sp>
        <p:nvSpPr>
          <p:cNvPr id="29" name="arrow-455"/>
          <p:cNvSpPr/>
          <p:nvPr/>
        </p:nvSpPr>
        <p:spPr>
          <a:xfrm>
            <a:off x="3886200" y="4389120"/>
            <a:ext cx="51800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30" name="step-456"/>
          <p:cNvSpPr/>
          <p:nvPr/>
        </p:nvSpPr>
        <p:spPr>
          <a:xfrm>
            <a:off x="4449928" y="3520440"/>
            <a:ext cx="3291840" cy="1737360"/>
          </a:xfrm>
          <a:prstGeom prst="roundRect">
            <a:avLst>
              <a:gd name="adj" fmla="val 4211"/>
            </a:avLst>
          </a:prstGeom>
          <a:solidFill>
            <a:srgbClr val="FDEBD0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1" name="step-num-bg-457"/>
          <p:cNvSpPr/>
          <p:nvPr/>
        </p:nvSpPr>
        <p:spPr>
          <a:xfrm>
            <a:off x="4587088" y="3657600"/>
            <a:ext cx="384048" cy="384048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2" name="step-num-458"/>
          <p:cNvSpPr txBox="1"/>
          <p:nvPr/>
        </p:nvSpPr>
        <p:spPr>
          <a:xfrm>
            <a:off x="4587088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3" name="step-title-459"/>
          <p:cNvSpPr txBox="1"/>
          <p:nvPr/>
        </p:nvSpPr>
        <p:spPr>
          <a:xfrm>
            <a:off x="5044288" y="36118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Never</a:t>
            </a:r>
            <a:endParaRPr lang="en-US" sz="1500" dirty="0"/>
          </a:p>
        </p:txBody>
      </p:sp>
      <p:sp>
        <p:nvSpPr>
          <p:cNvPr id="34" name="step-text-460"/>
          <p:cNvSpPr txBox="1"/>
          <p:nvPr/>
        </p:nvSpPr>
        <p:spPr>
          <a:xfrm>
            <a:off x="4587088" y="41605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Lead ID, the two formulas, flags and snapshot stay protected.</a:t>
            </a:r>
            <a:endParaRPr lang="en-US" sz="1350" dirty="0"/>
          </a:p>
        </p:txBody>
      </p:sp>
      <p:sp>
        <p:nvSpPr>
          <p:cNvPr id="35" name="arrow-461"/>
          <p:cNvSpPr/>
          <p:nvPr/>
        </p:nvSpPr>
        <p:spPr>
          <a:xfrm>
            <a:off x="7787488" y="4389120"/>
            <a:ext cx="51800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36" name="step-462"/>
          <p:cNvSpPr/>
          <p:nvPr/>
        </p:nvSpPr>
        <p:spPr>
          <a:xfrm>
            <a:off x="8351215" y="3520440"/>
            <a:ext cx="32918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37" name="step-num-bg-463"/>
          <p:cNvSpPr/>
          <p:nvPr/>
        </p:nvSpPr>
        <p:spPr>
          <a:xfrm>
            <a:off x="8488375" y="365760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8" name="step-num-464"/>
          <p:cNvSpPr txBox="1"/>
          <p:nvPr/>
        </p:nvSpPr>
        <p:spPr>
          <a:xfrm>
            <a:off x="8488375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9" name="step-title-465"/>
          <p:cNvSpPr txBox="1"/>
          <p:nvPr/>
        </p:nvSpPr>
        <p:spPr>
          <a:xfrm>
            <a:off x="8945575" y="36118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Closes</a:t>
            </a:r>
            <a:endParaRPr lang="en-US" sz="1500" dirty="0"/>
          </a:p>
        </p:txBody>
      </p:sp>
      <p:sp>
        <p:nvSpPr>
          <p:cNvPr id="40" name="step-text-466"/>
          <p:cNvSpPr txBox="1"/>
          <p:nvPr/>
        </p:nvSpPr>
        <p:spPr>
          <a:xfrm>
            <a:off x="8488375" y="41605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After 10 minutes everything is guarded again.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fields, stages and counsellors (admin)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Key workflows</a:t>
            </a:r>
            <a:endParaRPr lang="en-US" sz="1000" dirty="0"/>
          </a:p>
        </p:txBody>
      </p:sp>
      <p:sp>
        <p:nvSpPr>
          <p:cNvPr id="4" name="card-467"/>
          <p:cNvSpPr/>
          <p:nvPr/>
        </p:nvSpPr>
        <p:spPr>
          <a:xfrm>
            <a:off x="548640" y="1234440"/>
            <a:ext cx="3657600" cy="44805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5" name="icon-bg-468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5B2C6F"/>
          </a:solidFill>
          <a:ln w="12700">
            <a:solidFill>
              <a:srgbClr val="5B2C6F"/>
            </a:solidFill>
            <a:prstDash val="solid"/>
          </a:ln>
        </p:spPr>
      </p:sp>
      <p:pic>
        <p:nvPicPr>
          <p:cNvPr id="6" name="icon-46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536192"/>
            <a:ext cx="265176" cy="265176"/>
          </a:xfrm>
          <a:prstGeom prst="rect">
            <a:avLst/>
          </a:prstGeom>
        </p:spPr>
      </p:pic>
      <p:sp>
        <p:nvSpPr>
          <p:cNvPr id="7" name="card-title-470"/>
          <p:cNvSpPr txBox="1"/>
          <p:nvPr/>
        </p:nvSpPr>
        <p:spPr>
          <a:xfrm>
            <a:off x="1353312" y="1417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Custom field</a:t>
            </a:r>
            <a:endParaRPr lang="en-US" sz="1800" dirty="0"/>
          </a:p>
        </p:txBody>
      </p:sp>
      <p:sp>
        <p:nvSpPr>
          <p:cNvPr id="8" name="bullets-471"/>
          <p:cNvSpPr txBox="1"/>
          <p:nvPr/>
        </p:nvSpPr>
        <p:spPr>
          <a:xfrm>
            <a:off x="777240" y="2103120"/>
            <a:ext cx="324612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Admin &gt; Add custom field: name, next free slot E-N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Shown in Lead Management and Lead Entry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Optional Allowed Values = dropdown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Remove = hidden, data kept</a:t>
            </a:r>
            <a:endParaRPr lang="en-US" sz="1400" dirty="0"/>
          </a:p>
        </p:txBody>
      </p:sp>
      <p:sp>
        <p:nvSpPr>
          <p:cNvPr id="9" name="card-472"/>
          <p:cNvSpPr/>
          <p:nvPr/>
        </p:nvSpPr>
        <p:spPr>
          <a:xfrm>
            <a:off x="4270248" y="1234440"/>
            <a:ext cx="3657600" cy="44805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0" name="icon-bg-473"/>
          <p:cNvSpPr/>
          <p:nvPr/>
        </p:nvSpPr>
        <p:spPr>
          <a:xfrm>
            <a:off x="4453128" y="1417320"/>
            <a:ext cx="502920" cy="502920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pic>
        <p:nvPicPr>
          <p:cNvPr id="11" name="icon-47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536192"/>
            <a:ext cx="265176" cy="265176"/>
          </a:xfrm>
          <a:prstGeom prst="rect">
            <a:avLst/>
          </a:prstGeom>
        </p:spPr>
      </p:pic>
      <p:sp>
        <p:nvSpPr>
          <p:cNvPr id="12" name="card-title-475"/>
          <p:cNvSpPr txBox="1"/>
          <p:nvPr/>
        </p:nvSpPr>
        <p:spPr>
          <a:xfrm>
            <a:off x="5074920" y="1417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Stage / substage</a:t>
            </a:r>
            <a:endParaRPr lang="en-US" sz="1800" dirty="0"/>
          </a:p>
        </p:txBody>
      </p:sp>
      <p:sp>
        <p:nvSpPr>
          <p:cNvPr id="13" name="bullets-476"/>
          <p:cNvSpPr txBox="1"/>
          <p:nvPr/>
        </p:nvSpPr>
        <p:spPr>
          <a:xfrm>
            <a:off x="4498848" y="2103120"/>
            <a:ext cx="324612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Add a row in Stage Master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All substage lists refresh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Inactive = no new choices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Lost substages = lost reasons</a:t>
            </a:r>
            <a:endParaRPr lang="en-US" sz="1400" dirty="0"/>
          </a:p>
        </p:txBody>
      </p:sp>
      <p:sp>
        <p:nvSpPr>
          <p:cNvPr id="14" name="card-477"/>
          <p:cNvSpPr/>
          <p:nvPr/>
        </p:nvSpPr>
        <p:spPr>
          <a:xfrm>
            <a:off x="7991856" y="1234440"/>
            <a:ext cx="3657600" cy="44805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5" name="icon-bg-478"/>
          <p:cNvSpPr/>
          <p:nvPr/>
        </p:nvSpPr>
        <p:spPr>
          <a:xfrm>
            <a:off x="8174736" y="1417320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pic>
        <p:nvPicPr>
          <p:cNvPr id="16" name="icon-47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3608" y="1536192"/>
            <a:ext cx="265176" cy="265176"/>
          </a:xfrm>
          <a:prstGeom prst="rect">
            <a:avLst/>
          </a:prstGeom>
        </p:spPr>
      </p:pic>
      <p:sp>
        <p:nvSpPr>
          <p:cNvPr id="17" name="card-title-480"/>
          <p:cNvSpPr txBox="1"/>
          <p:nvPr/>
        </p:nvSpPr>
        <p:spPr>
          <a:xfrm>
            <a:off x="8796528" y="1417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Counsellor</a:t>
            </a:r>
            <a:endParaRPr lang="en-US" sz="1800" dirty="0"/>
          </a:p>
        </p:txBody>
      </p:sp>
      <p:sp>
        <p:nvSpPr>
          <p:cNvPr id="18" name="bullets-481"/>
          <p:cNvSpPr txBox="1"/>
          <p:nvPr/>
        </p:nvSpPr>
        <p:spPr>
          <a:xfrm>
            <a:off x="8220456" y="2103120"/>
            <a:ext cx="324612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Name + Google email in Counsellor Master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Share the file as Editor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They open My overdue follow-ups once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Inactive = edits undone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Counsellor web app (optional)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leads only, without giving the spreadsheet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app: what it is for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Counsellor web app (optional)</a:t>
            </a:r>
            <a:endParaRPr lang="en-US" sz="1000" dirty="0"/>
          </a:p>
        </p:txBody>
      </p:sp>
      <p:sp>
        <p:nvSpPr>
          <p:cNvPr id="4" name="card-482"/>
          <p:cNvSpPr/>
          <p:nvPr/>
        </p:nvSpPr>
        <p:spPr>
          <a:xfrm>
            <a:off x="548640" y="1234440"/>
            <a:ext cx="3657600" cy="44805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5" name="icon-bg-483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5B2C6F"/>
          </a:solidFill>
          <a:ln w="12700">
            <a:solidFill>
              <a:srgbClr val="5B2C6F"/>
            </a:solidFill>
            <a:prstDash val="solid"/>
          </a:ln>
        </p:spPr>
      </p:sp>
      <p:pic>
        <p:nvPicPr>
          <p:cNvPr id="6" name="icon-48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536192"/>
            <a:ext cx="265176" cy="265176"/>
          </a:xfrm>
          <a:prstGeom prst="rect">
            <a:avLst/>
          </a:prstGeom>
        </p:spPr>
      </p:pic>
      <p:sp>
        <p:nvSpPr>
          <p:cNvPr id="7" name="card-title-485"/>
          <p:cNvSpPr txBox="1"/>
          <p:nvPr/>
        </p:nvSpPr>
        <p:spPr>
          <a:xfrm>
            <a:off x="1353312" y="1417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Who uses it</a:t>
            </a:r>
            <a:endParaRPr lang="en-US" sz="1800" dirty="0"/>
          </a:p>
        </p:txBody>
      </p:sp>
      <p:sp>
        <p:nvSpPr>
          <p:cNvPr id="8" name="bullets-486"/>
          <p:cNvSpPr txBox="1"/>
          <p:nvPr/>
        </p:nvSpPr>
        <p:spPr>
          <a:xfrm>
            <a:off x="777240" y="2103120"/>
            <a:ext cx="324612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Anyone who should not have the whole lead list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Remove them from the spreadsheet sharing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Same rules as the sheet</a:t>
            </a:r>
            <a:endParaRPr lang="en-US" sz="1400" dirty="0"/>
          </a:p>
        </p:txBody>
      </p:sp>
      <p:sp>
        <p:nvSpPr>
          <p:cNvPr id="9" name="card-487"/>
          <p:cNvSpPr/>
          <p:nvPr/>
        </p:nvSpPr>
        <p:spPr>
          <a:xfrm>
            <a:off x="4270248" y="1234440"/>
            <a:ext cx="3657600" cy="44805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0" name="icon-bg-488"/>
          <p:cNvSpPr/>
          <p:nvPr/>
        </p:nvSpPr>
        <p:spPr>
          <a:xfrm>
            <a:off x="4453128" y="1417320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pic>
        <p:nvPicPr>
          <p:cNvPr id="11" name="icon-48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536192"/>
            <a:ext cx="265176" cy="265176"/>
          </a:xfrm>
          <a:prstGeom prst="rect">
            <a:avLst/>
          </a:prstGeom>
        </p:spPr>
      </p:pic>
      <p:sp>
        <p:nvSpPr>
          <p:cNvPr id="12" name="card-title-490"/>
          <p:cNvSpPr txBox="1"/>
          <p:nvPr/>
        </p:nvSpPr>
        <p:spPr>
          <a:xfrm>
            <a:off x="5074920" y="1417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What they do</a:t>
            </a:r>
            <a:endParaRPr lang="en-US" sz="1800" dirty="0"/>
          </a:p>
        </p:txBody>
      </p:sp>
      <p:sp>
        <p:nvSpPr>
          <p:cNvPr id="13" name="bullets-491"/>
          <p:cNvSpPr txBox="1"/>
          <p:nvPr/>
        </p:nvSpPr>
        <p:spPr>
          <a:xfrm>
            <a:off x="4498848" y="2103120"/>
            <a:ext cx="324612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List: due &amp; overdue, open, all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Edit their editable fields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Follow-up form: same 5 fields</a:t>
            </a:r>
            <a:endParaRPr lang="en-US" sz="1400" dirty="0"/>
          </a:p>
        </p:txBody>
      </p:sp>
      <p:sp>
        <p:nvSpPr>
          <p:cNvPr id="14" name="card-492"/>
          <p:cNvSpPr/>
          <p:nvPr/>
        </p:nvSpPr>
        <p:spPr>
          <a:xfrm>
            <a:off x="7991856" y="1234440"/>
            <a:ext cx="3657600" cy="44805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5" name="icon-bg-493"/>
          <p:cNvSpPr/>
          <p:nvPr/>
        </p:nvSpPr>
        <p:spPr>
          <a:xfrm>
            <a:off x="8174736" y="1417320"/>
            <a:ext cx="502920" cy="50292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pic>
        <p:nvPicPr>
          <p:cNvPr id="16" name="icon-49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3608" y="1536192"/>
            <a:ext cx="265176" cy="265176"/>
          </a:xfrm>
          <a:prstGeom prst="rect">
            <a:avLst/>
          </a:prstGeom>
        </p:spPr>
      </p:pic>
      <p:sp>
        <p:nvSpPr>
          <p:cNvPr id="17" name="card-title-495"/>
          <p:cNvSpPr txBox="1"/>
          <p:nvPr/>
        </p:nvSpPr>
        <p:spPr>
          <a:xfrm>
            <a:off x="8796528" y="1417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Sign-in</a:t>
            </a:r>
            <a:endParaRPr lang="en-US" sz="1800" dirty="0"/>
          </a:p>
        </p:txBody>
      </p:sp>
      <p:sp>
        <p:nvSpPr>
          <p:cNvPr id="18" name="bullets-496"/>
          <p:cNvSpPr txBox="1"/>
          <p:nvPr/>
        </p:nvSpPr>
        <p:spPr>
          <a:xfrm>
            <a:off x="8220456" y="2103120"/>
            <a:ext cx="324612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Counsellor link = sign-in app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Google email, signed 5-minute pass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Active counsellors and Admin Emails only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app: allowed, blocked and logged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Counsellor web app (optional)</a:t>
            </a:r>
            <a:endParaRPr lang="en-US" sz="1000" dirty="0"/>
          </a:p>
        </p:txBody>
      </p:sp>
      <p:sp>
        <p:nvSpPr>
          <p:cNvPr id="4" name="card-497"/>
          <p:cNvSpPr/>
          <p:nvPr/>
        </p:nvSpPr>
        <p:spPr>
          <a:xfrm>
            <a:off x="548640" y="1234440"/>
            <a:ext cx="3657600" cy="44805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5" name="icon-bg-498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pic>
        <p:nvPicPr>
          <p:cNvPr id="6" name="icon-49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536192"/>
            <a:ext cx="265176" cy="265176"/>
          </a:xfrm>
          <a:prstGeom prst="rect">
            <a:avLst/>
          </a:prstGeom>
        </p:spPr>
      </p:pic>
      <p:sp>
        <p:nvSpPr>
          <p:cNvPr id="7" name="card-title-500"/>
          <p:cNvSpPr txBox="1"/>
          <p:nvPr/>
        </p:nvSpPr>
        <p:spPr>
          <a:xfrm>
            <a:off x="1353312" y="1417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Can do</a:t>
            </a:r>
            <a:endParaRPr lang="en-US" sz="1800" dirty="0"/>
          </a:p>
        </p:txBody>
      </p:sp>
      <p:sp>
        <p:nvSpPr>
          <p:cNvPr id="8" name="bullets-501"/>
          <p:cNvSpPr txBox="1"/>
          <p:nvPr/>
        </p:nvSpPr>
        <p:spPr>
          <a:xfrm>
            <a:off x="777240" y="2103120"/>
            <a:ext cx="324612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See own leads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Change editable fields with valid values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Log complete follow-ups</a:t>
            </a:r>
            <a:endParaRPr lang="en-US" sz="1400" dirty="0"/>
          </a:p>
        </p:txBody>
      </p:sp>
      <p:sp>
        <p:nvSpPr>
          <p:cNvPr id="9" name="card-502"/>
          <p:cNvSpPr/>
          <p:nvPr/>
        </p:nvSpPr>
        <p:spPr>
          <a:xfrm>
            <a:off x="4270248" y="1234440"/>
            <a:ext cx="3657600" cy="44805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0" name="icon-bg-503"/>
          <p:cNvSpPr/>
          <p:nvPr/>
        </p:nvSpPr>
        <p:spPr>
          <a:xfrm>
            <a:off x="4453128" y="1417320"/>
            <a:ext cx="502920" cy="50292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pic>
        <p:nvPicPr>
          <p:cNvPr id="11" name="icon-50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536192"/>
            <a:ext cx="265176" cy="265176"/>
          </a:xfrm>
          <a:prstGeom prst="rect">
            <a:avLst/>
          </a:prstGeom>
        </p:spPr>
      </p:pic>
      <p:sp>
        <p:nvSpPr>
          <p:cNvPr id="12" name="card-title-505"/>
          <p:cNvSpPr txBox="1"/>
          <p:nvPr/>
        </p:nvSpPr>
        <p:spPr>
          <a:xfrm>
            <a:off x="5074920" y="1417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Refused on the server</a:t>
            </a:r>
            <a:endParaRPr lang="en-US" sz="1800" dirty="0"/>
          </a:p>
        </p:txBody>
      </p:sp>
      <p:sp>
        <p:nvSpPr>
          <p:cNvPr id="13" name="bullets-506"/>
          <p:cNvSpPr txBox="1"/>
          <p:nvPr/>
        </p:nvSpPr>
        <p:spPr>
          <a:xfrm>
            <a:off x="4498848" y="2103120"/>
            <a:ext cx="324612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Other counsellors' leads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Locked and automatic fields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Invalid values; incomplete follow-ups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Unknown or inactive accounts</a:t>
            </a:r>
            <a:endParaRPr lang="en-US" sz="1400" dirty="0"/>
          </a:p>
        </p:txBody>
      </p:sp>
      <p:sp>
        <p:nvSpPr>
          <p:cNvPr id="14" name="card-507"/>
          <p:cNvSpPr/>
          <p:nvPr/>
        </p:nvSpPr>
        <p:spPr>
          <a:xfrm>
            <a:off x="7991856" y="1234440"/>
            <a:ext cx="3657600" cy="44805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5" name="icon-bg-508"/>
          <p:cNvSpPr/>
          <p:nvPr/>
        </p:nvSpPr>
        <p:spPr>
          <a:xfrm>
            <a:off x="8174736" y="1417320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pic>
        <p:nvPicPr>
          <p:cNvPr id="16" name="icon-50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3608" y="1536192"/>
            <a:ext cx="265176" cy="265176"/>
          </a:xfrm>
          <a:prstGeom prst="rect">
            <a:avLst/>
          </a:prstGeom>
        </p:spPr>
      </p:pic>
      <p:sp>
        <p:nvSpPr>
          <p:cNvPr id="17" name="card-title-510"/>
          <p:cNvSpPr txBox="1"/>
          <p:nvPr/>
        </p:nvSpPr>
        <p:spPr>
          <a:xfrm>
            <a:off x="8796528" y="1417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Access Log</a:t>
            </a:r>
            <a:endParaRPr lang="en-US" sz="1800" dirty="0"/>
          </a:p>
        </p:txBody>
      </p:sp>
      <p:sp>
        <p:nvSpPr>
          <p:cNvPr id="18" name="bullets-511"/>
          <p:cNvSpPr txBox="1"/>
          <p:nvPr/>
        </p:nvSpPr>
        <p:spPr>
          <a:xfrm>
            <a:off x="8220456" y="2103120"/>
            <a:ext cx="324612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Opening, lists viewed (with IDs)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Leads viewed and edited (old -&gt; new)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Follow-ups and refused attempts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reporting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KPIs, reports, charts, filters and refresh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KPIs (1/2)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Dashboard reporting</a:t>
            </a:r>
            <a:endParaRPr lang="en-US" sz="1000" dirty="0"/>
          </a:p>
        </p:txBody>
      </p:sp>
      <p:graphicFrame>
        <p:nvGraphicFramePr>
          <p:cNvPr id="64" name="table-5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6583680"/>
                <a:gridCol w="1856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 basis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Leads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with a Lead ID in Lead Management (deleted leads excluded)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Created (Period)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Created Date in the period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 date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Worked (Period)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 leads with a Contact or Record Update entry; Record Updates of leads still incomplete do not count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date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 Leads Contacted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 leads with a Contact entry in the period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date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Follow-Ups Completed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 entries in the period (form saves; sheet outcome changes once complete)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date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Follow-Ups Pending / Overdue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leads with next date today or later / before today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of today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KPIs (2/2)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Dashboard reporting</a:t>
            </a:r>
            <a:endParaRPr lang="en-US" sz="1000" dirty="0"/>
          </a:p>
        </p:txBody>
      </p:sp>
      <p:graphicFrame>
        <p:nvGraphicFramePr>
          <p:cNvPr id="65" name="table-5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6583680"/>
                <a:gridCol w="1856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 basis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Converted / Lost Leads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Lead Status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Not Contacted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leads with no Contact entry ever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With No Activity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Contact or Record Update entry ever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Rate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Converted / Total Leads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Incomplete Leads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leads whose Data Quality Flags start with "Incomplete" (red Lead ID)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note-514"/>
          <p:cNvSpPr txBox="1"/>
          <p:nvPr/>
        </p:nvSpPr>
        <p:spPr>
          <a:xfrm>
            <a:off x="548640" y="47548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573"/>
                </a:solidFill>
              </a:rPr>
              <a:t>Counsellor filter: lead KPIs use Assigned Counsellor; activity KPIs use the log's Counsellor Name. Open = not Converted, Lost or Duplicate.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Reports A-G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Dashboard reporting</a:t>
            </a:r>
            <a:endParaRPr lang="en-US" sz="1000" dirty="0"/>
          </a:p>
        </p:txBody>
      </p:sp>
      <p:graphicFrame>
        <p:nvGraphicFramePr>
          <p:cNvPr id="66" name="table-5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315200"/>
                <a:gridCol w="17647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shows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 Stage-wise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leads, worked, follow-ups, overdue, converted, % of total per stage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stages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 Substage-wise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leads, worked, conversions per stage/substage pair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pairs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 Counsellor-wise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Assigned, worked, follow-ups, pending, overdue, conversions, rate, not contacted, avg activities, Incomplete Leads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 Ageing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leads by age; overdue follow-ups by days; by status and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buckets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G. Exceptions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Unassigned and unworked leads; totals incl. Incomplete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D. Daily trend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Activities, unique contacted, follow-ups, conversions per day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 days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E. Due / overdue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overdue first, with Days Overdue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rows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Charts, filters and refresh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Dashboard reporting</a:t>
            </a:r>
            <a:endParaRPr lang="en-US" sz="1000" dirty="0"/>
          </a:p>
        </p:txBody>
      </p:sp>
      <p:graphicFrame>
        <p:nvGraphicFramePr>
          <p:cNvPr id="67" name="table-5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3093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by Stage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leads and leads worked per stage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 Productivity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 leads worked and follow-ups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Activity Trend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Activities, unique contacted, follow-ups (conversions only in the table)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Distribution by Status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Doughnut of statuses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&amp; Follow-Up Ageing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ageing bucket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Leads by Substage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Bars per substage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card-517"/>
          <p:cNvSpPr/>
          <p:nvPr/>
        </p:nvSpPr>
        <p:spPr>
          <a:xfrm>
            <a:off x="7086600" y="1234440"/>
            <a:ext cx="4553712" cy="448056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6" name="icon-bg-518"/>
          <p:cNvSpPr/>
          <p:nvPr/>
        </p:nvSpPr>
        <p:spPr>
          <a:xfrm>
            <a:off x="7269480" y="1417320"/>
            <a:ext cx="502920" cy="502920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pic>
        <p:nvPicPr>
          <p:cNvPr id="7" name="icon-51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8352" y="1536192"/>
            <a:ext cx="265176" cy="265176"/>
          </a:xfrm>
          <a:prstGeom prst="rect">
            <a:avLst/>
          </a:prstGeom>
        </p:spPr>
      </p:pic>
      <p:sp>
        <p:nvSpPr>
          <p:cNvPr id="8" name="card-title-520"/>
          <p:cNvSpPr txBox="1"/>
          <p:nvPr/>
        </p:nvSpPr>
        <p:spPr>
          <a:xfrm>
            <a:off x="7891272" y="1417320"/>
            <a:ext cx="3639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Refresh</a:t>
            </a:r>
            <a:endParaRPr lang="en-US" sz="1800" dirty="0"/>
          </a:p>
        </p:txBody>
      </p:sp>
      <p:sp>
        <p:nvSpPr>
          <p:cNvPr id="9" name="bullets-521"/>
          <p:cNvSpPr txBox="1"/>
          <p:nvPr/>
        </p:nvSpPr>
        <p:spPr>
          <a:xfrm>
            <a:off x="7315200" y="2103120"/>
            <a:ext cx="4142232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Yellow filter cell changed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Every hour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Lead CRM &gt; Refresh dashboard (counsellors: within a minute)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Last Refreshed (I5) shows the time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and security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trail, identification, confidentiality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audit trail records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Audit and security</a:t>
            </a:r>
            <a:endParaRPr lang="en-US" sz="1000" dirty="0"/>
          </a:p>
        </p:txBody>
      </p:sp>
      <p:graphicFrame>
        <p:nvGraphicFramePr>
          <p:cNvPr id="69" name="table-5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4937760"/>
                <a:gridCol w="21305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entry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Created / Lead Assigned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lead / owner changed (old -&gt; new)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/ Record Update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Updated / Status Updated / Follow-Up Scheduled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Stage, substage, status or next date changed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 Update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Updated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other field changed (e.g. admin edits mobile)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 Update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Sheet Update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 changed in the sheet, counted once the lead is complete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Reverted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change was undone (who, field, kept, attempted, reason)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Field Corrected / Correction Window Opened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correction window used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 Update / System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Deleted / Restored / Purged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delete actions (with reason)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Substage Cleared / Log Edited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Automatic substage reset / manual log edit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users are identified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Audit and security</a:t>
            </a:r>
            <a:endParaRPr lang="en-US" sz="1000" dirty="0"/>
          </a:p>
        </p:txBody>
      </p:sp>
      <p:sp>
        <p:nvSpPr>
          <p:cNvPr id="4" name="card-523"/>
          <p:cNvSpPr/>
          <p:nvPr/>
        </p:nvSpPr>
        <p:spPr>
          <a:xfrm>
            <a:off x="548640" y="1234440"/>
            <a:ext cx="3657600" cy="44805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5" name="icon-bg-524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pic>
        <p:nvPicPr>
          <p:cNvPr id="6" name="icon-52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536192"/>
            <a:ext cx="265176" cy="265176"/>
          </a:xfrm>
          <a:prstGeom prst="rect">
            <a:avLst/>
          </a:prstGeom>
        </p:spPr>
      </p:pic>
      <p:sp>
        <p:nvSpPr>
          <p:cNvPr id="7" name="card-title-526"/>
          <p:cNvSpPr txBox="1"/>
          <p:nvPr/>
        </p:nvSpPr>
        <p:spPr>
          <a:xfrm>
            <a:off x="1353312" y="1417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Edits in the sheet</a:t>
            </a:r>
            <a:endParaRPr lang="en-US" sz="1800" dirty="0"/>
          </a:p>
        </p:txBody>
      </p:sp>
      <p:sp>
        <p:nvSpPr>
          <p:cNvPr id="8" name="bullets-527"/>
          <p:cNvSpPr txBox="1"/>
          <p:nvPr/>
        </p:nvSpPr>
        <p:spPr>
          <a:xfrm>
            <a:off x="777240" y="2103120"/>
            <a:ext cx="324612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Google hides emails from the owner's trigger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per-person key is passed between the two triggers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Mapped to the email registered via the menu</a:t>
            </a:r>
            <a:endParaRPr lang="en-US" sz="1400" dirty="0"/>
          </a:p>
        </p:txBody>
      </p:sp>
      <p:sp>
        <p:nvSpPr>
          <p:cNvPr id="9" name="card-528"/>
          <p:cNvSpPr/>
          <p:nvPr/>
        </p:nvSpPr>
        <p:spPr>
          <a:xfrm>
            <a:off x="4270248" y="1234440"/>
            <a:ext cx="3657600" cy="44805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0" name="icon-bg-529"/>
          <p:cNvSpPr/>
          <p:nvPr/>
        </p:nvSpPr>
        <p:spPr>
          <a:xfrm>
            <a:off x="4453128" y="1417320"/>
            <a:ext cx="502920" cy="502920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pic>
        <p:nvPicPr>
          <p:cNvPr id="11" name="icon-53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536192"/>
            <a:ext cx="265176" cy="265176"/>
          </a:xfrm>
          <a:prstGeom prst="rect">
            <a:avLst/>
          </a:prstGeom>
        </p:spPr>
      </p:pic>
      <p:sp>
        <p:nvSpPr>
          <p:cNvPr id="12" name="card-title-531"/>
          <p:cNvSpPr txBox="1"/>
          <p:nvPr/>
        </p:nvSpPr>
        <p:spPr>
          <a:xfrm>
            <a:off x="5074920" y="1417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Registration</a:t>
            </a:r>
            <a:endParaRPr lang="en-US" sz="1800" dirty="0"/>
          </a:p>
        </p:txBody>
      </p:sp>
      <p:sp>
        <p:nvSpPr>
          <p:cNvPr id="13" name="bullets-532"/>
          <p:cNvSpPr txBox="1"/>
          <p:nvPr/>
        </p:nvSpPr>
        <p:spPr>
          <a:xfrm>
            <a:off x="4498848" y="2103120"/>
            <a:ext cx="324612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Any use of the Lead CRM menu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Google renews the key every 30 days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Unknown editors: edits undone (setting)</a:t>
            </a:r>
            <a:endParaRPr lang="en-US" sz="1400" dirty="0"/>
          </a:p>
        </p:txBody>
      </p:sp>
      <p:sp>
        <p:nvSpPr>
          <p:cNvPr id="14" name="card-533"/>
          <p:cNvSpPr/>
          <p:nvPr/>
        </p:nvSpPr>
        <p:spPr>
          <a:xfrm>
            <a:off x="7991856" y="1234440"/>
            <a:ext cx="3657600" cy="44805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5" name="icon-bg-534"/>
          <p:cNvSpPr/>
          <p:nvPr/>
        </p:nvSpPr>
        <p:spPr>
          <a:xfrm>
            <a:off x="8174736" y="1417320"/>
            <a:ext cx="502920" cy="50292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pic>
        <p:nvPicPr>
          <p:cNvPr id="16" name="icon-53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3608" y="1536192"/>
            <a:ext cx="265176" cy="265176"/>
          </a:xfrm>
          <a:prstGeom prst="rect">
            <a:avLst/>
          </a:prstGeom>
        </p:spPr>
      </p:pic>
      <p:sp>
        <p:nvSpPr>
          <p:cNvPr id="17" name="card-title-536"/>
          <p:cNvSpPr txBox="1"/>
          <p:nvPr/>
        </p:nvSpPr>
        <p:spPr>
          <a:xfrm>
            <a:off x="8796528" y="1417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Web app</a:t>
            </a:r>
            <a:endParaRPr lang="en-US" sz="1800" dirty="0"/>
          </a:p>
        </p:txBody>
      </p:sp>
      <p:sp>
        <p:nvSpPr>
          <p:cNvPr id="18" name="bullets-537"/>
          <p:cNvSpPr txBox="1"/>
          <p:nvPr/>
        </p:nvSpPr>
        <p:spPr>
          <a:xfrm>
            <a:off x="8220456" y="2103120"/>
            <a:ext cx="324612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Sign-in app reads the Google-verified email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Signed pass, 5 minutes, used once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6-hour session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Confidentiality: the trade-off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Audit and security</a:t>
            </a:r>
            <a:endParaRPr lang="en-US" sz="1000" dirty="0"/>
          </a:p>
        </p:txBody>
      </p:sp>
      <p:sp>
        <p:nvSpPr>
          <p:cNvPr id="4" name="card-538"/>
          <p:cNvSpPr/>
          <p:nvPr/>
        </p:nvSpPr>
        <p:spPr>
          <a:xfrm>
            <a:off x="548640" y="1234440"/>
            <a:ext cx="5486400" cy="448056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5" name="icon-bg-539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pic>
        <p:nvPicPr>
          <p:cNvPr id="6" name="icon-54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536192"/>
            <a:ext cx="265176" cy="265176"/>
          </a:xfrm>
          <a:prstGeom prst="rect">
            <a:avLst/>
          </a:prstGeom>
        </p:spPr>
      </p:pic>
      <p:sp>
        <p:nvSpPr>
          <p:cNvPr id="7" name="card-title-541"/>
          <p:cNvSpPr txBox="1"/>
          <p:nvPr/>
        </p:nvSpPr>
        <p:spPr>
          <a:xfrm>
            <a:off x="1353312" y="14173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Controlled</a:t>
            </a:r>
            <a:endParaRPr lang="en-US" sz="1800" dirty="0"/>
          </a:p>
        </p:txBody>
      </p:sp>
      <p:sp>
        <p:nvSpPr>
          <p:cNvPr id="8" name="bullets-542"/>
          <p:cNvSpPr txBox="1"/>
          <p:nvPr/>
        </p:nvSpPr>
        <p:spPr>
          <a:xfrm>
            <a:off x="777240" y="2103120"/>
            <a:ext cx="507492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What counsellors can CHANGE: only white cells of own leads, valid values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Every change, refused edit and admin action is logged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Web app users only ever receive their own leads</a:t>
            </a:r>
            <a:endParaRPr lang="en-US" sz="1400" dirty="0"/>
          </a:p>
        </p:txBody>
      </p:sp>
      <p:sp>
        <p:nvSpPr>
          <p:cNvPr id="9" name="card-543"/>
          <p:cNvSpPr/>
          <p:nvPr/>
        </p:nvSpPr>
        <p:spPr>
          <a:xfrm>
            <a:off x="6172200" y="1234440"/>
            <a:ext cx="5486400" cy="448056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0" name="icon-bg-544"/>
          <p:cNvSpPr/>
          <p:nvPr/>
        </p:nvSpPr>
        <p:spPr>
          <a:xfrm>
            <a:off x="6355080" y="1417320"/>
            <a:ext cx="502920" cy="50292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pic>
        <p:nvPicPr>
          <p:cNvPr id="11" name="icon-54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3952" y="1536192"/>
            <a:ext cx="265176" cy="265176"/>
          </a:xfrm>
          <a:prstGeom prst="rect">
            <a:avLst/>
          </a:prstGeom>
        </p:spPr>
      </p:pic>
      <p:sp>
        <p:nvSpPr>
          <p:cNvPr id="12" name="card-title-546"/>
          <p:cNvSpPr txBox="1"/>
          <p:nvPr/>
        </p:nvSpPr>
        <p:spPr>
          <a:xfrm>
            <a:off x="6976872" y="14173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Not controlled</a:t>
            </a:r>
            <a:endParaRPr lang="en-US" sz="1800" dirty="0"/>
          </a:p>
        </p:txBody>
      </p:sp>
      <p:sp>
        <p:nvSpPr>
          <p:cNvPr id="13" name="bullets-547"/>
          <p:cNvSpPr txBox="1"/>
          <p:nvPr/>
        </p:nvSpPr>
        <p:spPr>
          <a:xfrm>
            <a:off x="6400800" y="2103120"/>
            <a:ext cx="507492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Any Editor can see, copy, download or print EVERYTHING (hidden sheets too)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Not logged with a personal Gmail owner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Editors can open the Apps Script project and change the code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Use the web app for people who must not have the file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CRM menu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items at the top, everything else under Admin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CRM menu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Lead CRM menu</a:t>
            </a:r>
            <a:endParaRPr lang="en-US" sz="1000" dirty="0"/>
          </a:p>
        </p:txBody>
      </p:sp>
      <p:graphicFrame>
        <p:nvGraphicFramePr>
          <p:cNvPr id="73" name="table-5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463040"/>
                <a:gridCol w="61539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Menu item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follow-up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5-field follow-up form for the selected lead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 overdue follow-ups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 incomplete leads first, then due today / overdue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Refresh dashboard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Admins at once; counsellors within a minute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leads from Lead Entry (admins)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Lead Entry and create the valid leads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One-screen help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note-549"/>
          <p:cNvSpPr txBox="1"/>
          <p:nvPr/>
        </p:nvSpPr>
        <p:spPr>
          <a:xfrm>
            <a:off x="548640" y="4389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573"/>
                </a:solidFill>
              </a:rPr>
              <a:t>Admin items refuse non-admins on the server: "Only CRM administrators can do this."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72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menu (1/2)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Lead CRM menu</a:t>
            </a:r>
            <a:endParaRPr lang="en-US" sz="1000" dirty="0"/>
          </a:p>
        </p:txBody>
      </p:sp>
      <p:graphicFrame>
        <p:nvGraphicFramePr>
          <p:cNvPr id="74" name="table-5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63367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item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/ Hide admin sheets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Entry, logs, masters, settings, Deleted Leads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 lead(s)... / Restore deleted lead... / Purge...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 deletion with reason, restore with original ID, permanent purge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system-column correction for 10 minutes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Admins may fix automatic columns (logged)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/ Remove custom field...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or hide a custom slot (data kept)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Re-check all lead rows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the edit guard over every row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Recalculate data-quality flags / Refresh substage dropdowns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Reapply protections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changing Admin Emails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73</a:t>
            </a:fld>
            <a:endParaRPr lang="en-US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menu (2/2)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Lead CRM menu</a:t>
            </a:r>
            <a:endParaRPr lang="en-US" sz="1000" dirty="0"/>
          </a:p>
        </p:txBody>
      </p:sp>
      <p:graphicFrame>
        <p:nvGraphicFramePr>
          <p:cNvPr id="75" name="table-5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63367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item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 up / repair workbook (10,000 rows) / Quick test setup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or repair in stages; keeps all 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Restart setup from the first stage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Forget saved setup progress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 Lead Management by 5,000 rows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rows with all rules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Recalculate ID counters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Continue IDs after the highest one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 web app link / Web app sign-in setup / Set URL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 web app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Enable / Disable daily email reminders / Send now (test)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list of incomplete and due leads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health check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Sheets, columns, protection, triggers, queue, settings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74</a:t>
            </a:fld>
            <a:endParaRPr lang="en-US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troubleshooting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limits and the most common fixes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75</a:t>
            </a:fld>
            <a:endParaRPr lang="en-US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limitations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Limitations and troubleshooting</a:t>
            </a:r>
            <a:endParaRPr lang="en-US" sz="1000" dirty="0"/>
          </a:p>
        </p:txBody>
      </p:sp>
      <p:sp>
        <p:nvSpPr>
          <p:cNvPr id="4" name="bullets-552"/>
          <p:cNvSpPr txBox="1"/>
          <p:nvPr/>
        </p:nvSpPr>
        <p:spPr>
          <a:xfrm>
            <a:off x="548640" y="1280160"/>
            <a:ext cx="6949440" cy="4572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The sheet cannot force a cell to be filled: the form can, and missing data turns red and is counted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Wrong edits are undone a few seconds after they happen, not prevented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Any Editor can copy or download the whole file; not logged with a Gmail owner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Counsellor form saves: log and counts follow within a minute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Personal accounts: about 90 minutes of trigger time per day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Dashboard is not live (hourly / on refresh)</a:t>
            </a:r>
            <a:endParaRPr lang="en-US" sz="1550" dirty="0"/>
          </a:p>
        </p:txBody>
      </p:sp>
      <p:sp>
        <p:nvSpPr>
          <p:cNvPr id="5" name="card-553"/>
          <p:cNvSpPr/>
          <p:nvPr/>
        </p:nvSpPr>
        <p:spPr>
          <a:xfrm>
            <a:off x="7680960" y="1280160"/>
            <a:ext cx="3959352" cy="4206240"/>
          </a:xfrm>
          <a:prstGeom prst="roundRect">
            <a:avLst>
              <a:gd name="adj" fmla="val 1848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6" name="icon-bg-554"/>
          <p:cNvSpPr/>
          <p:nvPr/>
        </p:nvSpPr>
        <p:spPr>
          <a:xfrm>
            <a:off x="7863840" y="1463040"/>
            <a:ext cx="502920" cy="502920"/>
          </a:xfrm>
          <a:prstGeom prst="ellipse">
            <a:avLst/>
          </a:prstGeom>
          <a:solidFill>
            <a:srgbClr val="7F8C8D"/>
          </a:solidFill>
          <a:ln w="12700">
            <a:solidFill>
              <a:srgbClr val="7F8C8D"/>
            </a:solidFill>
            <a:prstDash val="solid"/>
          </a:ln>
        </p:spPr>
      </p:sp>
      <p:pic>
        <p:nvPicPr>
          <p:cNvPr id="7" name="icon-55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2712" y="1581912"/>
            <a:ext cx="265176" cy="265176"/>
          </a:xfrm>
          <a:prstGeom prst="rect">
            <a:avLst/>
          </a:prstGeom>
        </p:spPr>
      </p:pic>
      <p:sp>
        <p:nvSpPr>
          <p:cNvPr id="8" name="card-title-556"/>
          <p:cNvSpPr txBox="1"/>
          <p:nvPr/>
        </p:nvSpPr>
        <p:spPr>
          <a:xfrm>
            <a:off x="8485632" y="1463040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Also</a:t>
            </a:r>
            <a:endParaRPr lang="en-US" sz="1800" dirty="0"/>
          </a:p>
        </p:txBody>
      </p:sp>
      <p:sp>
        <p:nvSpPr>
          <p:cNvPr id="9" name="bullets-557"/>
          <p:cNvSpPr txBox="1"/>
          <p:nvPr/>
        </p:nvSpPr>
        <p:spPr>
          <a:xfrm>
            <a:off x="7909560" y="2148840"/>
            <a:ext cx="3547872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Never insert or move columns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Max 10 custom fields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Lead IDs may skip numbers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Reminders: about 100 emails a day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76</a:t>
            </a:fld>
            <a:endParaRPr lang="en-US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Troubleshooting: top issues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Limitations and troubleshooting</a:t>
            </a:r>
            <a:endParaRPr lang="en-US" sz="1000" dirty="0"/>
          </a:p>
        </p:txBody>
      </p:sp>
      <p:graphicFrame>
        <p:nvGraphicFramePr>
          <p:cNvPr id="78" name="table-55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85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"Your change was undone"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the message: it says why (own leads, admin only, wrong date...)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"Lead CRM does not know who you are yet"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Click Lead CRM &gt; My overdue follow-ups once, edit again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 Lead ID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 AH says what is missing; fill it or use the form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Entry row stays red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 what the Message column says, run again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"Lead CRM is paused..."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Admin: Ctrl+Z, then Admin &gt; Re-check all lead rows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saved but log not updated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a minute (owner trigger); check health check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"NOT finished yet"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setupWorkbook again (Run, not Debug)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77</a:t>
            </a:fld>
            <a:endParaRPr lang="en-US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Glossary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used in this guide and in the CRM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78</a:t>
            </a:fld>
            <a:endParaRPr lang="en-US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Glossary (1/2)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Glossary</a:t>
            </a:r>
            <a:endParaRPr lang="en-US" sz="1000" dirty="0"/>
          </a:p>
        </p:txBody>
      </p:sp>
      <p:graphicFrame>
        <p:nvGraphicFramePr>
          <p:cNvPr id="80" name="table-5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85313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ID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Permanent unique number of a lead (LD-000001); never reused or changed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/ Substage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step of the lead / finer step belonging to one stage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Contact entry: a call or message logged with the form (or a counted sheet outcome change)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Worked lead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lead with a Contact or Record Update entry in the period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lead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Status is not Converted, Lost or Duplicate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Overdue / Due today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Follow-Up Date before today / today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Incomplete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required field is missing: red Lead ID, "Incomplete: ..." in AH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79</a:t>
            </a:fld>
            <a:endParaRPr lang="en-US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Glossary (2/2)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Glossary</a:t>
            </a:r>
            <a:endParaRPr lang="en-US" sz="1000" dirty="0"/>
          </a:p>
        </p:txBody>
      </p:sp>
      <p:graphicFrame>
        <p:nvGraphicFramePr>
          <p:cNvPr id="81" name="table-5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85313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 / grey cell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may change it / automatic or admin only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guard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owner's trigger that checks every edit and puts back what is not allowed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Snapshot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 copy of the last accepted values (column AI)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Entry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sheet where new leads are added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Counsellor-Editable Fields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list of columns counsellors may change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Correction window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minutes in which admins may fix automatic columns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 link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 of the sign-in app for the optional web app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ad CRM">
  <a:themeElements>
    <a:clrScheme name="Lead CRM">
      <a:dk1>
        <a:srgbClr val="1B2631"/>
      </a:dk1>
      <a:lt1>
        <a:srgbClr val="FFFFFF"/>
      </a:lt1>
      <a:dk2>
        <a:srgbClr val="1F3864"/>
      </a:dk2>
      <a:lt2>
        <a:srgbClr val="EEF2F7"/>
      </a:lt2>
      <a:accent1>
        <a:srgbClr val="1F3864"/>
      </a:accent1>
      <a:accent2>
        <a:srgbClr val="117A65"/>
      </a:accent2>
      <a:accent3>
        <a:srgbClr val="E67E22"/>
      </a:accent3>
      <a:accent4>
        <a:srgbClr val="C0392B"/>
      </a:accent4>
      <a:accent5>
        <a:srgbClr val="7F8C8D"/>
      </a:accent5>
      <a:accent6>
        <a:srgbClr val="5B2C6F"/>
      </a:accent6>
      <a:hlink>
        <a:srgbClr val="2E75B6"/>
      </a:hlink>
      <a:folHlink>
        <a:srgbClr val="5B2C6F"/>
      </a:folHlink>
    </a:clrScheme>
    <a:fontScheme name="Lead CRM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80</Slides>
  <Notes>80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Lead CRM - System Guide</dc:title>
  <dc:subject>PptxGenJS Presentation</dc:subject>
  <dc:creator>Lead CRM</dc:creator>
  <cp:lastModifiedBy>Lead CRM</cp:lastModifiedBy>
  <cp:revision>1</cp:revision>
  <dcterms:created xsi:type="dcterms:W3CDTF">2026-10-12T19:48:29Z</dcterms:created>
  <dcterms:modified xsi:type="dcterms:W3CDTF">2026-10-12T19:48:29Z</dcterms:modified>
</cp:coreProperties>
</file>